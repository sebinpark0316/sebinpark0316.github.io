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7" r:id="rId2"/>
  </p:sldIdLst>
  <p:sldSz cx="21386800" cy="30279975"/>
  <p:notesSz cx="6858000" cy="1001395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58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58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58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58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58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58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58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58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58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7">
          <p15:clr>
            <a:srgbClr val="A4A3A4"/>
          </p15:clr>
        </p15:guide>
        <p15:guide id="2" pos="67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9EB310-2490-441F-A763-9D37F8E8836C}" v="3" dt="2025-06-15T10:35:30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5" autoAdjust="0"/>
    <p:restoredTop sz="94622" autoAdjust="0"/>
  </p:normalViewPr>
  <p:slideViewPr>
    <p:cSldViewPr>
      <p:cViewPr>
        <p:scale>
          <a:sx n="33" d="100"/>
          <a:sy n="33" d="100"/>
        </p:scale>
        <p:origin x="1646" y="-907"/>
      </p:cViewPr>
      <p:guideLst>
        <p:guide orient="horz" pos="9537"/>
        <p:guide pos="6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세빈 박" userId="fd67766fa7894852" providerId="LiveId" clId="{639EB310-2490-441F-A763-9D37F8E8836C}"/>
    <pc:docChg chg="modSld">
      <pc:chgData name="세빈 박" userId="fd67766fa7894852" providerId="LiveId" clId="{639EB310-2490-441F-A763-9D37F8E8836C}" dt="2025-06-15T10:36:25.214" v="61" actId="20577"/>
      <pc:docMkLst>
        <pc:docMk/>
      </pc:docMkLst>
      <pc:sldChg chg="modSp mod">
        <pc:chgData name="세빈 박" userId="fd67766fa7894852" providerId="LiveId" clId="{639EB310-2490-441F-A763-9D37F8E8836C}" dt="2025-06-15T10:36:25.214" v="61" actId="20577"/>
        <pc:sldMkLst>
          <pc:docMk/>
          <pc:sldMk cId="0" sldId="257"/>
        </pc:sldMkLst>
        <pc:spChg chg="mod">
          <ac:chgData name="세빈 박" userId="fd67766fa7894852" providerId="LiveId" clId="{639EB310-2490-441F-A763-9D37F8E8836C}" dt="2025-06-15T10:36:25.214" v="61" actId="20577"/>
          <ac:spMkLst>
            <pc:docMk/>
            <pc:sldMk cId="0" sldId="257"/>
            <ac:spMk id="3079" creationId="{D908A503-2AB7-4C7E-C512-9566C1BA3D3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10649E7-233B-BA5D-6C62-14B4A12CCD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23632EA-C1B6-9444-3033-94C62096B70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DB7840BD-9128-C8C2-E29E-4211E1E0AA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1230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96F19D46-FFB2-D9E7-F5DA-E243B564E7D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951230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23DAF4AD-8BCC-4F94-B7AF-77119A98A3D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03375" y="9405938"/>
            <a:ext cx="18180050" cy="649128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208338" y="17159288"/>
            <a:ext cx="14970125" cy="7737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44786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69975" y="7065963"/>
            <a:ext cx="19246850" cy="199834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537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89100" y="19457988"/>
            <a:ext cx="18178463" cy="60134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89100" y="12833350"/>
            <a:ext cx="18178463" cy="6624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794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69975" y="7065963"/>
            <a:ext cx="9547225" cy="199834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769600" y="7065963"/>
            <a:ext cx="9547225" cy="199834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95423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69975" y="1212850"/>
            <a:ext cx="19246850" cy="5046663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975" y="6778625"/>
            <a:ext cx="9448800" cy="28241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69975" y="9602788"/>
            <a:ext cx="9448800" cy="17446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0864850" y="6778625"/>
            <a:ext cx="9451975" cy="28241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0864850" y="9602788"/>
            <a:ext cx="9451975" cy="17446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183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5154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169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69975" y="1204913"/>
            <a:ext cx="7035800" cy="51308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61363" y="1204913"/>
            <a:ext cx="11955462" cy="258445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69975" y="6335713"/>
            <a:ext cx="7035800" cy="20713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7102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92588" y="21196300"/>
            <a:ext cx="12831762" cy="2501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192588" y="2705100"/>
            <a:ext cx="12831762" cy="18168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192588" y="23698200"/>
            <a:ext cx="12831762" cy="3554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7013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69975" y="7065963"/>
            <a:ext cx="19246850" cy="199834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87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5505113" y="2178050"/>
            <a:ext cx="4811712" cy="2487136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69975" y="2178050"/>
            <a:ext cx="14282738" cy="248713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47447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DC506FB-6773-0B48-0C3E-6302244E4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9975" y="2178050"/>
            <a:ext cx="1924685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95232" tIns="147616" rIns="295232" bIns="1476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AutoShape 8">
            <a:extLst>
              <a:ext uri="{FF2B5EF4-FFF2-40B4-BE49-F238E27FC236}">
                <a16:creationId xmlns:a16="http://schemas.microsoft.com/office/drawing/2014/main" id="{5627DC08-0D92-31E1-86D1-5AED12E739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9750" y="450850"/>
            <a:ext cx="20162838" cy="10795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defTabSz="2952750" eaLnBrk="0" hangingPunct="0">
              <a:defRPr kumimoji="1" sz="58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2952750" eaLnBrk="0" hangingPunct="0">
              <a:defRPr kumimoji="1" sz="5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2952750" eaLnBrk="0" hangingPunct="0">
              <a:defRPr kumimoji="1" sz="58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2952750" eaLnBrk="0" hangingPunct="0">
              <a:defRPr kumimoji="1" sz="58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2952750" eaLnBrk="0" hangingPunct="0">
              <a:defRPr kumimoji="1" sz="58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ko-KR"/>
          </a:p>
        </p:txBody>
      </p:sp>
      <p:pic>
        <p:nvPicPr>
          <p:cNvPr id="1028" name="Picture 9" descr="icc_logo">
            <a:extLst>
              <a:ext uri="{FF2B5EF4-FFF2-40B4-BE49-F238E27FC236}">
                <a16:creationId xmlns:a16="http://schemas.microsoft.com/office/drawing/2014/main" id="{F1A93C18-AC13-7A13-94D9-7900441313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415925"/>
            <a:ext cx="5434013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9" name="Group 52">
            <a:extLst>
              <a:ext uri="{FF2B5EF4-FFF2-40B4-BE49-F238E27FC236}">
                <a16:creationId xmlns:a16="http://schemas.microsoft.com/office/drawing/2014/main" id="{5C31F43F-F165-C89E-659C-691D9E1E231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44575" y="7651750"/>
            <a:ext cx="19297650" cy="73025"/>
            <a:chOff x="658" y="5046"/>
            <a:chExt cx="12156" cy="46"/>
          </a:xfrm>
        </p:grpSpPr>
        <p:sp>
          <p:nvSpPr>
            <p:cNvPr id="1031" name="Line 11">
              <a:extLst>
                <a:ext uri="{FF2B5EF4-FFF2-40B4-BE49-F238E27FC236}">
                  <a16:creationId xmlns:a16="http://schemas.microsoft.com/office/drawing/2014/main" id="{99AEE4DA-99F8-40D4-4B84-8E50E8BCAF2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58" y="5046"/>
              <a:ext cx="12156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ko-KR" altLang="en-US"/>
            </a:p>
          </p:txBody>
        </p:sp>
        <p:sp>
          <p:nvSpPr>
            <p:cNvPr id="1032" name="Line 12">
              <a:extLst>
                <a:ext uri="{FF2B5EF4-FFF2-40B4-BE49-F238E27FC236}">
                  <a16:creationId xmlns:a16="http://schemas.microsoft.com/office/drawing/2014/main" id="{CF3E40CA-4A33-4D0F-D423-87892D612BE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39" y="5092"/>
              <a:ext cx="11703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ko-KR" altLang="en-US"/>
            </a:p>
          </p:txBody>
        </p:sp>
      </p:grpSp>
      <p:sp>
        <p:nvSpPr>
          <p:cNvPr id="1030" name="Line 18">
            <a:extLst>
              <a:ext uri="{FF2B5EF4-FFF2-40B4-BE49-F238E27FC236}">
                <a16:creationId xmlns:a16="http://schemas.microsoft.com/office/drawing/2014/main" id="{5E843014-DD05-E464-4FE1-E4DD53F525C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11163" y="30045025"/>
            <a:ext cx="20521612" cy="0"/>
          </a:xfrm>
          <a:prstGeom prst="line">
            <a:avLst/>
          </a:prstGeom>
          <a:noFill/>
          <a:ln w="76200" cmpd="tri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52750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2952750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ctr" defTabSz="2952750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ctr" defTabSz="2952750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ctr" defTabSz="2952750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ctr" defTabSz="2952750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6pPr>
      <a:lvl7pPr marL="914400" algn="ctr" defTabSz="2952750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7pPr>
      <a:lvl8pPr marL="1371600" algn="ctr" defTabSz="2952750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8pPr>
      <a:lvl9pPr marL="1828800" algn="ctr" defTabSz="2952750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1106488" indent="-1106488" algn="l" defTabSz="2952750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  <a:cs typeface="+mn-cs"/>
        </a:defRPr>
      </a:lvl1pPr>
      <a:lvl2pPr marL="2398713" indent="-922338" algn="l" defTabSz="2952750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2pPr>
      <a:lvl3pPr marL="3690938" indent="-738188" algn="l" defTabSz="2952750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5167313" indent="-738188" algn="l" defTabSz="2952750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4pPr>
      <a:lvl5pPr marL="6642100" indent="-738188" algn="l" defTabSz="2952750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5pPr>
      <a:lvl6pPr marL="7099300" indent="-738188" algn="l" defTabSz="2952750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7556500" indent="-738188" algn="l" defTabSz="2952750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8013700" indent="-738188" algn="l" defTabSz="2952750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8470900" indent="-738188" algn="l" defTabSz="2952750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그룹 4">
            <a:extLst>
              <a:ext uri="{FF2B5EF4-FFF2-40B4-BE49-F238E27FC236}">
                <a16:creationId xmlns:a16="http://schemas.microsoft.com/office/drawing/2014/main" id="{DE476DE0-7399-CCE1-C30B-BB06E47E24F8}"/>
              </a:ext>
            </a:extLst>
          </p:cNvPr>
          <p:cNvGrpSpPr>
            <a:grpSpLocks/>
          </p:cNvGrpSpPr>
          <p:nvPr/>
        </p:nvGrpSpPr>
        <p:grpSpPr bwMode="auto">
          <a:xfrm>
            <a:off x="622300" y="460375"/>
            <a:ext cx="20281900" cy="1155700"/>
            <a:chOff x="529829" y="460834"/>
            <a:chExt cx="20281556" cy="1155239"/>
          </a:xfrm>
        </p:grpSpPr>
        <p:sp>
          <p:nvSpPr>
            <p:cNvPr id="3136" name="TextBox 3">
              <a:extLst>
                <a:ext uri="{FF2B5EF4-FFF2-40B4-BE49-F238E27FC236}">
                  <a16:creationId xmlns:a16="http://schemas.microsoft.com/office/drawing/2014/main" id="{F5BBB193-4CA4-344E-79A2-2B9E01CB6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829" y="515619"/>
              <a:ext cx="20101322" cy="110045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endParaRPr lang="ko-KR" altLang="en-US"/>
            </a:p>
          </p:txBody>
        </p:sp>
        <p:sp>
          <p:nvSpPr>
            <p:cNvPr id="3137" name="Text Box 43">
              <a:extLst>
                <a:ext uri="{FF2B5EF4-FFF2-40B4-BE49-F238E27FC236}">
                  <a16:creationId xmlns:a16="http://schemas.microsoft.com/office/drawing/2014/main" id="{829FFA44-27E9-997A-556C-DB5203C0F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29260" y="622300"/>
              <a:ext cx="4882125" cy="771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440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종합설계프로젝트</a:t>
              </a:r>
            </a:p>
          </p:txBody>
        </p:sp>
        <p:sp>
          <p:nvSpPr>
            <p:cNvPr id="3138" name="Text Box 43">
              <a:extLst>
                <a:ext uri="{FF2B5EF4-FFF2-40B4-BE49-F238E27FC236}">
                  <a16:creationId xmlns:a16="http://schemas.microsoft.com/office/drawing/2014/main" id="{534B7125-8649-61E5-636A-734B924CA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385" y="460834"/>
              <a:ext cx="6792386" cy="1140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ko-KR" altLang="en-US" sz="280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성균관대학교  </a:t>
              </a:r>
              <a:r>
                <a:rPr lang="ko-KR" altLang="en-US" sz="320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                 </a:t>
              </a:r>
              <a:endParaRPr lang="en-US" altLang="ko-KR" sz="320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  <a:p>
              <a:pPr eaLnBrk="1" latinLnBrk="1" hangingPunct="1"/>
              <a:r>
                <a:rPr lang="ko-KR" altLang="en-US" sz="360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정보통신대학 전자전기공학부</a:t>
              </a:r>
              <a:endParaRPr lang="en-US" altLang="ko-KR" sz="360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075" name="Group 4">
            <a:extLst>
              <a:ext uri="{FF2B5EF4-FFF2-40B4-BE49-F238E27FC236}">
                <a16:creationId xmlns:a16="http://schemas.microsoft.com/office/drawing/2014/main" id="{BE5D8F34-F08F-05F0-387C-C31C1D5A8A02}"/>
              </a:ext>
            </a:extLst>
          </p:cNvPr>
          <p:cNvGrpSpPr>
            <a:grpSpLocks/>
          </p:cNvGrpSpPr>
          <p:nvPr/>
        </p:nvGrpSpPr>
        <p:grpSpPr bwMode="auto">
          <a:xfrm>
            <a:off x="36513" y="8083550"/>
            <a:ext cx="10506075" cy="1295400"/>
            <a:chOff x="23" y="5092"/>
            <a:chExt cx="6618" cy="816"/>
          </a:xfrm>
        </p:grpSpPr>
        <p:grpSp>
          <p:nvGrpSpPr>
            <p:cNvPr id="3130" name="Group 5">
              <a:extLst>
                <a:ext uri="{FF2B5EF4-FFF2-40B4-BE49-F238E27FC236}">
                  <a16:creationId xmlns:a16="http://schemas.microsoft.com/office/drawing/2014/main" id="{E7795E06-A114-4423-B5E5-C02D14C6C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" y="5092"/>
              <a:ext cx="6618" cy="771"/>
              <a:chOff x="23" y="5092"/>
              <a:chExt cx="6618" cy="771"/>
            </a:xfrm>
          </p:grpSpPr>
          <p:sp>
            <p:nvSpPr>
              <p:cNvPr id="19462" name="AutoShape 6">
                <a:extLst>
                  <a:ext uri="{FF2B5EF4-FFF2-40B4-BE49-F238E27FC236}">
                    <a16:creationId xmlns:a16="http://schemas.microsoft.com/office/drawing/2014/main" id="{32530DED-7A8D-0AC0-E952-37742A46A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" y="5319"/>
                <a:ext cx="6391" cy="544"/>
              </a:xfrm>
              <a:prstGeom prst="flowChartAlternateProcess">
                <a:avLst/>
              </a:prstGeom>
              <a:gradFill rotWithShape="1">
                <a:gsLst>
                  <a:gs pos="0">
                    <a:srgbClr val="336699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2951163" eaLnBrk="1" latinLnBrk="1" hangingPunct="1">
                  <a:defRPr/>
                </a:pPr>
                <a:r>
                  <a:rPr lang="en-US" altLang="ko-KR" sz="4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  </a:t>
                </a:r>
                <a:r>
                  <a:rPr lang="ko-KR" altLang="en-US" sz="4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개 요  </a:t>
                </a:r>
              </a:p>
            </p:txBody>
          </p:sp>
          <p:sp>
            <p:nvSpPr>
              <p:cNvPr id="3135" name="Text Box 7">
                <a:extLst>
                  <a:ext uri="{FF2B5EF4-FFF2-40B4-BE49-F238E27FC236}">
                    <a16:creationId xmlns:a16="http://schemas.microsoft.com/office/drawing/2014/main" id="{0F41DA62-3C43-8F82-27F7-84C0B97F5B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" y="5092"/>
                <a:ext cx="585" cy="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295275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295275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295275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295275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295275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/>
                <a:r>
                  <a:rPr lang="en-US" altLang="ko-KR" sz="6000" b="1">
                    <a:solidFill>
                      <a:schemeClr val="bg1"/>
                    </a:solidFill>
                  </a:rPr>
                  <a:t>ⓔ</a:t>
                </a:r>
              </a:p>
            </p:txBody>
          </p:sp>
        </p:grpSp>
        <p:grpSp>
          <p:nvGrpSpPr>
            <p:cNvPr id="3131" name="Group 8">
              <a:extLst>
                <a:ext uri="{FF2B5EF4-FFF2-40B4-BE49-F238E27FC236}">
                  <a16:creationId xmlns:a16="http://schemas.microsoft.com/office/drawing/2014/main" id="{CED456CC-D4DA-25C6-C102-7A1C0CDEBE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9" y="5228"/>
              <a:ext cx="3250" cy="680"/>
              <a:chOff x="2079" y="5228"/>
              <a:chExt cx="3250" cy="680"/>
            </a:xfrm>
          </p:grpSpPr>
          <p:sp>
            <p:nvSpPr>
              <p:cNvPr id="3132" name="Arc 9">
                <a:extLst>
                  <a:ext uri="{FF2B5EF4-FFF2-40B4-BE49-F238E27FC236}">
                    <a16:creationId xmlns:a16="http://schemas.microsoft.com/office/drawing/2014/main" id="{8C68805B-EA1B-D2C5-61B1-DEF1DEA6C2A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91" y="5273"/>
                <a:ext cx="3038" cy="63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/>
              </a:p>
            </p:txBody>
          </p:sp>
          <p:sp>
            <p:nvSpPr>
              <p:cNvPr id="3133" name="Arc 10">
                <a:extLst>
                  <a:ext uri="{FF2B5EF4-FFF2-40B4-BE49-F238E27FC236}">
                    <a16:creationId xmlns:a16="http://schemas.microsoft.com/office/drawing/2014/main" id="{B5779132-894D-9374-DE8F-B1525155344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079" y="5228"/>
                <a:ext cx="3069" cy="680"/>
              </a:xfrm>
              <a:custGeom>
                <a:avLst/>
                <a:gdLst>
                  <a:gd name="T0" fmla="*/ 0 w 21818"/>
                  <a:gd name="T1" fmla="*/ 0 h 21600"/>
                  <a:gd name="T2" fmla="*/ 0 w 21818"/>
                  <a:gd name="T3" fmla="*/ 0 h 21600"/>
                  <a:gd name="T4" fmla="*/ 0 w 2181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818"/>
                  <a:gd name="T10" fmla="*/ 0 h 21600"/>
                  <a:gd name="T11" fmla="*/ 21818 w 2181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18" h="21600" fill="none" extrusionOk="0">
                    <a:moveTo>
                      <a:pt x="0" y="1"/>
                    </a:moveTo>
                    <a:cubicBezTo>
                      <a:pt x="72" y="0"/>
                      <a:pt x="145" y="-1"/>
                      <a:pt x="218" y="0"/>
                    </a:cubicBezTo>
                    <a:cubicBezTo>
                      <a:pt x="12147" y="0"/>
                      <a:pt x="21818" y="9670"/>
                      <a:pt x="21818" y="21600"/>
                    </a:cubicBezTo>
                  </a:path>
                  <a:path w="21818" h="21600" stroke="0" extrusionOk="0">
                    <a:moveTo>
                      <a:pt x="0" y="1"/>
                    </a:moveTo>
                    <a:cubicBezTo>
                      <a:pt x="72" y="0"/>
                      <a:pt x="145" y="-1"/>
                      <a:pt x="218" y="0"/>
                    </a:cubicBezTo>
                    <a:cubicBezTo>
                      <a:pt x="12147" y="0"/>
                      <a:pt x="21818" y="9670"/>
                      <a:pt x="21818" y="21600"/>
                    </a:cubicBezTo>
                    <a:lnTo>
                      <a:pt x="218" y="21600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3076" name="Group 11">
            <a:extLst>
              <a:ext uri="{FF2B5EF4-FFF2-40B4-BE49-F238E27FC236}">
                <a16:creationId xmlns:a16="http://schemas.microsoft.com/office/drawing/2014/main" id="{FD1CDC81-97F4-DFBE-1407-64BF28070CBF}"/>
              </a:ext>
            </a:extLst>
          </p:cNvPr>
          <p:cNvGrpSpPr>
            <a:grpSpLocks/>
          </p:cNvGrpSpPr>
          <p:nvPr/>
        </p:nvGrpSpPr>
        <p:grpSpPr bwMode="auto">
          <a:xfrm>
            <a:off x="0" y="13627100"/>
            <a:ext cx="10506075" cy="1295400"/>
            <a:chOff x="23" y="9492"/>
            <a:chExt cx="6618" cy="816"/>
          </a:xfrm>
        </p:grpSpPr>
        <p:grpSp>
          <p:nvGrpSpPr>
            <p:cNvPr id="3124" name="Group 12">
              <a:extLst>
                <a:ext uri="{FF2B5EF4-FFF2-40B4-BE49-F238E27FC236}">
                  <a16:creationId xmlns:a16="http://schemas.microsoft.com/office/drawing/2014/main" id="{F3360EC8-5CB4-1D09-086D-12CCB665AF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" y="9492"/>
              <a:ext cx="6618" cy="771"/>
              <a:chOff x="23" y="9492"/>
              <a:chExt cx="6618" cy="771"/>
            </a:xfrm>
          </p:grpSpPr>
          <p:sp>
            <p:nvSpPr>
              <p:cNvPr id="19469" name="AutoShape 13">
                <a:extLst>
                  <a:ext uri="{FF2B5EF4-FFF2-40B4-BE49-F238E27FC236}">
                    <a16:creationId xmlns:a16="http://schemas.microsoft.com/office/drawing/2014/main" id="{328A7C80-C915-7145-AA4D-2882A2432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" y="9719"/>
                <a:ext cx="6391" cy="544"/>
              </a:xfrm>
              <a:prstGeom prst="flowChartAlternateProcess">
                <a:avLst/>
              </a:prstGeom>
              <a:gradFill rotWithShape="1">
                <a:gsLst>
                  <a:gs pos="0">
                    <a:srgbClr val="336699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2951163" eaLnBrk="1" latinLnBrk="1" hangingPunct="1">
                  <a:defRPr/>
                </a:pPr>
                <a:r>
                  <a:rPr lang="en-US" altLang="ko-KR" sz="40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  </a:t>
                </a:r>
                <a:r>
                  <a:rPr lang="ko-KR" altLang="en-US" sz="40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시스템 구성</a:t>
                </a:r>
              </a:p>
            </p:txBody>
          </p:sp>
          <p:sp>
            <p:nvSpPr>
              <p:cNvPr id="3129" name="Text Box 14">
                <a:extLst>
                  <a:ext uri="{FF2B5EF4-FFF2-40B4-BE49-F238E27FC236}">
                    <a16:creationId xmlns:a16="http://schemas.microsoft.com/office/drawing/2014/main" id="{39F3A043-29C1-EC1B-DA29-3B55E0C06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" y="9492"/>
                <a:ext cx="585" cy="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295275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295275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295275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295275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295275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/>
                <a:r>
                  <a:rPr lang="en-US" altLang="ko-KR" sz="6000" b="1">
                    <a:solidFill>
                      <a:schemeClr val="bg1"/>
                    </a:solidFill>
                  </a:rPr>
                  <a:t>ⓔ</a:t>
                </a:r>
              </a:p>
            </p:txBody>
          </p:sp>
        </p:grpSp>
        <p:grpSp>
          <p:nvGrpSpPr>
            <p:cNvPr id="3125" name="Group 15">
              <a:extLst>
                <a:ext uri="{FF2B5EF4-FFF2-40B4-BE49-F238E27FC236}">
                  <a16:creationId xmlns:a16="http://schemas.microsoft.com/office/drawing/2014/main" id="{D130CC87-3DE6-AE77-E538-8D0C89569C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9" y="9628"/>
              <a:ext cx="3250" cy="680"/>
              <a:chOff x="2079" y="5228"/>
              <a:chExt cx="3250" cy="680"/>
            </a:xfrm>
          </p:grpSpPr>
          <p:sp>
            <p:nvSpPr>
              <p:cNvPr id="3126" name="Arc 16">
                <a:extLst>
                  <a:ext uri="{FF2B5EF4-FFF2-40B4-BE49-F238E27FC236}">
                    <a16:creationId xmlns:a16="http://schemas.microsoft.com/office/drawing/2014/main" id="{8EA93ED0-BFB8-2E62-AA5B-6C5BB373999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91" y="5273"/>
                <a:ext cx="3038" cy="63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/>
              </a:p>
            </p:txBody>
          </p:sp>
          <p:sp>
            <p:nvSpPr>
              <p:cNvPr id="3127" name="Arc 17">
                <a:extLst>
                  <a:ext uri="{FF2B5EF4-FFF2-40B4-BE49-F238E27FC236}">
                    <a16:creationId xmlns:a16="http://schemas.microsoft.com/office/drawing/2014/main" id="{A3FEE0DE-BEB5-1474-514C-D310ACE42D0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079" y="5228"/>
                <a:ext cx="3069" cy="680"/>
              </a:xfrm>
              <a:custGeom>
                <a:avLst/>
                <a:gdLst>
                  <a:gd name="T0" fmla="*/ 0 w 21818"/>
                  <a:gd name="T1" fmla="*/ 0 h 21600"/>
                  <a:gd name="T2" fmla="*/ 0 w 21818"/>
                  <a:gd name="T3" fmla="*/ 0 h 21600"/>
                  <a:gd name="T4" fmla="*/ 0 w 2181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818"/>
                  <a:gd name="T10" fmla="*/ 0 h 21600"/>
                  <a:gd name="T11" fmla="*/ 21818 w 2181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18" h="21600" fill="none" extrusionOk="0">
                    <a:moveTo>
                      <a:pt x="0" y="1"/>
                    </a:moveTo>
                    <a:cubicBezTo>
                      <a:pt x="72" y="0"/>
                      <a:pt x="145" y="-1"/>
                      <a:pt x="218" y="0"/>
                    </a:cubicBezTo>
                    <a:cubicBezTo>
                      <a:pt x="12147" y="0"/>
                      <a:pt x="21818" y="9670"/>
                      <a:pt x="21818" y="21600"/>
                    </a:cubicBezTo>
                  </a:path>
                  <a:path w="21818" h="21600" stroke="0" extrusionOk="0">
                    <a:moveTo>
                      <a:pt x="0" y="1"/>
                    </a:moveTo>
                    <a:cubicBezTo>
                      <a:pt x="72" y="0"/>
                      <a:pt x="145" y="-1"/>
                      <a:pt x="218" y="0"/>
                    </a:cubicBezTo>
                    <a:cubicBezTo>
                      <a:pt x="12147" y="0"/>
                      <a:pt x="21818" y="9670"/>
                      <a:pt x="21818" y="21600"/>
                    </a:cubicBezTo>
                    <a:lnTo>
                      <a:pt x="218" y="21600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3077" name="Group 18">
            <a:extLst>
              <a:ext uri="{FF2B5EF4-FFF2-40B4-BE49-F238E27FC236}">
                <a16:creationId xmlns:a16="http://schemas.microsoft.com/office/drawing/2014/main" id="{69B7A4CD-428A-D966-F677-2312DE332101}"/>
              </a:ext>
            </a:extLst>
          </p:cNvPr>
          <p:cNvGrpSpPr>
            <a:grpSpLocks/>
          </p:cNvGrpSpPr>
          <p:nvPr/>
        </p:nvGrpSpPr>
        <p:grpSpPr bwMode="auto">
          <a:xfrm>
            <a:off x="10594975" y="8154988"/>
            <a:ext cx="10512425" cy="1295400"/>
            <a:chOff x="6691" y="5092"/>
            <a:chExt cx="6622" cy="816"/>
          </a:xfrm>
        </p:grpSpPr>
        <p:sp>
          <p:nvSpPr>
            <p:cNvPr id="19475" name="AutoShape 19">
              <a:extLst>
                <a:ext uri="{FF2B5EF4-FFF2-40B4-BE49-F238E27FC236}">
                  <a16:creationId xmlns:a16="http://schemas.microsoft.com/office/drawing/2014/main" id="{7CA8D1B0-6F77-B9E3-712D-CB5C3C789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2" y="5307"/>
              <a:ext cx="6391" cy="544"/>
            </a:xfrm>
            <a:prstGeom prst="flowChartAlternateProcess">
              <a:avLst/>
            </a:prstGeom>
            <a:gradFill rotWithShape="1">
              <a:gsLst>
                <a:gs pos="0">
                  <a:srgbClr val="336699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2951163" eaLnBrk="1" latinLnBrk="1" hangingPunct="1">
                <a:defRPr/>
              </a:pPr>
              <a:r>
                <a:rPr lang="en-US" altLang="ko-KR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ko-KR" alt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구현 방법</a:t>
              </a:r>
            </a:p>
          </p:txBody>
        </p:sp>
        <p:sp>
          <p:nvSpPr>
            <p:cNvPr id="3120" name="Text Box 20">
              <a:extLst>
                <a:ext uri="{FF2B5EF4-FFF2-40B4-BE49-F238E27FC236}">
                  <a16:creationId xmlns:a16="http://schemas.microsoft.com/office/drawing/2014/main" id="{6B790661-BB2C-8A46-EC60-4F3277EFE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1" y="5092"/>
              <a:ext cx="58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en-US" altLang="ko-KR" sz="6000" b="1">
                  <a:solidFill>
                    <a:schemeClr val="bg1"/>
                  </a:solidFill>
                </a:rPr>
                <a:t>ⓔ</a:t>
              </a:r>
            </a:p>
          </p:txBody>
        </p:sp>
        <p:grpSp>
          <p:nvGrpSpPr>
            <p:cNvPr id="3121" name="Group 21">
              <a:extLst>
                <a:ext uri="{FF2B5EF4-FFF2-40B4-BE49-F238E27FC236}">
                  <a16:creationId xmlns:a16="http://schemas.microsoft.com/office/drawing/2014/main" id="{0770E5DE-B555-A37B-8D67-55C8229D4A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84" y="5228"/>
              <a:ext cx="3250" cy="680"/>
              <a:chOff x="2079" y="5228"/>
              <a:chExt cx="3250" cy="680"/>
            </a:xfrm>
          </p:grpSpPr>
          <p:sp>
            <p:nvSpPr>
              <p:cNvPr id="3122" name="Arc 22">
                <a:extLst>
                  <a:ext uri="{FF2B5EF4-FFF2-40B4-BE49-F238E27FC236}">
                    <a16:creationId xmlns:a16="http://schemas.microsoft.com/office/drawing/2014/main" id="{72AFB21B-47B1-38DB-81EF-D66012B3E5D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91" y="5273"/>
                <a:ext cx="3038" cy="63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/>
              </a:p>
            </p:txBody>
          </p:sp>
          <p:sp>
            <p:nvSpPr>
              <p:cNvPr id="3123" name="Arc 23">
                <a:extLst>
                  <a:ext uri="{FF2B5EF4-FFF2-40B4-BE49-F238E27FC236}">
                    <a16:creationId xmlns:a16="http://schemas.microsoft.com/office/drawing/2014/main" id="{C41ECECE-C40F-568A-306A-E5967CE0CBB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079" y="5228"/>
                <a:ext cx="3069" cy="680"/>
              </a:xfrm>
              <a:custGeom>
                <a:avLst/>
                <a:gdLst>
                  <a:gd name="T0" fmla="*/ 0 w 21818"/>
                  <a:gd name="T1" fmla="*/ 0 h 21600"/>
                  <a:gd name="T2" fmla="*/ 0 w 21818"/>
                  <a:gd name="T3" fmla="*/ 0 h 21600"/>
                  <a:gd name="T4" fmla="*/ 0 w 2181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818"/>
                  <a:gd name="T10" fmla="*/ 0 h 21600"/>
                  <a:gd name="T11" fmla="*/ 21818 w 2181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18" h="21600" fill="none" extrusionOk="0">
                    <a:moveTo>
                      <a:pt x="0" y="1"/>
                    </a:moveTo>
                    <a:cubicBezTo>
                      <a:pt x="72" y="0"/>
                      <a:pt x="145" y="-1"/>
                      <a:pt x="218" y="0"/>
                    </a:cubicBezTo>
                    <a:cubicBezTo>
                      <a:pt x="12147" y="0"/>
                      <a:pt x="21818" y="9670"/>
                      <a:pt x="21818" y="21600"/>
                    </a:cubicBezTo>
                  </a:path>
                  <a:path w="21818" h="21600" stroke="0" extrusionOk="0">
                    <a:moveTo>
                      <a:pt x="0" y="1"/>
                    </a:moveTo>
                    <a:cubicBezTo>
                      <a:pt x="72" y="0"/>
                      <a:pt x="145" y="-1"/>
                      <a:pt x="218" y="0"/>
                    </a:cubicBezTo>
                    <a:cubicBezTo>
                      <a:pt x="12147" y="0"/>
                      <a:pt x="21818" y="9670"/>
                      <a:pt x="21818" y="21600"/>
                    </a:cubicBezTo>
                    <a:lnTo>
                      <a:pt x="218" y="21600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9486" name="Rectangle 30">
            <a:extLst>
              <a:ext uri="{FF2B5EF4-FFF2-40B4-BE49-F238E27FC236}">
                <a16:creationId xmlns:a16="http://schemas.microsoft.com/office/drawing/2014/main" id="{9A314BCB-EEF9-14CB-0230-442C1D8C3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01788"/>
            <a:ext cx="1924685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295232" tIns="147616" rIns="295232" bIns="147616" anchor="ctr"/>
          <a:lstStyle/>
          <a:p>
            <a:pPr algn="ctr" defTabSz="2952750" eaLnBrk="1" latinLnBrk="1" hangingPunct="1">
              <a:defRPr/>
            </a:pPr>
            <a:r>
              <a: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AI </a:t>
            </a:r>
            <a:r>
              <a:rPr lang="ko-KR" alt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기반 분실물 자동 감지 시스템 </a:t>
            </a:r>
            <a:br>
              <a:rPr lang="ko-KR" alt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김영인</a:t>
            </a:r>
            <a:r>
              <a:rPr lang="en-US" altLang="ko-KR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박세빈</a:t>
            </a:r>
            <a:r>
              <a:rPr lang="en-US" altLang="ko-KR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조윤서</a:t>
            </a:r>
            <a:r>
              <a:rPr lang="en-US" altLang="ko-KR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최재원</a:t>
            </a:r>
            <a:br>
              <a:rPr lang="ko-KR" altLang="en-US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성균관대학교 정보통신대학</a:t>
            </a:r>
            <a:br>
              <a:rPr lang="ko-KR" altLang="en-US" sz="44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</a:br>
            <a:br>
              <a:rPr lang="ko-KR" altLang="en-US" sz="44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AI-Based</a:t>
            </a:r>
            <a:r>
              <a:rPr lang="ko-KR" alt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Automated</a:t>
            </a:r>
            <a:r>
              <a:rPr lang="ko-KR" alt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Lost</a:t>
            </a:r>
            <a:r>
              <a:rPr lang="ko-KR" alt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Item</a:t>
            </a:r>
            <a:r>
              <a:rPr lang="ko-KR" alt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Detection</a:t>
            </a:r>
            <a:r>
              <a:rPr lang="ko-KR" alt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System</a:t>
            </a:r>
            <a:r>
              <a:rPr lang="ko-KR" alt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br>
              <a: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Kim Young In, Park Se Bin</a:t>
            </a:r>
            <a:r>
              <a:rPr lang="en-US" altLang="ko-KR" sz="3600" i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Cho Yoon Seo, Choi Jae Won</a:t>
            </a:r>
          </a:p>
          <a:p>
            <a:pPr algn="ctr" defTabSz="2952750" eaLnBrk="1" latinLnBrk="1" hangingPunct="1">
              <a:defRPr/>
            </a:pPr>
            <a:r>
              <a:rPr lang="en-US" altLang="ko-KR" sz="3600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Sungkyunkwan</a:t>
            </a:r>
            <a:r>
              <a:rPr lang="en-US" altLang="ko-KR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University</a:t>
            </a:r>
            <a:r>
              <a:rPr lang="en-US" altLang="ko-KR" sz="44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sp>
        <p:nvSpPr>
          <p:cNvPr id="3079" name="Text Box 31">
            <a:extLst>
              <a:ext uri="{FF2B5EF4-FFF2-40B4-BE49-F238E27FC236}">
                <a16:creationId xmlns:a16="http://schemas.microsoft.com/office/drawing/2014/main" id="{D908A503-2AB7-4C7E-C512-9566C1BA3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9155657"/>
            <a:ext cx="10118725" cy="4544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endParaRPr lang="ko-KR" altLang="ko-KR" sz="2600" dirty="0">
              <a:solidFill>
                <a:srgbClr val="000000"/>
              </a:solidFill>
            </a:endParaRPr>
          </a:p>
          <a:p>
            <a:r>
              <a:rPr lang="en-US" altLang="ko-KR" sz="2600" dirty="0"/>
              <a:t>KTX </a:t>
            </a:r>
            <a:r>
              <a:rPr lang="ko-KR" altLang="en-US" sz="2600" dirty="0"/>
              <a:t>출입문에서 승차 시점과 하차 시점의 이미지를 비교하여</a:t>
            </a:r>
            <a:br>
              <a:rPr lang="ko-KR" altLang="en-US" sz="2600" dirty="0"/>
            </a:br>
            <a:r>
              <a:rPr lang="ko-KR" altLang="en-US" sz="2600" dirty="0"/>
              <a:t>가방의 유무를 판단하고</a:t>
            </a:r>
            <a:r>
              <a:rPr lang="en-US" altLang="ko-KR" sz="2600" dirty="0"/>
              <a:t>, </a:t>
            </a:r>
            <a:r>
              <a:rPr lang="ko-KR" altLang="en-US" sz="2600" dirty="0"/>
              <a:t>분실 및 도난 여부를 자동 감지하는</a:t>
            </a:r>
            <a:br>
              <a:rPr lang="ko-KR" altLang="en-US" sz="2600" dirty="0"/>
            </a:br>
            <a:r>
              <a:rPr lang="en-US" altLang="ko-KR" sz="2600" dirty="0"/>
              <a:t>AI </a:t>
            </a:r>
            <a:r>
              <a:rPr lang="ko-KR" altLang="en-US" sz="2600"/>
              <a:t>기반 시스템을 </a:t>
            </a:r>
            <a:r>
              <a:rPr lang="ko-KR" altLang="en-US" sz="2600" dirty="0"/>
              <a:t>구현하였다</a:t>
            </a:r>
            <a:r>
              <a:rPr lang="en-US" altLang="ko-KR" sz="2600" dirty="0"/>
              <a:t>.</a:t>
            </a:r>
          </a:p>
          <a:p>
            <a:endParaRPr lang="en-US" altLang="ko-KR" sz="2600" dirty="0"/>
          </a:p>
          <a:p>
            <a:r>
              <a:rPr lang="en-US" altLang="ko-KR" sz="2600" dirty="0"/>
              <a:t>ResNet50 </a:t>
            </a:r>
            <a:r>
              <a:rPr lang="ko-KR" altLang="en-US" sz="2600" dirty="0"/>
              <a:t>기반 분류기를 활용해 가방 존재 여부를 분석한 후 사람을 탐지하고</a:t>
            </a:r>
            <a:r>
              <a:rPr lang="en-US" altLang="ko-KR" sz="2600" dirty="0"/>
              <a:t>, </a:t>
            </a:r>
            <a:r>
              <a:rPr lang="ko-KR" altLang="en-US" sz="2600" dirty="0"/>
              <a:t>색상과 코사인 유사도를 기반으로</a:t>
            </a:r>
            <a:br>
              <a:rPr lang="ko-KR" altLang="en-US" sz="2600" dirty="0"/>
            </a:br>
            <a:r>
              <a:rPr lang="ko-KR" altLang="en-US" sz="2600" dirty="0"/>
              <a:t>동일 인물을 판별하여 분실 또는 도난 여부까지 식별한다</a:t>
            </a:r>
            <a:r>
              <a:rPr lang="en-US" altLang="ko-KR" sz="2600" dirty="0"/>
              <a:t>.</a:t>
            </a:r>
          </a:p>
          <a:p>
            <a:endParaRPr lang="en-US" altLang="ko-KR" sz="2600" dirty="0"/>
          </a:p>
          <a:p>
            <a:r>
              <a:rPr lang="ko-KR" altLang="en-US" sz="2600" dirty="0"/>
              <a:t>본 시스템은 </a:t>
            </a:r>
            <a:r>
              <a:rPr lang="en-US" altLang="ko-KR" sz="2600" dirty="0"/>
              <a:t>KTX</a:t>
            </a:r>
            <a:r>
              <a:rPr lang="ko-KR" altLang="en-US" sz="2600" dirty="0"/>
              <a:t> 외에도 도서관</a:t>
            </a:r>
            <a:r>
              <a:rPr lang="en-US" altLang="ko-KR" sz="2600" dirty="0"/>
              <a:t>, </a:t>
            </a:r>
            <a:r>
              <a:rPr lang="ko-KR" altLang="en-US" sz="2600" dirty="0"/>
              <a:t>카페 등 다양한 공간에</a:t>
            </a:r>
            <a:br>
              <a:rPr lang="ko-KR" altLang="en-US" sz="2600" dirty="0"/>
            </a:br>
            <a:r>
              <a:rPr lang="ko-KR" altLang="en-US" sz="2600" dirty="0"/>
              <a:t>확장 가능성이 높으며</a:t>
            </a:r>
            <a:r>
              <a:rPr lang="en-US" altLang="ko-KR" sz="2600" dirty="0"/>
              <a:t>, </a:t>
            </a:r>
            <a:r>
              <a:rPr lang="ko-KR" altLang="en-US" sz="2600" dirty="0"/>
              <a:t>공공장소의 분실물 예방에 기여할 수 있다</a:t>
            </a:r>
            <a:r>
              <a:rPr lang="en-US" altLang="ko-KR" sz="2600" dirty="0"/>
              <a:t>.</a:t>
            </a:r>
          </a:p>
          <a:p>
            <a:pPr eaLnBrk="1" latinLnBrk="1" hangingPunct="1">
              <a:spcBef>
                <a:spcPct val="50000"/>
              </a:spcBef>
            </a:pPr>
            <a:endParaRPr lang="ko-KR" altLang="ko-KR" sz="2800" dirty="0">
              <a:solidFill>
                <a:srgbClr val="000000"/>
              </a:solidFill>
            </a:endParaRPr>
          </a:p>
        </p:txBody>
      </p:sp>
      <p:sp>
        <p:nvSpPr>
          <p:cNvPr id="3080" name="Text Box 34">
            <a:extLst>
              <a:ext uri="{FF2B5EF4-FFF2-40B4-BE49-F238E27FC236}">
                <a16:creationId xmlns:a16="http://schemas.microsoft.com/office/drawing/2014/main" id="{78D766F0-277C-7D5D-1EC3-7D34A3F1C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16508413"/>
            <a:ext cx="10077450" cy="131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spcBef>
                <a:spcPct val="50000"/>
              </a:spcBef>
            </a:pPr>
            <a:endParaRPr lang="ko-KR" altLang="ko-KR" sz="2400">
              <a:solidFill>
                <a:srgbClr val="000000"/>
              </a:solidFill>
            </a:endParaRPr>
          </a:p>
        </p:txBody>
      </p:sp>
      <p:sp>
        <p:nvSpPr>
          <p:cNvPr id="3081" name="Text Box 39">
            <a:extLst>
              <a:ext uri="{FF2B5EF4-FFF2-40B4-BE49-F238E27FC236}">
                <a16:creationId xmlns:a16="http://schemas.microsoft.com/office/drawing/2014/main" id="{C4A7FFA8-9209-0D9C-64D2-30AB44D02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5200" y="6781800"/>
            <a:ext cx="91408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연구분야</a:t>
            </a: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딥러닝</a:t>
            </a: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· </a:t>
            </a: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컴퓨터 비전</a:t>
            </a:r>
          </a:p>
        </p:txBody>
      </p:sp>
      <p:sp>
        <p:nvSpPr>
          <p:cNvPr id="3082" name="AutoShape 40">
            <a:extLst>
              <a:ext uri="{FF2B5EF4-FFF2-40B4-BE49-F238E27FC236}">
                <a16:creationId xmlns:a16="http://schemas.microsoft.com/office/drawing/2014/main" id="{1252D895-5C25-9D68-7DBB-B7A6447E3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6950075"/>
            <a:ext cx="576262" cy="384175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endParaRPr lang="ko-KR" altLang="en-US"/>
          </a:p>
        </p:txBody>
      </p:sp>
      <p:sp>
        <p:nvSpPr>
          <p:cNvPr id="3083" name="Text Box 41">
            <a:extLst>
              <a:ext uri="{FF2B5EF4-FFF2-40B4-BE49-F238E27FC236}">
                <a16:creationId xmlns:a16="http://schemas.microsoft.com/office/drawing/2014/main" id="{D89FCCFD-D165-0909-F99C-8DB5BE6DF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6781800"/>
            <a:ext cx="86836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담당 교수</a:t>
            </a: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 </a:t>
            </a:r>
            <a:r>
              <a:rPr lang="ko-KR" altLang="en-US" sz="32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유재천</a:t>
            </a: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200">
                <a:latin typeface="HY견고딕" panose="02030600000101010101" pitchFamily="18" charset="-127"/>
                <a:ea typeface="HY견고딕" panose="02030600000101010101" pitchFamily="18" charset="-127"/>
              </a:rPr>
              <a:t>교수님 </a:t>
            </a:r>
            <a:endParaRPr lang="ko-KR" alt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084" name="AutoShape 42">
            <a:extLst>
              <a:ext uri="{FF2B5EF4-FFF2-40B4-BE49-F238E27FC236}">
                <a16:creationId xmlns:a16="http://schemas.microsoft.com/office/drawing/2014/main" id="{560E1D6A-4709-D0CF-40F7-189D0AD2C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8938" y="6950075"/>
            <a:ext cx="576262" cy="384175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endParaRPr lang="ko-KR" altLang="en-US"/>
          </a:p>
        </p:txBody>
      </p:sp>
      <p:grpSp>
        <p:nvGrpSpPr>
          <p:cNvPr id="3085" name="Group 92">
            <a:extLst>
              <a:ext uri="{FF2B5EF4-FFF2-40B4-BE49-F238E27FC236}">
                <a16:creationId xmlns:a16="http://schemas.microsoft.com/office/drawing/2014/main" id="{714E19F3-1BA2-E29D-F226-051CF4EA2C4D}"/>
              </a:ext>
            </a:extLst>
          </p:cNvPr>
          <p:cNvGrpSpPr>
            <a:grpSpLocks/>
          </p:cNvGrpSpPr>
          <p:nvPr/>
        </p:nvGrpSpPr>
        <p:grpSpPr bwMode="auto">
          <a:xfrm>
            <a:off x="10518775" y="12765088"/>
            <a:ext cx="10512425" cy="1295400"/>
            <a:chOff x="6691" y="5092"/>
            <a:chExt cx="6622" cy="816"/>
          </a:xfrm>
        </p:grpSpPr>
        <p:sp>
          <p:nvSpPr>
            <p:cNvPr id="19549" name="AutoShape 93">
              <a:extLst>
                <a:ext uri="{FF2B5EF4-FFF2-40B4-BE49-F238E27FC236}">
                  <a16:creationId xmlns:a16="http://schemas.microsoft.com/office/drawing/2014/main" id="{06311C09-D45F-DA23-E539-31ED32D73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2" y="5307"/>
              <a:ext cx="6391" cy="544"/>
            </a:xfrm>
            <a:prstGeom prst="flowChartAlternateProcess">
              <a:avLst/>
            </a:prstGeom>
            <a:gradFill rotWithShape="1">
              <a:gsLst>
                <a:gs pos="0">
                  <a:srgbClr val="336699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2951163" eaLnBrk="1" latinLnBrk="1" hangingPunct="1">
                <a:defRPr/>
              </a:pPr>
              <a:r>
                <a:rPr lang="en-US" altLang="ko-KR" sz="4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ko-KR" altLang="en-US" sz="4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결 과</a:t>
              </a:r>
            </a:p>
          </p:txBody>
        </p:sp>
        <p:sp>
          <p:nvSpPr>
            <p:cNvPr id="3115" name="Text Box 94">
              <a:extLst>
                <a:ext uri="{FF2B5EF4-FFF2-40B4-BE49-F238E27FC236}">
                  <a16:creationId xmlns:a16="http://schemas.microsoft.com/office/drawing/2014/main" id="{582D29DA-E7E3-73DA-B566-3157C728D0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1" y="5092"/>
              <a:ext cx="58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295275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/>
              <a:r>
                <a:rPr lang="en-US" altLang="ko-KR" sz="6000" b="1">
                  <a:solidFill>
                    <a:schemeClr val="bg1"/>
                  </a:solidFill>
                </a:rPr>
                <a:t>ⓔ</a:t>
              </a:r>
            </a:p>
          </p:txBody>
        </p:sp>
        <p:grpSp>
          <p:nvGrpSpPr>
            <p:cNvPr id="3116" name="Group 95">
              <a:extLst>
                <a:ext uri="{FF2B5EF4-FFF2-40B4-BE49-F238E27FC236}">
                  <a16:creationId xmlns:a16="http://schemas.microsoft.com/office/drawing/2014/main" id="{71D2893F-892B-7990-B7EA-B438242BA2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84" y="5228"/>
              <a:ext cx="3250" cy="680"/>
              <a:chOff x="2079" y="5228"/>
              <a:chExt cx="3250" cy="680"/>
            </a:xfrm>
          </p:grpSpPr>
          <p:sp>
            <p:nvSpPr>
              <p:cNvPr id="3117" name="Arc 96">
                <a:extLst>
                  <a:ext uri="{FF2B5EF4-FFF2-40B4-BE49-F238E27FC236}">
                    <a16:creationId xmlns:a16="http://schemas.microsoft.com/office/drawing/2014/main" id="{3E302FFF-B4FC-9110-649E-5059E9DA6C3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91" y="5273"/>
                <a:ext cx="3038" cy="63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/>
              </a:p>
            </p:txBody>
          </p:sp>
          <p:sp>
            <p:nvSpPr>
              <p:cNvPr id="3118" name="Arc 97">
                <a:extLst>
                  <a:ext uri="{FF2B5EF4-FFF2-40B4-BE49-F238E27FC236}">
                    <a16:creationId xmlns:a16="http://schemas.microsoft.com/office/drawing/2014/main" id="{C7541289-1BB4-D4A0-EC21-9E774D777C6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079" y="5228"/>
                <a:ext cx="3069" cy="680"/>
              </a:xfrm>
              <a:custGeom>
                <a:avLst/>
                <a:gdLst>
                  <a:gd name="T0" fmla="*/ 0 w 21818"/>
                  <a:gd name="T1" fmla="*/ 0 h 21600"/>
                  <a:gd name="T2" fmla="*/ 0 w 21818"/>
                  <a:gd name="T3" fmla="*/ 0 h 21600"/>
                  <a:gd name="T4" fmla="*/ 0 w 2181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818"/>
                  <a:gd name="T10" fmla="*/ 0 h 21600"/>
                  <a:gd name="T11" fmla="*/ 21818 w 2181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18" h="21600" fill="none" extrusionOk="0">
                    <a:moveTo>
                      <a:pt x="0" y="1"/>
                    </a:moveTo>
                    <a:cubicBezTo>
                      <a:pt x="72" y="0"/>
                      <a:pt x="145" y="-1"/>
                      <a:pt x="218" y="0"/>
                    </a:cubicBezTo>
                    <a:cubicBezTo>
                      <a:pt x="12147" y="0"/>
                      <a:pt x="21818" y="9670"/>
                      <a:pt x="21818" y="21600"/>
                    </a:cubicBezTo>
                  </a:path>
                  <a:path w="21818" h="21600" stroke="0" extrusionOk="0">
                    <a:moveTo>
                      <a:pt x="0" y="1"/>
                    </a:moveTo>
                    <a:cubicBezTo>
                      <a:pt x="72" y="0"/>
                      <a:pt x="145" y="-1"/>
                      <a:pt x="218" y="0"/>
                    </a:cubicBezTo>
                    <a:cubicBezTo>
                      <a:pt x="12147" y="0"/>
                      <a:pt x="21818" y="9670"/>
                      <a:pt x="21818" y="21600"/>
                    </a:cubicBezTo>
                    <a:lnTo>
                      <a:pt x="218" y="21600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3086" name="Text Box 98">
            <a:extLst>
              <a:ext uri="{FF2B5EF4-FFF2-40B4-BE49-F238E27FC236}">
                <a16:creationId xmlns:a16="http://schemas.microsoft.com/office/drawing/2014/main" id="{9DD5D9DD-CD54-3ADF-882B-0BA954B3E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1751" y="22988859"/>
            <a:ext cx="594042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ko-KR" altLang="en-US" sz="2600" dirty="0">
                <a:solidFill>
                  <a:srgbClr val="000000"/>
                </a:solidFill>
              </a:rPr>
              <a:t>동일인물 </a:t>
            </a:r>
            <a:r>
              <a:rPr lang="en-US" altLang="ko-KR" sz="2600" dirty="0">
                <a:solidFill>
                  <a:srgbClr val="000000"/>
                </a:solidFill>
              </a:rPr>
              <a:t>X</a:t>
            </a:r>
          </a:p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en-US" altLang="ko-KR" sz="2800" dirty="0">
              <a:solidFill>
                <a:srgbClr val="000000"/>
              </a:solidFill>
            </a:endParaRPr>
          </a:p>
        </p:txBody>
      </p:sp>
      <p:sp>
        <p:nvSpPr>
          <p:cNvPr id="3087" name="Rectangle 109">
            <a:extLst>
              <a:ext uri="{FF2B5EF4-FFF2-40B4-BE49-F238E27FC236}">
                <a16:creationId xmlns:a16="http://schemas.microsoft.com/office/drawing/2014/main" id="{821BB2A4-95D0-C03A-844D-4E6682840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79400"/>
            <a:ext cx="21386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endParaRPr lang="ko-KR" altLang="en-US"/>
          </a:p>
        </p:txBody>
      </p:sp>
      <p:graphicFrame>
        <p:nvGraphicFramePr>
          <p:cNvPr id="19621" name="Group 165">
            <a:extLst>
              <a:ext uri="{FF2B5EF4-FFF2-40B4-BE49-F238E27FC236}">
                <a16:creationId xmlns:a16="http://schemas.microsoft.com/office/drawing/2014/main" id="{A753DB00-9D3B-A005-D3E7-A0111D7EC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273310"/>
              </p:ext>
            </p:extLst>
          </p:nvPr>
        </p:nvGraphicFramePr>
        <p:xfrm>
          <a:off x="396875" y="18453100"/>
          <a:ext cx="10153650" cy="11402023"/>
        </p:xfrm>
        <a:graphic>
          <a:graphicData uri="http://schemas.openxmlformats.org/drawingml/2006/table">
            <a:tbl>
              <a:tblPr/>
              <a:tblGrid>
                <a:gridCol w="2735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57785">
                <a:tc>
                  <a:txBody>
                    <a:bodyPr/>
                    <a:lstStyle/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이미지 탐지</a:t>
                      </a:r>
                      <a:endParaRPr kumimoji="1" lang="en-US" altLang="ko-K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5" marR="90005" marT="46797" marB="467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열차의 출입문에서 </a:t>
                      </a:r>
                      <a:r>
                        <a:rPr kumimoji="1" lang="ko-KR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승하차하는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승객의 이미지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출입문은 한 명씩 통과하기 때문에 탐지에 적합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각각 승객에 대한 </a:t>
                      </a:r>
                      <a:r>
                        <a:rPr kumimoji="1" lang="ko-KR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승하차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이미지를 비교함으로써 분실물 여부를 정확하게 판단 가능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5" marR="90005" marT="46797" marB="467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4309">
                <a:tc>
                  <a:txBody>
                    <a:bodyPr/>
                    <a:lstStyle/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가방 유무 판단</a:t>
                      </a:r>
                    </a:p>
                  </a:txBody>
                  <a:tcPr marL="90005" marR="90005" marT="46797" marB="467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ResNet50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기반 이진 분류 모델 활용한 모델 설계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승객이 가방을 든 상태와 아닌 상태를 학습한 모델 설계 및 활용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각 승객들에 대한 </a:t>
                      </a:r>
                      <a:r>
                        <a:rPr kumimoji="1" lang="ko-KR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승하차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시의 두 시점에서의 가방 착용 유무를 인식하여 최종적인 분실물 발생 판단에 활용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5" marR="90005" marT="46797" marB="467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8572">
                <a:tc>
                  <a:txBody>
                    <a:bodyPr/>
                    <a:lstStyle/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승하차</a:t>
                      </a:r>
                      <a:r>
                        <a:rPr kumimoji="1" lang="ko-KR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승객 </a:t>
                      </a:r>
                      <a:endParaRPr kumimoji="1" lang="en-US" altLang="ko-K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동일 여부 판단</a:t>
                      </a:r>
                      <a:endParaRPr kumimoji="1" lang="en-US" altLang="ko-K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5" marR="90005" marT="46797" marB="467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동일하게 </a:t>
                      </a:r>
                      <a:r>
                        <a:rPr kumimoji="1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ResNet50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사용하며 이를 통해 이미지 벡터화 후 코사인 유사도 계산 및 비교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또한 평균 </a:t>
                      </a:r>
                      <a:r>
                        <a:rPr kumimoji="1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RGB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값을 추출하여 색상 유사도 확인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 두 가지의 평가 지표를 통해 동일 인물 여부를 판단하므로 정확하게 동일 인물 인식 가능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5" marR="90005" marT="46797" marB="467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0760">
                <a:tc>
                  <a:txBody>
                    <a:bodyPr/>
                    <a:lstStyle/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분실 및 </a:t>
                      </a:r>
                      <a:endParaRPr kumimoji="1" lang="en-US" altLang="ko-K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도난 상황 판단</a:t>
                      </a:r>
                      <a:endParaRPr kumimoji="1" lang="en-US" altLang="ko-K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5" marR="90005" marT="46797" marB="467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앞선 가방 유무 판단과 </a:t>
                      </a:r>
                      <a:r>
                        <a:rPr kumimoji="1" lang="ko-KR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승하차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승객 동일 여부 판단 결과를 통합하여 분실물 또는 도난 여부를 논리적으로 분석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가방 유무 및 승객의 동일인물 여부에 대한 총 </a:t>
                      </a:r>
                      <a:r>
                        <a:rPr kumimoji="1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가지 경우로 최종 분석결과 분류 가능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동일인물이 아닌 경우 및 </a:t>
                      </a:r>
                      <a:r>
                        <a:rPr kumimoji="1" lang="ko-KR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동일인물이며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승하차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시 가방의 상태가 같은 경우 정상 케이스로 분류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동일인물이며</a:t>
                      </a:r>
                      <a:r>
                        <a:rPr kumimoji="1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탑승 시 가방이 감지되었으나 하차 시 감지되지 않은 경우 분실 의심 상황으로 간주하여 관리자에게 알림 전달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42900" marR="0" lvl="0" indent="-342900" algn="l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동일인물이며</a:t>
                      </a:r>
                      <a:r>
                        <a:rPr kumimoji="1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탑승 시 가방이 감지되지 않았지만 하차 시 감지된 경우 도난 의심 상황으로 감지하여 동일하게 관리자에게 알림 전달</a:t>
                      </a:r>
                      <a:endParaRPr kumimoji="1" lang="en-US" altLang="ko-K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5" marR="90005" marT="46797" marB="467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07" name="Rectangle 160">
            <a:extLst>
              <a:ext uri="{FF2B5EF4-FFF2-40B4-BE49-F238E27FC236}">
                <a16:creationId xmlns:a16="http://schemas.microsoft.com/office/drawing/2014/main" id="{25D70515-4291-CE23-4E64-3B3697904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233400"/>
            <a:ext cx="21386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endParaRPr lang="ko-KR" altLang="en-US"/>
          </a:p>
        </p:txBody>
      </p:sp>
      <p:sp>
        <p:nvSpPr>
          <p:cNvPr id="3109" name="Text Box 162">
            <a:extLst>
              <a:ext uri="{FF2B5EF4-FFF2-40B4-BE49-F238E27FC236}">
                <a16:creationId xmlns:a16="http://schemas.microsoft.com/office/drawing/2014/main" id="{99F0E89E-933D-4109-CA3D-AABA0E2B2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0" y="9613900"/>
            <a:ext cx="10134600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2900" indent="-3429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ko-KR" altLang="en-US" sz="2800" dirty="0">
                <a:solidFill>
                  <a:srgbClr val="000000"/>
                </a:solidFill>
              </a:rPr>
              <a:t> 이진 분류</a:t>
            </a:r>
            <a:r>
              <a:rPr lang="en-US" altLang="ko-KR" sz="2800" dirty="0">
                <a:solidFill>
                  <a:srgbClr val="000000"/>
                </a:solidFill>
              </a:rPr>
              <a:t> </a:t>
            </a:r>
            <a:r>
              <a:rPr lang="ko-KR" altLang="en-US" sz="2800" dirty="0">
                <a:solidFill>
                  <a:srgbClr val="000000"/>
                </a:solidFill>
              </a:rPr>
              <a:t>모델 학습을 위한 데이터셋</a:t>
            </a:r>
            <a:r>
              <a:rPr lang="en-US" altLang="ko-KR" sz="2800" dirty="0">
                <a:solidFill>
                  <a:srgbClr val="000000"/>
                </a:solidFill>
              </a:rPr>
              <a:t>(1210</a:t>
            </a:r>
            <a:r>
              <a:rPr lang="ko-KR" altLang="en-US" sz="2800" dirty="0">
                <a:solidFill>
                  <a:srgbClr val="000000"/>
                </a:solidFill>
              </a:rPr>
              <a:t>장</a:t>
            </a:r>
            <a:r>
              <a:rPr lang="en-US" altLang="ko-KR" sz="2800" dirty="0">
                <a:solidFill>
                  <a:srgbClr val="000000"/>
                </a:solidFill>
              </a:rPr>
              <a:t>) </a:t>
            </a:r>
            <a:r>
              <a:rPr lang="ko-KR" altLang="en-US" sz="2800" dirty="0">
                <a:solidFill>
                  <a:srgbClr val="000000"/>
                </a:solidFill>
              </a:rPr>
              <a:t>구축</a:t>
            </a:r>
            <a:endParaRPr lang="en-US" altLang="ko-KR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ko-KR" altLang="en-US" sz="2800" dirty="0">
                <a:solidFill>
                  <a:srgbClr val="000000"/>
                </a:solidFill>
              </a:rPr>
              <a:t> </a:t>
            </a:r>
            <a:r>
              <a:rPr lang="en-US" altLang="ko-KR" sz="2800" spc="-100" dirty="0">
                <a:solidFill>
                  <a:srgbClr val="000000">
                    <a:alpha val="80000"/>
                  </a:srgbClr>
                </a:solidFill>
              </a:rPr>
              <a:t>Training 80%, Validation 20%</a:t>
            </a:r>
            <a:r>
              <a:rPr lang="ko-KR" altLang="en-US" sz="2800" spc="-100" dirty="0">
                <a:solidFill>
                  <a:srgbClr val="000000">
                    <a:alpha val="80000"/>
                  </a:srgbClr>
                </a:solidFill>
              </a:rPr>
              <a:t>로 임의 구성</a:t>
            </a:r>
            <a:endParaRPr lang="en-US" altLang="ko-KR" sz="2800" spc="-100" dirty="0">
              <a:solidFill>
                <a:srgbClr val="000000">
                  <a:alpha val="80000"/>
                </a:srgbClr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ko-KR" sz="2800" dirty="0">
                <a:solidFill>
                  <a:srgbClr val="000000"/>
                </a:solidFill>
              </a:rPr>
              <a:t> </a:t>
            </a:r>
            <a:r>
              <a:rPr lang="ko-KR" altLang="en-US" sz="2800" dirty="0">
                <a:solidFill>
                  <a:srgbClr val="000000"/>
                </a:solidFill>
              </a:rPr>
              <a:t>레이어 수정 후 기존 분류기를 </a:t>
            </a:r>
            <a:r>
              <a:rPr lang="ko-KR" altLang="en-US" sz="2800" spc="-100" dirty="0">
                <a:solidFill>
                  <a:srgbClr val="000000">
                    <a:alpha val="80000"/>
                  </a:srgbClr>
                </a:solidFill>
              </a:rPr>
              <a:t>가방 유무 이진 분류기로 교체</a:t>
            </a:r>
            <a:endParaRPr lang="ko-KR" altLang="ko-KR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ko-KR" sz="2800" dirty="0">
                <a:solidFill>
                  <a:srgbClr val="000000"/>
                </a:solidFill>
              </a:rPr>
              <a:t> SGD Momentum Optimizer</a:t>
            </a:r>
            <a:r>
              <a:rPr lang="ko-KR" altLang="en-US" sz="2800" dirty="0">
                <a:solidFill>
                  <a:srgbClr val="000000"/>
                </a:solidFill>
              </a:rPr>
              <a:t>를 활용하여 모델 학습 진행</a:t>
            </a:r>
            <a:endParaRPr lang="ko-KR" altLang="ko-KR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ko-KR" altLang="en-US" sz="2800" dirty="0">
                <a:solidFill>
                  <a:srgbClr val="000000"/>
                </a:solidFill>
              </a:rPr>
              <a:t> </a:t>
            </a:r>
            <a:r>
              <a:rPr lang="en-US" altLang="ko-KR" sz="2800" dirty="0">
                <a:solidFill>
                  <a:srgbClr val="000000"/>
                </a:solidFill>
              </a:rPr>
              <a:t>Resnet50</a:t>
            </a:r>
            <a:r>
              <a:rPr lang="ko-KR" altLang="en-US" sz="2800" dirty="0">
                <a:solidFill>
                  <a:srgbClr val="000000"/>
                </a:solidFill>
              </a:rPr>
              <a:t>의 레이어를 활용해 사진 특징</a:t>
            </a:r>
            <a:r>
              <a:rPr lang="en-US" altLang="ko-KR" sz="2800" dirty="0">
                <a:solidFill>
                  <a:srgbClr val="000000"/>
                </a:solidFill>
              </a:rPr>
              <a:t> </a:t>
            </a:r>
            <a:r>
              <a:rPr lang="ko-KR" altLang="en-US" sz="2800" dirty="0">
                <a:solidFill>
                  <a:srgbClr val="000000"/>
                </a:solidFill>
              </a:rPr>
              <a:t>추출 모델 제작</a:t>
            </a:r>
            <a:endParaRPr lang="en-US" altLang="ko-KR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ko-KR" sz="2800" dirty="0">
                <a:solidFill>
                  <a:srgbClr val="000000"/>
                </a:solidFill>
              </a:rPr>
              <a:t> </a:t>
            </a:r>
            <a:r>
              <a:rPr lang="ko-KR" altLang="en-US" sz="2800" dirty="0">
                <a:solidFill>
                  <a:srgbClr val="000000"/>
                </a:solidFill>
              </a:rPr>
              <a:t>두 모델을 종합하여 활용하는 상황 분류 알고리즘 구축</a:t>
            </a:r>
            <a:endParaRPr lang="en-US" altLang="ko-KR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ko-KR" sz="2800" dirty="0">
                <a:solidFill>
                  <a:srgbClr val="000000"/>
                </a:solidFill>
              </a:rPr>
              <a:t> </a:t>
            </a:r>
            <a:r>
              <a:rPr lang="ko-KR" altLang="en-US" sz="2800" dirty="0">
                <a:solidFill>
                  <a:srgbClr val="000000"/>
                </a:solidFill>
              </a:rPr>
              <a:t>알고리즘에 따라 </a:t>
            </a:r>
            <a:r>
              <a:rPr lang="ko-KR" altLang="en-US" sz="2800" dirty="0" err="1">
                <a:solidFill>
                  <a:srgbClr val="000000"/>
                </a:solidFill>
              </a:rPr>
              <a:t>승하차</a:t>
            </a:r>
            <a:r>
              <a:rPr lang="ko-KR" altLang="en-US" sz="2800" dirty="0">
                <a:solidFill>
                  <a:srgbClr val="000000"/>
                </a:solidFill>
              </a:rPr>
              <a:t> 이미지 비교 후 결과 출력</a:t>
            </a:r>
            <a:endParaRPr lang="ko-KR" altLang="ko-KR" sz="2800" dirty="0">
              <a:solidFill>
                <a:srgbClr val="000000"/>
              </a:solidFill>
            </a:endParaRPr>
          </a:p>
        </p:txBody>
      </p:sp>
      <p:sp>
        <p:nvSpPr>
          <p:cNvPr id="3110" name="Rectangle 74">
            <a:extLst>
              <a:ext uri="{FF2B5EF4-FFF2-40B4-BE49-F238E27FC236}">
                <a16:creationId xmlns:a16="http://schemas.microsoft.com/office/drawing/2014/main" id="{44DAF477-364C-3337-8B09-69577BC68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endParaRPr lang="ko-KR" altLang="en-US"/>
          </a:p>
        </p:txBody>
      </p:sp>
      <p:pic>
        <p:nvPicPr>
          <p:cNvPr id="3111" name="_x102306832" descr="EMB00000788394a">
            <a:extLst>
              <a:ext uri="{FF2B5EF4-FFF2-40B4-BE49-F238E27FC236}">
                <a16:creationId xmlns:a16="http://schemas.microsoft.com/office/drawing/2014/main" id="{B56F6EC1-D5A7-2FE5-2003-51AECD3EE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0"/>
            <a:ext cx="2049462" cy="20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13" name="그림 2" descr="텍스트, 스크린샷, 다채로움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183C19-310C-020E-E8C2-B7D4567B4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15487650"/>
            <a:ext cx="8785225" cy="283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1">
            <a:extLst>
              <a:ext uri="{FF2B5EF4-FFF2-40B4-BE49-F238E27FC236}">
                <a16:creationId xmlns:a16="http://schemas.microsoft.com/office/drawing/2014/main" id="{254DBF56-C275-4C9F-8D1D-B48B18072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650" y="18117465"/>
            <a:ext cx="5186298" cy="4692911"/>
          </a:xfrm>
          <a:prstGeom prst="rect">
            <a:avLst/>
          </a:prstGeom>
        </p:spPr>
      </p:pic>
      <p:sp>
        <p:nvSpPr>
          <p:cNvPr id="6" name="Text Box 98">
            <a:extLst>
              <a:ext uri="{FF2B5EF4-FFF2-40B4-BE49-F238E27FC236}">
                <a16:creationId xmlns:a16="http://schemas.microsoft.com/office/drawing/2014/main" id="{64E60F71-A3A6-AE8F-EDA9-0D65C7016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13281" y="22989851"/>
            <a:ext cx="433730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ko-KR" altLang="en-US" sz="2600" dirty="0">
                <a:solidFill>
                  <a:srgbClr val="000000"/>
                </a:solidFill>
              </a:rPr>
              <a:t>동일인물</a:t>
            </a:r>
            <a:r>
              <a:rPr lang="en-US" altLang="ko-KR" sz="2600" dirty="0">
                <a:solidFill>
                  <a:srgbClr val="000000"/>
                </a:solidFill>
              </a:rPr>
              <a:t>, </a:t>
            </a:r>
            <a:r>
              <a:rPr lang="ko-KR" altLang="en-US" sz="2600" dirty="0">
                <a:solidFill>
                  <a:srgbClr val="000000"/>
                </a:solidFill>
              </a:rPr>
              <a:t>이상 없음</a:t>
            </a:r>
            <a:endParaRPr lang="en-US" altLang="ko-KR" sz="2600" dirty="0">
              <a:solidFill>
                <a:srgbClr val="000000"/>
              </a:solidFill>
            </a:endParaRPr>
          </a:p>
        </p:txBody>
      </p:sp>
      <p:sp>
        <p:nvSpPr>
          <p:cNvPr id="7" name="Text Box 98">
            <a:extLst>
              <a:ext uri="{FF2B5EF4-FFF2-40B4-BE49-F238E27FC236}">
                <a16:creationId xmlns:a16="http://schemas.microsoft.com/office/drawing/2014/main" id="{2ED2A861-87D6-B7F6-EAA2-6723145B4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70064" y="29038027"/>
            <a:ext cx="4671218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ko-KR" altLang="en-US" sz="2600" dirty="0">
                <a:solidFill>
                  <a:srgbClr val="000000"/>
                </a:solidFill>
              </a:rPr>
              <a:t> 동일인물</a:t>
            </a:r>
            <a:r>
              <a:rPr lang="en-US" altLang="ko-KR" sz="2600" dirty="0">
                <a:solidFill>
                  <a:srgbClr val="000000"/>
                </a:solidFill>
              </a:rPr>
              <a:t>, </a:t>
            </a:r>
            <a:r>
              <a:rPr lang="ko-KR" altLang="en-US" sz="2600" dirty="0">
                <a:solidFill>
                  <a:srgbClr val="000000"/>
                </a:solidFill>
              </a:rPr>
              <a:t>도난가능성 </a:t>
            </a:r>
            <a:r>
              <a:rPr lang="en-US" altLang="ko-KR" sz="2600" dirty="0">
                <a:solidFill>
                  <a:srgbClr val="000000"/>
                </a:solidFill>
              </a:rPr>
              <a:t>O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en-US" altLang="ko-KR" sz="2600" dirty="0">
              <a:solidFill>
                <a:srgbClr val="000000"/>
              </a:solidFill>
            </a:endParaRPr>
          </a:p>
        </p:txBody>
      </p:sp>
      <p:sp>
        <p:nvSpPr>
          <p:cNvPr id="8" name="Text Box 98">
            <a:extLst>
              <a:ext uri="{FF2B5EF4-FFF2-40B4-BE49-F238E27FC236}">
                <a16:creationId xmlns:a16="http://schemas.microsoft.com/office/drawing/2014/main" id="{5014A0E9-AF45-0A98-CC1E-0CC764202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3480" y="29038027"/>
            <a:ext cx="4882176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ko-KR" altLang="en-US" sz="2800" dirty="0">
                <a:solidFill>
                  <a:srgbClr val="000000"/>
                </a:solidFill>
              </a:rPr>
              <a:t>동일인물</a:t>
            </a:r>
            <a:r>
              <a:rPr lang="en-US" altLang="ko-KR" sz="2800" dirty="0">
                <a:solidFill>
                  <a:srgbClr val="000000"/>
                </a:solidFill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</a:rPr>
              <a:t>분실가능성 </a:t>
            </a:r>
            <a:r>
              <a:rPr lang="en-US" altLang="ko-KR" sz="2800" dirty="0">
                <a:solidFill>
                  <a:srgbClr val="000000"/>
                </a:solidFill>
              </a:rPr>
              <a:t>O</a:t>
            </a:r>
            <a:r>
              <a:rPr lang="ko-KR" altLang="en-US" sz="2800" dirty="0">
                <a:solidFill>
                  <a:srgbClr val="000000"/>
                </a:solidFill>
              </a:rPr>
              <a:t> </a:t>
            </a:r>
            <a:endParaRPr lang="en-US" altLang="ko-KR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en-US" altLang="ko-KR" sz="2600" dirty="0">
              <a:solidFill>
                <a:srgbClr val="000000"/>
              </a:solidFill>
            </a:endParaRPr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2301C6E8-AC15-17FD-2769-4A2FC8A3C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7072" y="18196861"/>
            <a:ext cx="5099495" cy="4576470"/>
          </a:xfrm>
          <a:prstGeom prst="rect">
            <a:avLst/>
          </a:prstGeom>
        </p:spPr>
      </p:pic>
      <p:pic>
        <p:nvPicPr>
          <p:cNvPr id="10" name="Picture 15">
            <a:extLst>
              <a:ext uri="{FF2B5EF4-FFF2-40B4-BE49-F238E27FC236}">
                <a16:creationId xmlns:a16="http://schemas.microsoft.com/office/drawing/2014/main" id="{73057CFC-43B0-B3BF-651D-74174DFB7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6972" y="24071016"/>
            <a:ext cx="5124976" cy="4613590"/>
          </a:xfrm>
          <a:prstGeom prst="rect">
            <a:avLst/>
          </a:prstGeom>
        </p:spPr>
      </p:pic>
      <p:pic>
        <p:nvPicPr>
          <p:cNvPr id="11" name="Picture 12">
            <a:extLst>
              <a:ext uri="{FF2B5EF4-FFF2-40B4-BE49-F238E27FC236}">
                <a16:creationId xmlns:a16="http://schemas.microsoft.com/office/drawing/2014/main" id="{C339EA59-4BF4-EC99-34C8-055F2A1136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28565" y="24069475"/>
            <a:ext cx="5108617" cy="4613590"/>
          </a:xfrm>
          <a:prstGeom prst="rect">
            <a:avLst/>
          </a:prstGeom>
        </p:spPr>
      </p:pic>
      <p:pic>
        <p:nvPicPr>
          <p:cNvPr id="12" name="Picture 13">
            <a:extLst>
              <a:ext uri="{FF2B5EF4-FFF2-40B4-BE49-F238E27FC236}">
                <a16:creationId xmlns:a16="http://schemas.microsoft.com/office/drawing/2014/main" id="{C146B44A-CB31-6B09-C07B-098C481561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0870" y="14314747"/>
            <a:ext cx="5067300" cy="3035300"/>
          </a:xfrm>
          <a:prstGeom prst="rect">
            <a:avLst/>
          </a:prstGeom>
        </p:spPr>
      </p:pic>
      <p:pic>
        <p:nvPicPr>
          <p:cNvPr id="13" name="Picture 15">
            <a:extLst>
              <a:ext uri="{FF2B5EF4-FFF2-40B4-BE49-F238E27FC236}">
                <a16:creationId xmlns:a16="http://schemas.microsoft.com/office/drawing/2014/main" id="{4C358EC1-E355-7779-4F61-0219415594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6523" y="14275545"/>
            <a:ext cx="5092700" cy="3048000"/>
          </a:xfrm>
          <a:prstGeom prst="rect">
            <a:avLst/>
          </a:prstGeom>
        </p:spPr>
      </p:pic>
      <p:sp>
        <p:nvSpPr>
          <p:cNvPr id="14" name="Text Box 98">
            <a:extLst>
              <a:ext uri="{FF2B5EF4-FFF2-40B4-BE49-F238E27FC236}">
                <a16:creationId xmlns:a16="http://schemas.microsoft.com/office/drawing/2014/main" id="{36D354C5-458D-FDDF-AC49-AAD0CC988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477" y="17557289"/>
            <a:ext cx="940792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2952750"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2952750" eaLnBrk="0" fontAlgn="base" hangingPunct="0">
              <a:spcBef>
                <a:spcPct val="0"/>
              </a:spcBef>
              <a:spcAft>
                <a:spcPct val="0"/>
              </a:spcAft>
              <a:defRPr kumimoji="1" sz="5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ko-KR" altLang="en-US" sz="2600" dirty="0">
                <a:solidFill>
                  <a:srgbClr val="000000"/>
                </a:solidFill>
              </a:rPr>
              <a:t>가방 유무 판단 모델의 </a:t>
            </a:r>
            <a:r>
              <a:rPr lang="en-US" altLang="ko-KR" sz="2600" dirty="0">
                <a:solidFill>
                  <a:srgbClr val="000000"/>
                </a:solidFill>
              </a:rPr>
              <a:t>confusion matrix</a:t>
            </a:r>
            <a:r>
              <a:rPr lang="ko-KR" altLang="en-US" sz="2600" dirty="0">
                <a:solidFill>
                  <a:srgbClr val="000000"/>
                </a:solidFill>
              </a:rPr>
              <a:t>와 </a:t>
            </a:r>
            <a:r>
              <a:rPr lang="en-US" altLang="ko-KR" sz="2600" dirty="0">
                <a:solidFill>
                  <a:srgbClr val="000000"/>
                </a:solidFill>
              </a:rPr>
              <a:t>F1 score </a:t>
            </a:r>
            <a:r>
              <a:rPr lang="ko-KR" altLang="en-US" sz="2600" dirty="0">
                <a:solidFill>
                  <a:srgbClr val="000000"/>
                </a:solidFill>
              </a:rPr>
              <a:t>값</a:t>
            </a:r>
            <a:endParaRPr lang="en-US" altLang="ko-KR" sz="2600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en-US" altLang="ko-KR" sz="2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5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5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842</TotalTime>
  <Words>436</Words>
  <Application>Microsoft Office PowerPoint</Application>
  <PresentationFormat>사용자 지정</PresentationFormat>
  <Paragraphs>53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HY견고딕</vt:lpstr>
      <vt:lpstr>굴림</vt:lpstr>
      <vt:lpstr>맑은 고딕</vt:lpstr>
      <vt:lpstr>Arial</vt:lpstr>
      <vt:lpstr>Wingdings</vt:lpstr>
      <vt:lpstr>기본 디자인</vt:lpstr>
      <vt:lpstr>PowerPoint 프레젠테이션</vt:lpstr>
    </vt:vector>
  </TitlesOfParts>
  <Company>modsim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선청일</dc:creator>
  <cp:lastModifiedBy>세빈 박</cp:lastModifiedBy>
  <cp:revision>67</cp:revision>
  <dcterms:created xsi:type="dcterms:W3CDTF">2007-11-13T01:11:17Z</dcterms:created>
  <dcterms:modified xsi:type="dcterms:W3CDTF">2025-06-15T10:36:26Z</dcterms:modified>
</cp:coreProperties>
</file>