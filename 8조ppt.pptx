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Pretendard ExtraLight" panose="02000303000000020004" pitchFamily="2" charset="-127"/>
      <p:regular r:id="rId21"/>
    </p:embeddedFont>
    <p:embeddedFont>
      <p:font typeface="Pretendard Light" panose="02000403000000020004" pitchFamily="2" charset="-127"/>
      <p:regular r:id="rId22"/>
    </p:embeddedFont>
    <p:embeddedFont>
      <p:font typeface="Pretendard Medium" panose="02000603000000020004" pitchFamily="2" charset="-127"/>
      <p:regular r:id="rId23"/>
      <p:bold r:id="rId24"/>
    </p:embeddedFont>
    <p:embeddedFont>
      <p:font typeface="Pretendard Regular" panose="02000503000000020004" pitchFamily="2" charset="-127"/>
      <p:regular r:id="rId25"/>
    </p:embeddedFont>
    <p:embeddedFont>
      <p:font typeface="Pretendard SemiBold" panose="02000703000000020004" pitchFamily="2" charset="-127"/>
      <p:regular r:id="rId26"/>
      <p:bold r:id="rId27"/>
    </p:embeddedFont>
    <p:embeddedFont>
      <p:font typeface="Montserrat Medium" panose="020F0502020204030204" pitchFamily="34" charset="0"/>
      <p:regular r:id="rId28"/>
      <p:bold r:id="rId29"/>
      <p:italic r:id="rId30"/>
    </p:embeddedFont>
    <p:embeddedFont>
      <p:font typeface="Montserrat Regular" pitchFamily="2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0" autoAdjust="0"/>
  </p:normalViewPr>
  <p:slideViewPr>
    <p:cSldViewPr>
      <p:cViewPr varScale="1">
        <p:scale>
          <a:sx n="80" d="100"/>
          <a:sy n="80" d="100"/>
        </p:scale>
        <p:origin x="2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2.png"/><Relationship Id="rId7" Type="http://schemas.openxmlformats.org/officeDocument/2006/relationships/image" Target="../media/image4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1.png"/><Relationship Id="rId7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2.png"/><Relationship Id="rId9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2.png"/><Relationship Id="rId7" Type="http://schemas.openxmlformats.org/officeDocument/2006/relationships/image" Target="../media/image5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2.png"/><Relationship Id="rId7" Type="http://schemas.openxmlformats.org/officeDocument/2006/relationships/image" Target="../media/image6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30200"/>
            <a:ext cx="368300" cy="961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1752600"/>
            <a:ext cx="14592300" cy="675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2476500" y="6311900"/>
            <a:ext cx="13335000" cy="1625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7188200"/>
            <a:ext cx="133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11900" y="7569200"/>
            <a:ext cx="7112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283700" y="7581900"/>
            <a:ext cx="7112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141200" y="7581900"/>
            <a:ext cx="7112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915400" y="6604000"/>
            <a:ext cx="673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+mn-ea"/>
              </a:rPr>
              <a:t>8</a:t>
            </a:r>
            <a:r>
              <a:rPr lang="ko-KR" sz="2500" b="0" i="0" u="none" strike="noStrike" dirty="0">
                <a:solidFill>
                  <a:srgbClr val="000000"/>
                </a:solidFill>
                <a:latin typeface="+mn-ea"/>
              </a:rPr>
              <a:t>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67000" y="7289800"/>
            <a:ext cx="762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(Name)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95800" y="7429500"/>
            <a:ext cx="13843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6040"/>
              </a:lnSpc>
            </a:pPr>
            <a:r>
              <a:rPr lang="ko-KR" sz="1600" b="0" i="0" u="none" strike="noStrike" spc="100">
                <a:solidFill>
                  <a:srgbClr val="000000"/>
                </a:solidFill>
                <a:ea typeface="Pretendard Regular"/>
              </a:rPr>
              <a:t>김영인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4800" y="7429500"/>
            <a:ext cx="280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6040"/>
              </a:lnSpc>
            </a:pPr>
            <a:r>
              <a:rPr lang="ko-KR" sz="1600" b="0" i="0" u="none" strike="noStrike" spc="100">
                <a:solidFill>
                  <a:srgbClr val="000000"/>
                </a:solidFill>
                <a:ea typeface="Pretendard Regular"/>
              </a:rPr>
              <a:t>박세빈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2800" y="7442200"/>
            <a:ext cx="280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6040"/>
              </a:lnSpc>
            </a:pPr>
            <a:r>
              <a:rPr lang="ko-KR" sz="1600" b="0" i="0" u="none" strike="noStrike" spc="100">
                <a:solidFill>
                  <a:srgbClr val="000000"/>
                </a:solidFill>
                <a:ea typeface="Pretendard Regular"/>
              </a:rPr>
              <a:t>조윤서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67000" y="6527800"/>
            <a:ext cx="2222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(Team)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99000" y="3035300"/>
            <a:ext cx="89027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spc="-200">
                <a:solidFill>
                  <a:srgbClr val="000000"/>
                </a:solidFill>
                <a:latin typeface="Pretendard ExtraLight"/>
              </a:rPr>
              <a:t>AI </a:t>
            </a:r>
            <a:r>
              <a:rPr lang="ko-KR" sz="8000" b="0" i="0" u="none" strike="noStrike" spc="-200">
                <a:solidFill>
                  <a:srgbClr val="000000"/>
                </a:solidFill>
                <a:ea typeface="Pretendard ExtraLight"/>
              </a:rPr>
              <a:t>기반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5900" y="4267200"/>
            <a:ext cx="12776200" cy="177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10000" b="0" i="0" u="none" strike="noStrike" spc="-300" dirty="0">
                <a:solidFill>
                  <a:srgbClr val="000000"/>
                </a:solidFill>
                <a:ea typeface="Pretendard Medium"/>
              </a:rPr>
              <a:t>분실물</a:t>
            </a:r>
            <a:r>
              <a:rPr lang="en-US" sz="10000" b="0" i="0" u="none" strike="noStrike" spc="-300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0000" b="0" i="0" u="none" strike="noStrike" spc="-300" dirty="0">
                <a:solidFill>
                  <a:srgbClr val="000000"/>
                </a:solidFill>
                <a:ea typeface="Pretendard Medium"/>
              </a:rPr>
              <a:t>자동</a:t>
            </a:r>
            <a:r>
              <a:rPr lang="en-US" sz="10000" b="0" i="0" u="none" strike="noStrike" spc="-300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en-US" sz="10000" b="0" i="0" u="none" strike="noStrike" spc="-300" dirty="0">
                <a:solidFill>
                  <a:srgbClr val="000000"/>
                </a:solidFill>
                <a:latin typeface="Pretendard Medium"/>
                <a:ea typeface="Pretendard Medium"/>
              </a:rPr>
              <a:t>감지</a:t>
            </a:r>
            <a:r>
              <a:rPr lang="en-US" sz="10000" b="0" i="0" u="none" strike="noStrike" spc="-300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0000" b="0" i="0" u="none" strike="noStrike" spc="-300" dirty="0">
                <a:solidFill>
                  <a:srgbClr val="000000"/>
                </a:solidFill>
                <a:ea typeface="Pretendard Medium"/>
              </a:rPr>
              <a:t>시스템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63500" y="7429500"/>
            <a:ext cx="280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6040"/>
              </a:lnSpc>
            </a:pPr>
            <a:r>
              <a:rPr lang="ko-KR" sz="1600" b="0" i="0" u="none" strike="noStrike" spc="100">
                <a:solidFill>
                  <a:srgbClr val="000000"/>
                </a:solidFill>
                <a:ea typeface="Pretendard Regular"/>
              </a:rPr>
              <a:t>최재원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18000" y="-3759200"/>
            <a:ext cx="9613900" cy="1781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3187700"/>
            <a:ext cx="8509000" cy="6210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4254500"/>
            <a:ext cx="7518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8534400"/>
            <a:ext cx="75184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5118100"/>
            <a:ext cx="75184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5969000"/>
            <a:ext cx="75184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6819900"/>
            <a:ext cx="75184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7683500"/>
            <a:ext cx="75184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9372600"/>
            <a:ext cx="75184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486900" y="4508500"/>
            <a:ext cx="1841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1.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주제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배경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2100" y="3390900"/>
            <a:ext cx="6591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800" b="0" i="0" u="none" strike="noStrike" dirty="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</a:t>
            </a:r>
            <a:r>
              <a:rPr lang="en-US" sz="1800" b="0" i="0" u="none" strike="noStrike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800" b="0" i="0" u="none" strike="noStrike" dirty="0">
                <a:solidFill>
                  <a:srgbClr val="000000">
                    <a:alpha val="80000"/>
                  </a:srgbClr>
                </a:solidFill>
                <a:ea typeface="Pretendard Light"/>
              </a:rPr>
              <a:t>자동</a:t>
            </a:r>
            <a:r>
              <a:rPr lang="en-US" sz="1800" b="0" i="0" u="none" strike="noStrike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altLang="en-US" sz="1800" b="0" i="0" u="none" strike="noStrike" dirty="0">
                <a:solidFill>
                  <a:srgbClr val="000000">
                    <a:alpha val="80000"/>
                  </a:srgbClr>
                </a:solidFill>
                <a:latin typeface="Pretendard Light"/>
                <a:ea typeface="Pretendard Light"/>
              </a:rPr>
              <a:t>감지</a:t>
            </a:r>
            <a:r>
              <a:rPr lang="en-US" sz="1800" b="0" i="0" u="none" strike="noStrike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800" b="0" i="0" u="none" strike="noStrike" dirty="0">
                <a:solidFill>
                  <a:srgbClr val="000000">
                    <a:alpha val="80000"/>
                  </a:srgbClr>
                </a:solidFill>
                <a:ea typeface="Pretendard Light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2100" y="1435100"/>
            <a:ext cx="7086600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9500" b="0" i="0" u="none" strike="noStrike" spc="-300">
                <a:solidFill>
                  <a:srgbClr val="000000"/>
                </a:solidFill>
                <a:latin typeface="Montserrat Medium"/>
              </a:rPr>
              <a:t>Contents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86900" y="5359400"/>
            <a:ext cx="25654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초기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방향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86900" y="6235700"/>
            <a:ext cx="2832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문제점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고찰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피드백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86900" y="7061200"/>
            <a:ext cx="22733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4.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과정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86900" y="7950200"/>
            <a:ext cx="22733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5.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시뮬레이션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결과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86900" y="8801100"/>
            <a:ext cx="25654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6.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발전</a:t>
            </a:r>
            <a:r>
              <a:rPr lang="en-US" sz="2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000000"/>
                </a:solidFill>
                <a:ea typeface="Pretendard Regular"/>
              </a:rPr>
              <a:t>가능성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657600" y="6667500"/>
            <a:ext cx="5588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42400" y="6667500"/>
            <a:ext cx="5588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143500"/>
            <a:ext cx="5397500" cy="4114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47800" y="42545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높은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발생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빈도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38608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2600" y="4254500"/>
            <a:ext cx="4203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사람에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의존하는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수동적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수거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방식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2600" y="3848100"/>
            <a:ext cx="5588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32600" y="5753100"/>
            <a:ext cx="46355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누군가의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신고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또는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 </a:t>
            </a:r>
          </a:p>
          <a:p>
            <a:pPr lvl="0" algn="ctr">
              <a:lnSpc>
                <a:spcPct val="132800"/>
              </a:lnSpc>
            </a:pP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관리자의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우연한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발견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없이는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 </a:t>
            </a:r>
          </a:p>
          <a:p>
            <a:pPr lvl="0" algn="ctr">
              <a:lnSpc>
                <a:spcPct val="132800"/>
              </a:lnSpc>
            </a:pP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분실물에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대한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조치가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이루어지지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않음</a:t>
            </a:r>
          </a:p>
          <a:p>
            <a:pPr lvl="0" algn="ctr">
              <a:lnSpc>
                <a:spcPct val="132800"/>
              </a:lnSpc>
            </a:pPr>
            <a:endParaRPr lang="ko-KR" sz="2300" b="0" i="0" u="none" strike="noStrike" spc="-100">
              <a:solidFill>
                <a:srgbClr val="000000">
                  <a:alpha val="80000"/>
                </a:srgbClr>
              </a:solidFill>
              <a:ea typeface="Pretendard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17400" y="4254500"/>
            <a:ext cx="326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수거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지연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위험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증가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7400" y="3721100"/>
            <a:ext cx="3175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19000" y="5753100"/>
            <a:ext cx="46355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늦게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발견될수록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→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다른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사람이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가져감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→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손상됨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→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위치가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바뀌어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찾기</a:t>
            </a:r>
            <a:r>
              <a:rPr lang="en-US" sz="23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23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어려워짐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4300" y="1409700"/>
            <a:ext cx="7620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주제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선정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배경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5600700"/>
            <a:ext cx="89916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70100" y="7404100"/>
            <a:ext cx="6896100" cy="1346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유동인구가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많다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가방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캐리어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짐을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가지고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탑승하는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경우가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빈번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승객의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분실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사고를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실시간으로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감지하고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빠르게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대응</a:t>
            </a:r>
            <a:r>
              <a:rPr lang="en-US" sz="2300" b="0" i="0" u="none" strike="noStrike" spc="-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300" b="0" i="0" u="none" strike="noStrike" spc="-100" dirty="0">
                <a:solidFill>
                  <a:srgbClr val="000000"/>
                </a:solidFill>
                <a:ea typeface="Pretendard Light"/>
              </a:rPr>
              <a:t>가능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08200" y="6324600"/>
            <a:ext cx="1244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시스템</a:t>
            </a:r>
            <a:r>
              <a:rPr lang="en-US" sz="1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8200" y="6667500"/>
            <a:ext cx="1803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KTX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열차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00" y="3670300"/>
            <a:ext cx="4000500" cy="977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6273800"/>
            <a:ext cx="5486400" cy="3289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2603500"/>
            <a:ext cx="5486400" cy="3378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105400" y="3898900"/>
            <a:ext cx="3124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AI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감지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4300" y="1409700"/>
            <a:ext cx="7620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주제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선정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배경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500" y="3136900"/>
            <a:ext cx="7543800" cy="2070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426700" y="3949700"/>
            <a:ext cx="565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사람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유무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→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사람이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없을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경우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물체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탐지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500" y="5295900"/>
            <a:ext cx="7543800" cy="2070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531600" y="6108700"/>
            <a:ext cx="3162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YOLO V2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객체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탐지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500" y="7467600"/>
            <a:ext cx="7543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3505200"/>
            <a:ext cx="4152900" cy="546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4813300"/>
            <a:ext cx="4102100" cy="4013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553700" y="8267700"/>
            <a:ext cx="5422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IMAGELABELER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이용하여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라벨링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13200" y="1409700"/>
            <a:ext cx="7620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초기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방향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223000" y="6489700"/>
            <a:ext cx="59944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600" y="6477000"/>
            <a:ext cx="7620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3708400"/>
            <a:ext cx="6172200" cy="5562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64700" y="4292600"/>
            <a:ext cx="5308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기존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CCTV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기반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탐지의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한계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64700" y="36957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8200" y="4991100"/>
            <a:ext cx="72898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CCTV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천장에서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좌석의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전체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모습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촬영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학습시킨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모델은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좌석을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정면에서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본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→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정확도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감소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4700" y="7264400"/>
            <a:ext cx="5308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기준의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모호함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64700" y="6794500"/>
            <a:ext cx="5842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4700" y="7950200"/>
            <a:ext cx="72898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좌석이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2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개가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붙어있는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경우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옆자리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승객이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짐을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놔두는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경우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빈번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옆자리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승객의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짐을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감지하게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3.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2A2B23-2323-D525-D237-7186CB3991EF}"/>
              </a:ext>
            </a:extLst>
          </p:cNvPr>
          <p:cNvSpPr txBox="1"/>
          <p:nvPr/>
        </p:nvSpPr>
        <p:spPr>
          <a:xfrm>
            <a:off x="4013200" y="1333500"/>
            <a:ext cx="9321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문제점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고찰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피드백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300" y="3606800"/>
            <a:ext cx="6731000" cy="510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7962900"/>
            <a:ext cx="6654800" cy="1562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64700" y="3822700"/>
            <a:ext cx="4800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이미지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탐지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위치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변경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: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좌석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→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출입문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64700" y="34544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64700" y="4457700"/>
            <a:ext cx="76835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출입문에는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명씩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통과하기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때문에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탐지에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매우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적합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탑승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순간과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하차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순간의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모습을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비교함으로써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 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정확한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64700" y="6007100"/>
            <a:ext cx="5689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출입문이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존재하는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모든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장소에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적용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가능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4700" y="566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64700" y="6680200"/>
            <a:ext cx="79375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도서관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호텔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카페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등으로도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쉽게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확장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가능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우산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태블릿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PC,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쇼핑백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등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확장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4700" y="81661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최종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감지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64700" y="8864600"/>
            <a:ext cx="7289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사람의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하차시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모습을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비교하여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감지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3.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13200" y="1333500"/>
            <a:ext cx="9321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문제점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고찰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Pretendard SemiBold"/>
              </a:rPr>
              <a:t>피드백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854700"/>
            <a:ext cx="5092700" cy="368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7800" y="69469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가방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유무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7531100"/>
            <a:ext cx="46228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Resnet50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활용한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Transfer Learing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가방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유무를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판단하는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모델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구현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854700"/>
            <a:ext cx="5092700" cy="369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32600" y="6946900"/>
            <a:ext cx="3848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동일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인물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알고리즘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26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6100" y="5854700"/>
            <a:ext cx="5092700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217400" y="6946900"/>
            <a:ext cx="430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가방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/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도난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여부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74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17400" y="76835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(1) + (2)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/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도난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여부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2819400"/>
            <a:ext cx="5054600" cy="300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2857500"/>
            <a:ext cx="5092700" cy="304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50700" y="2806700"/>
            <a:ext cx="5092700" cy="3048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767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설계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과정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2600" y="7645400"/>
            <a:ext cx="46228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승하차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기준으로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색상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+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코사인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유사도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통합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854700"/>
            <a:ext cx="5092700" cy="368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7800" y="69469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데이터셋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전처리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7493000"/>
            <a:ext cx="46228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Resizing + Augmentation → </a:t>
            </a:r>
            <a:r>
              <a:rPr lang="en-US" altLang="ko-KR" sz="1900" spc="-100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1210</a:t>
            </a:r>
            <a:r>
              <a:rPr lang="ko-KR" sz="1900" b="0" i="0" u="none" strike="noStrike" spc="-100" dirty="0">
                <a:solidFill>
                  <a:srgbClr val="000000">
                    <a:alpha val="80000"/>
                  </a:srgbClr>
                </a:solidFill>
                <a:ea typeface="Pretendard Light"/>
              </a:rPr>
              <a:t>장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 dirty="0">
                <a:solidFill>
                  <a:srgbClr val="000000">
                    <a:alpha val="80000"/>
                  </a:srgbClr>
                </a:solidFill>
                <a:latin typeface="Pretendard Light"/>
              </a:rPr>
              <a:t>Training 80%, Validation 20%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854700"/>
            <a:ext cx="5092700" cy="369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32600" y="6946900"/>
            <a:ext cx="4648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이진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분류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구현을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위한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전이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학습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26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6100" y="5854700"/>
            <a:ext cx="5092700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217400" y="6946900"/>
            <a:ext cx="430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훈련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진행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74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17400" y="7480300"/>
            <a:ext cx="46228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AMD Ryzen 5 3500X + GTX 1660 Super 6GB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약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58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소요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819400"/>
            <a:ext cx="5092700" cy="3035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2819400"/>
            <a:ext cx="5080000" cy="3035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6100" y="2921000"/>
            <a:ext cx="4940300" cy="2946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33500" y="1371600"/>
            <a:ext cx="3657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4-1.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323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가방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유무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2600" y="78359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분류기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→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분류기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(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레이어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수정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854700"/>
            <a:ext cx="5092700" cy="368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7800" y="6946900"/>
            <a:ext cx="4356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결과값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(CONFUSION MATRIX)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527800"/>
            <a:ext cx="4826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854700"/>
            <a:ext cx="5092700" cy="369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832600" y="6946900"/>
            <a:ext cx="4648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결과값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26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(5)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6100" y="5854700"/>
            <a:ext cx="5092700" cy="3695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217400" y="6946900"/>
            <a:ext cx="430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테스트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진행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174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(6)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2895600"/>
            <a:ext cx="5067300" cy="303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6100" y="2844800"/>
            <a:ext cx="5041900" cy="3022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908300"/>
            <a:ext cx="5092700" cy="3048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33500" y="1371600"/>
            <a:ext cx="3657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4-1.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323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가방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유무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2000" y="78359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다른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테스트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5600" y="78359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243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중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1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오류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8800" y="78359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Accuracy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F1-score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모두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0.99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이상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854700"/>
            <a:ext cx="5092700" cy="368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7800" y="69469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코사인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유사도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7670800"/>
            <a:ext cx="46990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Resnet50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레이어를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벡터로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변환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두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벡터의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내적값을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유사도를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계산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854700"/>
            <a:ext cx="5092700" cy="369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32600" y="6946900"/>
            <a:ext cx="4648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평균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RGB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거리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26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6100" y="5854700"/>
            <a:ext cx="5092700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217400" y="6946900"/>
            <a:ext cx="430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임계값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기준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동일인물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74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946400"/>
            <a:ext cx="5092700" cy="303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2933700"/>
            <a:ext cx="5092700" cy="3048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6100" y="2946400"/>
            <a:ext cx="5092700" cy="3048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33500" y="1371600"/>
            <a:ext cx="3657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4-2.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66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동일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인물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알고리즘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8000" y="7670800"/>
            <a:ext cx="46228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축소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이미지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RGB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평균값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산출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평균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RGB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값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간의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Euclidean distance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계산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53900" y="7861300"/>
            <a:ext cx="4978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유사도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0.8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초과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거리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15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미만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→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동일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인물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854700"/>
            <a:ext cx="5092700" cy="368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7800" y="6946900"/>
            <a:ext cx="3111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동일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인물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여부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7000" y="7670800"/>
            <a:ext cx="49022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형태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만족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O,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색상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기준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만족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O →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동일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인물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 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동일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인물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O →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/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도난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여부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판단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854700"/>
            <a:ext cx="5092700" cy="369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32600" y="6946900"/>
            <a:ext cx="4648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결과값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출력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26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6100" y="5854700"/>
            <a:ext cx="5092700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217400" y="6946900"/>
            <a:ext cx="430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결과값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SemiBold"/>
              </a:rPr>
              <a:t>출력</a:t>
            </a: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</a:rPr>
              <a:t>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7400" y="6540500"/>
            <a:ext cx="596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984500"/>
            <a:ext cx="5092700" cy="303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2921000"/>
            <a:ext cx="5118100" cy="3060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6100" y="2933700"/>
            <a:ext cx="5092700" cy="3048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33500" y="1371600"/>
            <a:ext cx="3657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4-3.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66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가방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분실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/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도난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여부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판단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000" y="78359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이상이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있는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경우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58000" y="7861300"/>
            <a:ext cx="4622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이상이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없는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경우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46400"/>
            <a:ext cx="15621000" cy="1181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31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9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6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07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699500" y="3581400"/>
            <a:ext cx="9017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49800" y="3581400"/>
            <a:ext cx="9017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47600" y="3530600"/>
            <a:ext cx="9017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143500"/>
            <a:ext cx="3746500" cy="3390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5143500"/>
            <a:ext cx="3784600" cy="340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200" y="5143500"/>
            <a:ext cx="3797300" cy="3416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7200" y="5207000"/>
            <a:ext cx="3784600" cy="3390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33500" y="1320800"/>
            <a:ext cx="359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5.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02100" y="13716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시뮬레이션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690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이상없음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139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분실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874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도난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33400" y="312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46400"/>
            <a:ext cx="15621000" cy="1181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31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9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6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07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100" y="2946400"/>
            <a:ext cx="3759200" cy="11811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42CD4494-56B1-845C-C0BB-5DEFC727A42B}"/>
              </a:ext>
            </a:extLst>
          </p:cNvPr>
          <p:cNvGrpSpPr/>
          <p:nvPr/>
        </p:nvGrpSpPr>
        <p:grpSpPr>
          <a:xfrm>
            <a:off x="3105150" y="4343400"/>
            <a:ext cx="12077700" cy="5194300"/>
            <a:chOff x="2882900" y="4343400"/>
            <a:chExt cx="12077700" cy="51943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82900" y="4394200"/>
              <a:ext cx="5676900" cy="514350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20200" y="4343400"/>
              <a:ext cx="5740400" cy="519430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333500" y="1320800"/>
            <a:ext cx="359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5.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02100" y="13716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시뮬레이션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690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이상없음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139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분실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74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도난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33400" y="312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46400"/>
            <a:ext cx="15621000" cy="1181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31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9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6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07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699500" y="3581400"/>
            <a:ext cx="9017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49800" y="3581400"/>
            <a:ext cx="9017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47600" y="3530600"/>
            <a:ext cx="901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0" y="2946400"/>
            <a:ext cx="3937000" cy="11811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D8B7AD7D-9DBB-5694-E0FC-D9E420608110}"/>
              </a:ext>
            </a:extLst>
          </p:cNvPr>
          <p:cNvGrpSpPr/>
          <p:nvPr/>
        </p:nvGrpSpPr>
        <p:grpSpPr>
          <a:xfrm>
            <a:off x="2851150" y="4356100"/>
            <a:ext cx="12585700" cy="5334000"/>
            <a:chOff x="2755900" y="4356100"/>
            <a:chExt cx="12585700" cy="533400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55900" y="4356100"/>
              <a:ext cx="5918200" cy="533400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98000" y="4356100"/>
              <a:ext cx="5943600" cy="5334000"/>
            </a:xfrm>
            <a:prstGeom prst="rect">
              <a:avLst/>
            </a:prstGeom>
          </p:spPr>
        </p:pic>
      </p:grpSp>
      <p:sp>
        <p:nvSpPr>
          <p:cNvPr id="15" name="TextBox 15"/>
          <p:cNvSpPr txBox="1"/>
          <p:nvPr/>
        </p:nvSpPr>
        <p:spPr>
          <a:xfrm>
            <a:off x="1333500" y="1320800"/>
            <a:ext cx="359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5.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02100" y="13716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시뮬레이션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690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이상없음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139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분실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874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도난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33400" y="312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0" y="2946400"/>
            <a:ext cx="3911600" cy="120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946400"/>
            <a:ext cx="15621000" cy="1181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431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29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56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107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699500" y="3581400"/>
            <a:ext cx="9017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49800" y="3581400"/>
            <a:ext cx="9017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547600" y="3530600"/>
            <a:ext cx="9017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2946400"/>
            <a:ext cx="4013200" cy="118110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8B95B77-E779-63E8-5D5A-ADCC0CD03C7D}"/>
              </a:ext>
            </a:extLst>
          </p:cNvPr>
          <p:cNvGrpSpPr/>
          <p:nvPr/>
        </p:nvGrpSpPr>
        <p:grpSpPr>
          <a:xfrm>
            <a:off x="2933700" y="4318000"/>
            <a:ext cx="12420600" cy="5359400"/>
            <a:chOff x="3060700" y="4318000"/>
            <a:chExt cx="12420600" cy="5359400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25000" y="4318000"/>
              <a:ext cx="5956300" cy="535940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60700" y="4406900"/>
              <a:ext cx="5854700" cy="5270500"/>
            </a:xfrm>
            <a:prstGeom prst="rect">
              <a:avLst/>
            </a:prstGeom>
          </p:spPr>
        </p:pic>
      </p:grpSp>
      <p:sp>
        <p:nvSpPr>
          <p:cNvPr id="16" name="TextBox 16"/>
          <p:cNvSpPr txBox="1"/>
          <p:nvPr/>
        </p:nvSpPr>
        <p:spPr>
          <a:xfrm>
            <a:off x="1333500" y="1320800"/>
            <a:ext cx="359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5.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02100" y="13716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시뮬레이션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690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이상없음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774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분실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874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도난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33400" y="312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46400"/>
            <a:ext cx="15621000" cy="1181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31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9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6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0700" y="30861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699500" y="3581400"/>
            <a:ext cx="9017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49800" y="3581400"/>
            <a:ext cx="9017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47600" y="3530600"/>
            <a:ext cx="9017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700" y="4241800"/>
            <a:ext cx="6096000" cy="546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2946400"/>
            <a:ext cx="4013200" cy="1181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33500" y="1320800"/>
            <a:ext cx="359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02100" y="13716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시뮬레이션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69000" y="3429000"/>
            <a:ext cx="2565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이상없음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139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분실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38200" y="3429000"/>
            <a:ext cx="2984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동일인물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O +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도난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가능성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33400" y="31242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(4)</a:t>
            </a:r>
          </a:p>
        </p:txBody>
      </p:sp>
      <p:pic>
        <p:nvPicPr>
          <p:cNvPr id="24" name="그림 23" descr="텍스트, 의류, 스크린샷, 사람이(가) 표시된 사진&#10;&#10;자동 생성된 설명">
            <a:extLst>
              <a:ext uri="{FF2B5EF4-FFF2-40B4-BE49-F238E27FC236}">
                <a16:creationId xmlns:a16="http://schemas.microsoft.com/office/drawing/2014/main" id="{81E78502-4E14-A7A6-809D-79A0235603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2" y="4241799"/>
            <a:ext cx="5956298" cy="53863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2286000"/>
            <a:ext cx="15722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7670800"/>
            <a:ext cx="13335000" cy="156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318000"/>
            <a:ext cx="133350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44900" y="3416300"/>
            <a:ext cx="25781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주인에게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알림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81300" y="34417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35800" y="3403600"/>
            <a:ext cx="6121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KTX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경우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표를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예매한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승객의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정보가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존재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승차역과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하차역의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예매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정보를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통해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직접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알림이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가능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5715000"/>
            <a:ext cx="133350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644900" y="4800600"/>
            <a:ext cx="32385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어플리케이션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서비스와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연동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81300" y="48260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35800" y="4673600"/>
            <a:ext cx="6121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푸시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알림을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보내고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회수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절차를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안내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관리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서비스와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연계하여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분실물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효율적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관리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7099300"/>
            <a:ext cx="133350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63000" y="7620000"/>
            <a:ext cx="762000" cy="101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644900" y="6197600"/>
            <a:ext cx="2311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뛰어난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확장성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81300" y="6210300"/>
            <a:ext cx="584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Montserrat Medium"/>
              </a:rPr>
              <a:t>(3)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00900" y="8280400"/>
            <a:ext cx="52705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어디서든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적용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가능한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AI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분실물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감지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700" y="3403600"/>
            <a:ext cx="812800" cy="81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7700" y="6172200"/>
            <a:ext cx="812800" cy="812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17700" y="4787900"/>
            <a:ext cx="812800" cy="8128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33500" y="1371600"/>
            <a:ext cx="2895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 spc="-100">
                <a:solidFill>
                  <a:srgbClr val="000000"/>
                </a:solidFill>
                <a:latin typeface="Montserrat Regular"/>
              </a:rPr>
              <a:t>Content 6.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13200" y="1409700"/>
            <a:ext cx="85090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시스템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발전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SemiBold"/>
              </a:rPr>
              <a:t>가능성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35800" y="6019800"/>
            <a:ext cx="6121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다른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교통수단에도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적용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가능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도서관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병원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,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카페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등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공공장소로</a:t>
            </a:r>
            <a:r>
              <a:rPr lang="en-US" sz="1900" b="0" i="0" u="none" strike="noStrike" spc="-100">
                <a:solidFill>
                  <a:srgbClr val="000000">
                    <a:alpha val="80000"/>
                  </a:srgbClr>
                </a:solidFill>
                <a:latin typeface="Pretendard Light"/>
              </a:rPr>
              <a:t> </a:t>
            </a:r>
            <a:r>
              <a:rPr lang="ko-KR" sz="1900" b="0" i="0" u="none" strike="noStrike" spc="-100">
                <a:solidFill>
                  <a:srgbClr val="000000">
                    <a:alpha val="80000"/>
                  </a:srgbClr>
                </a:solidFill>
                <a:ea typeface="Pretendard Light"/>
              </a:rPr>
              <a:t>확대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06900" y="-3670300"/>
            <a:ext cx="9613900" cy="1762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30200"/>
            <a:ext cx="368300" cy="9613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153400" y="749300"/>
            <a:ext cx="1968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Montserrat Medium"/>
              </a:rPr>
              <a:t>- 2045 - 2050 -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8700" y="2641600"/>
            <a:ext cx="13677900" cy="257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4500" b="0" i="0" u="none" strike="noStrike">
                <a:solidFill>
                  <a:srgbClr val="000000"/>
                </a:solidFill>
                <a:latin typeface="Montserrat Medium"/>
              </a:rPr>
              <a:t>( Thank you!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855</Words>
  <Application>Microsoft Macintosh PowerPoint</Application>
  <PresentationFormat>사용자 지정</PresentationFormat>
  <Paragraphs>196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Montserrat Medium</vt:lpstr>
      <vt:lpstr>Calibri</vt:lpstr>
      <vt:lpstr>Pretendard SemiBold</vt:lpstr>
      <vt:lpstr>Pretendard ExtraLight</vt:lpstr>
      <vt:lpstr>Pretendard Regular</vt:lpstr>
      <vt:lpstr>Pretendard Light</vt:lpstr>
      <vt:lpstr>Arial</vt:lpstr>
      <vt:lpstr>Pretendard Medium</vt:lpstr>
      <vt:lpstr>Montserrat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조윤서</cp:lastModifiedBy>
  <cp:revision>8</cp:revision>
  <dcterms:created xsi:type="dcterms:W3CDTF">2006-08-16T00:00:00Z</dcterms:created>
  <dcterms:modified xsi:type="dcterms:W3CDTF">2025-06-09T07:27:22Z</dcterms:modified>
</cp:coreProperties>
</file>