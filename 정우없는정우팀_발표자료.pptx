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257" r:id="rId2"/>
    <p:sldId id="262" r:id="rId3"/>
    <p:sldId id="287" r:id="rId4"/>
    <p:sldId id="271" r:id="rId5"/>
    <p:sldId id="277" r:id="rId6"/>
    <p:sldId id="291" r:id="rId7"/>
    <p:sldId id="292" r:id="rId8"/>
    <p:sldId id="280" r:id="rId9"/>
    <p:sldId id="290" r:id="rId10"/>
    <p:sldId id="293" r:id="rId11"/>
    <p:sldId id="266" r:id="rId12"/>
    <p:sldId id="269" r:id="rId13"/>
    <p:sldId id="294" r:id="rId14"/>
  </p:sldIdLst>
  <p:sldSz cx="12192000" cy="6858000"/>
  <p:notesSz cx="6858000" cy="9144000"/>
  <p:embeddedFontLst>
    <p:embeddedFont>
      <p:font typeface="맑은 고딕" panose="020B0503020000020004" pitchFamily="50" charset="-127"/>
      <p:regular r:id="rId16"/>
      <p:bold r:id="rId17"/>
    </p:embeddedFont>
    <p:embeddedFont>
      <p:font typeface="배달의민족 도현" panose="020B0600000101010101" pitchFamily="50" charset="-127"/>
      <p:regular r:id="rId18"/>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A3A6C3F3-F414-4182-8C1B-2022E85348D1}">
          <p14:sldIdLst>
            <p14:sldId id="257"/>
            <p14:sldId id="262"/>
            <p14:sldId id="287"/>
            <p14:sldId id="271"/>
            <p14:sldId id="277"/>
            <p14:sldId id="291"/>
            <p14:sldId id="292"/>
            <p14:sldId id="280"/>
            <p14:sldId id="290"/>
            <p14:sldId id="293"/>
            <p14:sldId id="266"/>
            <p14:sldId id="269"/>
            <p14:sldId id="294"/>
          </p14:sldIdLst>
        </p14:section>
      </p14:sectionLst>
    </p:ex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AE7"/>
    <a:srgbClr val="7593B9"/>
    <a:srgbClr val="D1CCC5"/>
    <a:srgbClr val="B2AA9F"/>
    <a:srgbClr val="A2978D"/>
    <a:srgbClr val="D7DBDC"/>
    <a:srgbClr val="91BAD0"/>
    <a:srgbClr val="6C9CC2"/>
    <a:srgbClr val="C6BBCA"/>
    <a:srgbClr val="F5D8D3"/>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83" d="100"/>
          <a:sy n="83" d="100"/>
        </p:scale>
        <p:origin x="435" y="51"/>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49B1D-2764-4428-B109-5CF39D401C4E}" type="datetimeFigureOut">
              <a:rPr lang="ko-KR" altLang="en-US" smtClean="0"/>
              <a:t>2024-08-01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0AC9C1-C580-49BB-8715-FB37BB52ADC8}" type="slidenum">
              <a:rPr lang="ko-KR" altLang="en-US" smtClean="0"/>
              <a:t>‹#›</a:t>
            </a:fld>
            <a:endParaRPr lang="ko-KR" altLang="en-US"/>
          </a:p>
        </p:txBody>
      </p:sp>
    </p:spTree>
    <p:extLst>
      <p:ext uri="{BB962C8B-B14F-4D97-AF65-F5344CB8AC3E}">
        <p14:creationId xmlns:p14="http://schemas.microsoft.com/office/powerpoint/2010/main" val="366394121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안녕하세요</a:t>
            </a:r>
            <a:r>
              <a:rPr lang="en-US" altLang="ko-KR" dirty="0"/>
              <a:t> </a:t>
            </a:r>
            <a:r>
              <a:rPr lang="ko-KR" altLang="en-US" dirty="0"/>
              <a:t>여러분</a:t>
            </a:r>
            <a:r>
              <a:rPr lang="en-US" altLang="ko-KR" dirty="0"/>
              <a:t>. </a:t>
            </a:r>
            <a:r>
              <a:rPr lang="ko-KR" altLang="en-US" dirty="0"/>
              <a:t>저는 정우 없는 정우 팀의 </a:t>
            </a:r>
            <a:r>
              <a:rPr lang="ko-KR" altLang="en-US" dirty="0" err="1"/>
              <a:t>김준태이고</a:t>
            </a:r>
            <a:r>
              <a:rPr lang="ko-KR" altLang="en-US" dirty="0"/>
              <a:t> 오늘 여러분들께 저희 팀의 프로젝트에 대해 소개하려고 합니다</a:t>
            </a:r>
            <a:r>
              <a:rPr lang="en-US" altLang="ko-KR" dirty="0"/>
              <a:t>. </a:t>
            </a:r>
            <a:r>
              <a:rPr lang="ko-KR" altLang="en-US" dirty="0"/>
              <a:t>저희의 프로젝트 이름은 </a:t>
            </a:r>
            <a:r>
              <a:rPr lang="en-US" altLang="ko-KR" dirty="0"/>
              <a:t>Gangnam-station hydro </a:t>
            </a:r>
            <a:r>
              <a:rPr lang="en-US" altLang="ko-KR" dirty="0" err="1"/>
              <a:t>guardia</a:t>
            </a:r>
            <a:r>
              <a:rPr lang="ko-KR" altLang="en-US" dirty="0"/>
              <a:t>입니다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1</a:t>
            </a:fld>
            <a:endParaRPr lang="ko-KR" altLang="en-US"/>
          </a:p>
        </p:txBody>
      </p:sp>
    </p:spTree>
    <p:extLst>
      <p:ext uri="{BB962C8B-B14F-4D97-AF65-F5344CB8AC3E}">
        <p14:creationId xmlns:p14="http://schemas.microsoft.com/office/powerpoint/2010/main" val="2221887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목차는 다음 화면과 같습니다</a:t>
            </a:r>
            <a:r>
              <a:rPr lang="en-US" altLang="ko-KR" dirty="0"/>
              <a:t>. </a:t>
            </a:r>
            <a:r>
              <a:rPr lang="ko-KR" altLang="en-US" dirty="0"/>
              <a:t>파트</a:t>
            </a:r>
            <a:r>
              <a:rPr lang="en-US" altLang="ko-KR" dirty="0"/>
              <a:t>1</a:t>
            </a:r>
            <a:r>
              <a:rPr lang="ko-KR" altLang="en-US" dirty="0"/>
              <a:t>에서는 저희 프로젝트의 아이템에 대해 설명하고 파트</a:t>
            </a:r>
            <a:r>
              <a:rPr lang="en-US" altLang="ko-KR" dirty="0"/>
              <a:t>2</a:t>
            </a:r>
            <a:r>
              <a:rPr lang="ko-KR" altLang="en-US" dirty="0"/>
              <a:t>에서는 저희 프로젝트의 사업성에 대해 설명하고자 합니다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2</a:t>
            </a:fld>
            <a:endParaRPr lang="ko-KR" altLang="en-US"/>
          </a:p>
        </p:txBody>
      </p:sp>
    </p:spTree>
    <p:extLst>
      <p:ext uri="{BB962C8B-B14F-4D97-AF65-F5344CB8AC3E}">
        <p14:creationId xmlns:p14="http://schemas.microsoft.com/office/powerpoint/2010/main" val="3712447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매년 여름</a:t>
            </a:r>
            <a:r>
              <a:rPr lang="en-US" altLang="ko-KR" dirty="0"/>
              <a:t>, </a:t>
            </a:r>
            <a:r>
              <a:rPr lang="ko-KR" altLang="en-US" dirty="0"/>
              <a:t>폭우로 인해 많은 지역이 침수되고 많은 피해가 발생하고 있습니다</a:t>
            </a:r>
            <a:r>
              <a:rPr lang="en-US" altLang="ko-KR" dirty="0"/>
              <a:t>. </a:t>
            </a:r>
            <a:r>
              <a:rPr lang="ko-KR" altLang="en-US" dirty="0"/>
              <a:t>특히</a:t>
            </a:r>
            <a:r>
              <a:rPr lang="en-US" altLang="ko-KR" dirty="0"/>
              <a:t>, </a:t>
            </a:r>
            <a:r>
              <a:rPr lang="ko-KR" altLang="en-US" dirty="0"/>
              <a:t>강남역 인근은 매년 폭우로 인해 심각한 침수 및 홍수 피해를 입고 있습니다</a:t>
            </a:r>
            <a:r>
              <a:rPr lang="en-US" altLang="ko-KR" dirty="0"/>
              <a:t>. </a:t>
            </a:r>
            <a:r>
              <a:rPr lang="ko-KR" altLang="en-US" dirty="0"/>
              <a:t>그에 더하여 폭우가 발생하면 도로 위의 맨홀 뚜껑이 솟구치고 소실되면서 보행자와 운전자의 안전이 크게 위협받습니다</a:t>
            </a:r>
            <a:r>
              <a:rPr lang="en-US" altLang="ko-KR" dirty="0"/>
              <a:t>. 2021</a:t>
            </a:r>
            <a:r>
              <a:rPr lang="ko-KR" altLang="en-US" dirty="0"/>
              <a:t>년 여름</a:t>
            </a:r>
            <a:r>
              <a:rPr lang="en-US" altLang="ko-KR" dirty="0"/>
              <a:t>, </a:t>
            </a:r>
            <a:r>
              <a:rPr lang="ko-KR" altLang="en-US" dirty="0"/>
              <a:t>강남역 인근에서 성인 두 명이 뚜껑이 열린 맨홀에 추락해 사망한 사건은 이러한 위험이 얼마나 심각한지를 단적으로 보여줍니다</a:t>
            </a:r>
            <a:r>
              <a:rPr lang="en-US" altLang="ko-KR" dirty="0"/>
              <a:t>. </a:t>
            </a:r>
            <a:r>
              <a:rPr lang="ko-KR" altLang="en-US" dirty="0"/>
              <a:t>이러한 피해들은 단순한 물리적 손해에 그치지 않고</a:t>
            </a:r>
            <a:r>
              <a:rPr lang="en-US" altLang="ko-KR" dirty="0"/>
              <a:t>, </a:t>
            </a:r>
            <a:r>
              <a:rPr lang="ko-KR" altLang="en-US" dirty="0"/>
              <a:t>시민들의 안전을 심각하게 위협하고 있습니다</a:t>
            </a:r>
            <a:r>
              <a:rPr lang="en-US" altLang="ko-KR" dirty="0"/>
              <a:t>. </a:t>
            </a:r>
            <a:r>
              <a:rPr lang="ko-KR" altLang="en-US" dirty="0"/>
              <a:t>그리고 프로젝트의 편의상 지역은 강남역 인근으로 한정하였습니다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3</a:t>
            </a:fld>
            <a:endParaRPr lang="ko-KR" altLang="en-US"/>
          </a:p>
        </p:txBody>
      </p:sp>
    </p:spTree>
    <p:extLst>
      <p:ext uri="{BB962C8B-B14F-4D97-AF65-F5344CB8AC3E}">
        <p14:creationId xmlns:p14="http://schemas.microsoft.com/office/powerpoint/2010/main" val="344226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그래서</a:t>
            </a:r>
            <a:r>
              <a:rPr lang="en-US" altLang="ko-KR" dirty="0"/>
              <a:t>, </a:t>
            </a:r>
            <a:r>
              <a:rPr lang="ko-KR" altLang="en-US" dirty="0"/>
              <a:t>저희는 </a:t>
            </a:r>
            <a:r>
              <a:rPr lang="en-US" altLang="ko-KR" dirty="0"/>
              <a:t>Gangnam-station hydro guardian</a:t>
            </a:r>
            <a:r>
              <a:rPr lang="ko-KR" altLang="en-US" dirty="0"/>
              <a:t>이라는 시스템을 설계하였습니다</a:t>
            </a:r>
            <a:r>
              <a:rPr lang="en-US" altLang="ko-KR" dirty="0"/>
              <a:t>. </a:t>
            </a:r>
            <a:r>
              <a:rPr lang="ko-KR" altLang="en-US" dirty="0"/>
              <a:t>이 시스템은 크게 두 가지 기능이 있습니다</a:t>
            </a:r>
            <a:r>
              <a:rPr lang="en-US" altLang="ko-KR" dirty="0"/>
              <a:t>. </a:t>
            </a:r>
            <a:r>
              <a:rPr lang="ko-KR" altLang="en-US" dirty="0"/>
              <a:t>첫째</a:t>
            </a:r>
            <a:r>
              <a:rPr lang="en-US" altLang="ko-KR" dirty="0"/>
              <a:t>, </a:t>
            </a:r>
            <a:r>
              <a:rPr lang="ko-KR" altLang="en-US" dirty="0"/>
              <a:t>도로 위의 시민들에게 맨홀 사고 방지 위한 경고등을 표시하는 기능입니다</a:t>
            </a:r>
            <a:r>
              <a:rPr lang="en-US" altLang="ko-KR" dirty="0"/>
              <a:t>. </a:t>
            </a:r>
            <a:r>
              <a:rPr lang="ko-KR" altLang="en-US" dirty="0"/>
              <a:t>두번째로는 어플리케이션을 통해 실시간 침수 위험도를 제공하는 기능입니다</a:t>
            </a:r>
            <a:r>
              <a:rPr lang="en-US" altLang="ko-KR" dirty="0"/>
              <a:t>. </a:t>
            </a:r>
            <a:r>
              <a:rPr lang="ko-KR" altLang="en-US" dirty="0"/>
              <a:t>이러한 기능들은 저희가 설계한 </a:t>
            </a:r>
            <a:r>
              <a:rPr lang="en-US" altLang="ko-KR" dirty="0"/>
              <a:t>smart manhole</a:t>
            </a:r>
            <a:r>
              <a:rPr lang="ko-KR" altLang="en-US" dirty="0"/>
              <a:t>을 기반으로 작동합니다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4</a:t>
            </a:fld>
            <a:endParaRPr lang="ko-KR" altLang="en-US"/>
          </a:p>
        </p:txBody>
      </p:sp>
    </p:spTree>
    <p:extLst>
      <p:ext uri="{BB962C8B-B14F-4D97-AF65-F5344CB8AC3E}">
        <p14:creationId xmlns:p14="http://schemas.microsoft.com/office/powerpoint/2010/main" val="2361492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먼저</a:t>
            </a:r>
            <a:r>
              <a:rPr lang="en-US" altLang="ko-KR" dirty="0"/>
              <a:t>, </a:t>
            </a:r>
            <a:r>
              <a:rPr lang="ko-KR" altLang="en-US" dirty="0"/>
              <a:t>도로 위의 시민들에게 맨홀 사고 방지 위한 경고등을 표시하는 기능에 대해 설명 드리겠습니다</a:t>
            </a:r>
            <a:r>
              <a:rPr lang="en-US" altLang="ko-KR" dirty="0"/>
              <a:t>. </a:t>
            </a:r>
            <a:r>
              <a:rPr lang="ko-KR" altLang="en-US" dirty="0"/>
              <a:t>저희는 도로 위의 맨홀에 여러 기능을 추가하여 스마트 맨홀로 </a:t>
            </a:r>
            <a:r>
              <a:rPr lang="ko-KR" altLang="en-US" dirty="0" err="1"/>
              <a:t>만들계획입니다</a:t>
            </a:r>
            <a:r>
              <a:rPr lang="en-US" altLang="ko-KR" dirty="0"/>
              <a:t>. </a:t>
            </a:r>
            <a:r>
              <a:rPr lang="ko-KR" altLang="en-US" dirty="0"/>
              <a:t>이러한 </a:t>
            </a:r>
            <a:r>
              <a:rPr lang="en-US" altLang="ko-KR" dirty="0"/>
              <a:t>smart manhole</a:t>
            </a:r>
            <a:r>
              <a:rPr lang="ko-KR" altLang="en-US" dirty="0"/>
              <a:t>은 맨홀 내부 수위를 감지하고 맨홀 뚜껑 소실을 감지할 수 있습니다</a:t>
            </a:r>
            <a:r>
              <a:rPr lang="en-US" altLang="ko-KR" dirty="0"/>
              <a:t>. </a:t>
            </a:r>
            <a:r>
              <a:rPr lang="ko-KR" altLang="en-US" dirty="0"/>
              <a:t>맨홀 내부 수위가 높아졌을 때에는 맨홀 솟구침 사고 방지를 위해서 파란색 경고등을</a:t>
            </a:r>
            <a:r>
              <a:rPr lang="en-US" altLang="ko-KR" dirty="0"/>
              <a:t>, </a:t>
            </a:r>
            <a:r>
              <a:rPr lang="ko-KR" altLang="en-US" dirty="0"/>
              <a:t>맨홀 뚜껑 소실이 감지되었을 때에는 빨간색 경고등을 표시할 계획입니다</a:t>
            </a:r>
            <a:r>
              <a:rPr lang="en-US" altLang="ko-KR" dirty="0"/>
              <a:t>. </a:t>
            </a:r>
            <a:r>
              <a:rPr lang="ko-KR" altLang="en-US" dirty="0"/>
              <a:t>따라서</a:t>
            </a:r>
            <a:r>
              <a:rPr lang="en-US" altLang="ko-KR" dirty="0"/>
              <a:t>, </a:t>
            </a:r>
            <a:r>
              <a:rPr lang="ko-KR" altLang="en-US" dirty="0"/>
              <a:t>상황에 따라 도로 위의 시민들에게 </a:t>
            </a:r>
            <a:r>
              <a:rPr lang="en-US" altLang="ko-KR" dirty="0"/>
              <a:t>LED </a:t>
            </a:r>
            <a:r>
              <a:rPr lang="ko-KR" altLang="en-US" dirty="0"/>
              <a:t>경고등을 표시하여 즉각적인 대처가 가능하도록 할 것입니다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5</a:t>
            </a:fld>
            <a:endParaRPr lang="ko-KR" altLang="en-US"/>
          </a:p>
        </p:txBody>
      </p:sp>
    </p:spTree>
    <p:extLst>
      <p:ext uri="{BB962C8B-B14F-4D97-AF65-F5344CB8AC3E}">
        <p14:creationId xmlns:p14="http://schemas.microsoft.com/office/powerpoint/2010/main" val="832021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이러한 기능을 하는 </a:t>
            </a:r>
            <a:r>
              <a:rPr lang="en-US" altLang="ko-KR" dirty="0"/>
              <a:t>smart manhole</a:t>
            </a:r>
            <a:r>
              <a:rPr lang="ko-KR" altLang="en-US" dirty="0"/>
              <a:t>을 구현하기 위해 저희는 </a:t>
            </a:r>
            <a:r>
              <a:rPr lang="en-US" altLang="ko-KR" dirty="0"/>
              <a:t>3</a:t>
            </a:r>
            <a:r>
              <a:rPr lang="ko-KR" altLang="en-US" dirty="0"/>
              <a:t>가지 센서를 사용합니다</a:t>
            </a:r>
            <a:r>
              <a:rPr lang="en-US" altLang="ko-KR" dirty="0"/>
              <a:t>. </a:t>
            </a:r>
            <a:r>
              <a:rPr lang="ko-KR" altLang="en-US" dirty="0"/>
              <a:t>첫째로</a:t>
            </a:r>
            <a:r>
              <a:rPr lang="en-US" altLang="ko-KR" dirty="0"/>
              <a:t>, </a:t>
            </a:r>
            <a:r>
              <a:rPr lang="ko-KR" altLang="en-US" dirty="0"/>
              <a:t>수위 감지 센서를 활용하여 맨홀 내부의 수위를 감지할 계획입니다</a:t>
            </a:r>
            <a:r>
              <a:rPr lang="en-US" altLang="ko-KR" dirty="0"/>
              <a:t>. </a:t>
            </a:r>
            <a:r>
              <a:rPr lang="ko-KR" altLang="en-US" dirty="0"/>
              <a:t>일정 수위 이상이 감지 되면 파란색 경고등이 켜지도록 설계하였습니다</a:t>
            </a:r>
            <a:r>
              <a:rPr lang="en-US" altLang="ko-KR" dirty="0"/>
              <a:t>. </a:t>
            </a:r>
            <a:r>
              <a:rPr lang="ko-KR" altLang="en-US" dirty="0"/>
              <a:t>두번째로는</a:t>
            </a:r>
            <a:r>
              <a:rPr lang="en-US" altLang="ko-KR" dirty="0"/>
              <a:t>, </a:t>
            </a:r>
            <a:r>
              <a:rPr lang="ko-KR" altLang="en-US" dirty="0"/>
              <a:t>자기 홀 센서를 활용하여 맨홀 뚜껑이 소실되었는지를 감지할 계획입니다</a:t>
            </a:r>
            <a:r>
              <a:rPr lang="en-US" altLang="ko-KR" dirty="0"/>
              <a:t>. </a:t>
            </a:r>
            <a:r>
              <a:rPr lang="ko-KR" altLang="en-US" dirty="0"/>
              <a:t>자기 센서에 자기력이 인식되지 않으면 맨홀 뚜껑이 소실된 것으로 판단하여 빨간색 경고등이 켜지도록 하였습니다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6</a:t>
            </a:fld>
            <a:endParaRPr lang="ko-KR" altLang="en-US"/>
          </a:p>
        </p:txBody>
      </p:sp>
    </p:spTree>
    <p:extLst>
      <p:ext uri="{BB962C8B-B14F-4D97-AF65-F5344CB8AC3E}">
        <p14:creationId xmlns:p14="http://schemas.microsoft.com/office/powerpoint/2010/main" val="248952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그리고 이러한 경고등은 다음의 그림과 같이 배치할 계획입니다</a:t>
            </a:r>
            <a:r>
              <a:rPr lang="en-US" altLang="ko-KR" dirty="0"/>
              <a:t>. </a:t>
            </a:r>
            <a:r>
              <a:rPr lang="ko-KR" altLang="en-US" dirty="0"/>
              <a:t>바닥 신호등을 벤치 </a:t>
            </a:r>
            <a:r>
              <a:rPr lang="ko-KR" altLang="en-US" dirty="0" err="1"/>
              <a:t>마킹하여</a:t>
            </a:r>
            <a:r>
              <a:rPr lang="ko-KR" altLang="en-US" dirty="0"/>
              <a:t> 시민들이 적절한 시각적 대처가 가능하도록 하였습니다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7</a:t>
            </a:fld>
            <a:endParaRPr lang="ko-KR" altLang="en-US"/>
          </a:p>
        </p:txBody>
      </p:sp>
    </p:spTree>
    <p:extLst>
      <p:ext uri="{BB962C8B-B14F-4D97-AF65-F5344CB8AC3E}">
        <p14:creationId xmlns:p14="http://schemas.microsoft.com/office/powerpoint/2010/main" val="774434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두번째 주요 기능으로는 </a:t>
            </a:r>
            <a:r>
              <a:rPr lang="en-US" altLang="ko-KR" dirty="0"/>
              <a:t>Smart manhole</a:t>
            </a:r>
            <a:r>
              <a:rPr lang="ko-KR" altLang="en-US" dirty="0"/>
              <a:t>을 통한 실시간 침수 위험도를 제공하는 어플리케이션입니다</a:t>
            </a:r>
            <a:r>
              <a:rPr lang="en-US" altLang="ko-KR" dirty="0"/>
              <a:t>. </a:t>
            </a:r>
            <a:r>
              <a:rPr lang="ko-KR" altLang="en-US" dirty="0"/>
              <a:t>이전 슬라이드에서 설명했던 것과 같이 저희의 스마트 맨홀의 파란색 경고등은 일정 수위가 감지되었을 때 작동합니다</a:t>
            </a:r>
            <a:r>
              <a:rPr lang="en-US" altLang="ko-KR" dirty="0"/>
              <a:t>. </a:t>
            </a:r>
            <a:r>
              <a:rPr lang="ko-KR" altLang="en-US" dirty="0"/>
              <a:t>이것은 곧 강남역 주변의 파란색 경고등이 켜진 스마트 맨홀들의 비율이 높다는 것은 강남역의 침수 위험도가 있다는 것으로 해석될 수 있습니다</a:t>
            </a:r>
            <a:r>
              <a:rPr lang="en-US" altLang="ko-KR" dirty="0"/>
              <a:t>. </a:t>
            </a:r>
            <a:r>
              <a:rPr lang="ko-KR" altLang="en-US" dirty="0"/>
              <a:t>따라서</a:t>
            </a:r>
            <a:r>
              <a:rPr lang="en-US" altLang="ko-KR" dirty="0"/>
              <a:t>, </a:t>
            </a:r>
            <a:r>
              <a:rPr lang="ko-KR" altLang="en-US" dirty="0"/>
              <a:t>강남역 주변의 파란색 경고등이 켜진 비율에 따라 침수 정도를 구분하여 이를 어플리케이션을 통해 제공할 계획입니다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8</a:t>
            </a:fld>
            <a:endParaRPr lang="ko-KR" altLang="en-US"/>
          </a:p>
        </p:txBody>
      </p:sp>
    </p:spTree>
    <p:extLst>
      <p:ext uri="{BB962C8B-B14F-4D97-AF65-F5344CB8AC3E}">
        <p14:creationId xmlns:p14="http://schemas.microsoft.com/office/powerpoint/2010/main" val="1847339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저희 어플리케이션의 </a:t>
            </a:r>
            <a:r>
              <a:rPr lang="en-US" altLang="ko-KR" dirty="0"/>
              <a:t>main </a:t>
            </a:r>
            <a:r>
              <a:rPr lang="ko-KR" altLang="en-US" dirty="0"/>
              <a:t>버튼을 누르면 귀여운 이모티콘 얼굴들이 나타나게 됩니다</a:t>
            </a:r>
            <a:r>
              <a:rPr lang="en-US" altLang="ko-KR" dirty="0"/>
              <a:t>. </a:t>
            </a:r>
            <a:r>
              <a:rPr lang="ko-KR" altLang="en-US" dirty="0"/>
              <a:t>파란색 경고등이 켜진 맨홀의 비율이 </a:t>
            </a:r>
            <a:r>
              <a:rPr lang="en-US" altLang="ko-KR" dirty="0"/>
              <a:t>30</a:t>
            </a:r>
            <a:r>
              <a:rPr lang="ko-KR" altLang="en-US" dirty="0"/>
              <a:t>퍼 미만이면 침수 위험도가 양호한 것으로 다음과 같은 </a:t>
            </a:r>
            <a:r>
              <a:rPr lang="ko-KR" altLang="en-US" dirty="0" err="1"/>
              <a:t>이모티콘이</a:t>
            </a:r>
            <a:r>
              <a:rPr lang="ko-KR" altLang="en-US" dirty="0"/>
              <a:t> 출력됩니다</a:t>
            </a:r>
            <a:r>
              <a:rPr lang="en-US" altLang="ko-KR" dirty="0"/>
              <a:t>. </a:t>
            </a:r>
            <a:r>
              <a:rPr lang="ko-KR" altLang="en-US" dirty="0"/>
              <a:t>반면</a:t>
            </a:r>
            <a:r>
              <a:rPr lang="en-US" altLang="ko-KR" dirty="0"/>
              <a:t>, </a:t>
            </a:r>
            <a:r>
              <a:rPr lang="ko-KR" altLang="en-US" dirty="0"/>
              <a:t>비율이 </a:t>
            </a:r>
            <a:r>
              <a:rPr lang="en-US" altLang="ko-KR" dirty="0"/>
              <a:t>30</a:t>
            </a:r>
            <a:r>
              <a:rPr lang="ko-KR" altLang="en-US" dirty="0" err="1"/>
              <a:t>퍼이상</a:t>
            </a:r>
            <a:r>
              <a:rPr lang="ko-KR" altLang="en-US" dirty="0"/>
              <a:t> </a:t>
            </a:r>
            <a:r>
              <a:rPr lang="en-US" altLang="ko-KR" dirty="0"/>
              <a:t>70</a:t>
            </a:r>
            <a:r>
              <a:rPr lang="ko-KR" altLang="en-US" dirty="0"/>
              <a:t>퍼 미만인 경우에는 침수 위험도가 경고 단계로 전환되어 다음과 같은 </a:t>
            </a:r>
            <a:r>
              <a:rPr lang="ko-KR" altLang="en-US" dirty="0" err="1"/>
              <a:t>이모티콘이</a:t>
            </a:r>
            <a:r>
              <a:rPr lang="ko-KR" altLang="en-US" dirty="0"/>
              <a:t> 출력되고 비율이 </a:t>
            </a:r>
            <a:r>
              <a:rPr lang="en-US" altLang="ko-KR" dirty="0"/>
              <a:t>70</a:t>
            </a:r>
            <a:r>
              <a:rPr lang="ko-KR" altLang="en-US" dirty="0"/>
              <a:t>퍼 이상이면 침수 위험도가 위험단계로 다음과 같은 </a:t>
            </a:r>
            <a:r>
              <a:rPr lang="ko-KR" altLang="en-US" dirty="0" err="1"/>
              <a:t>이모티콘이</a:t>
            </a:r>
            <a:r>
              <a:rPr lang="ko-KR" altLang="en-US" dirty="0"/>
              <a:t> 출력됩니다</a:t>
            </a:r>
            <a:r>
              <a:rPr lang="en-US" altLang="ko-KR" dirty="0"/>
              <a:t>. </a:t>
            </a:r>
            <a:r>
              <a:rPr lang="ko-KR" altLang="en-US" dirty="0"/>
              <a:t>시민들은 이 </a:t>
            </a:r>
            <a:r>
              <a:rPr lang="ko-KR" altLang="en-US" dirty="0" err="1"/>
              <a:t>이모티콘의</a:t>
            </a:r>
            <a:r>
              <a:rPr lang="ko-KR" altLang="en-US" dirty="0"/>
              <a:t> 얼굴 표정을 보고 강남역의 침수 위험도가 어느 정도인지 실시간으로 확인할 수 있습니다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9</a:t>
            </a:fld>
            <a:endParaRPr lang="ko-KR" altLang="en-US"/>
          </a:p>
        </p:txBody>
      </p:sp>
    </p:spTree>
    <p:extLst>
      <p:ext uri="{BB962C8B-B14F-4D97-AF65-F5344CB8AC3E}">
        <p14:creationId xmlns:p14="http://schemas.microsoft.com/office/powerpoint/2010/main" val="1334636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또한</a:t>
            </a:r>
            <a:r>
              <a:rPr lang="en-US" altLang="ko-KR" dirty="0"/>
              <a:t>, </a:t>
            </a:r>
            <a:r>
              <a:rPr lang="ko-KR" altLang="en-US" dirty="0"/>
              <a:t>저희 어플리케이션에서는 강남역 맨홀 현황을 보여주는 </a:t>
            </a:r>
            <a:r>
              <a:rPr lang="en-US" altLang="ko-KR" dirty="0"/>
              <a:t>frame</a:t>
            </a:r>
            <a:r>
              <a:rPr lang="ko-KR" altLang="en-US" dirty="0"/>
              <a:t>도 제공합니다</a:t>
            </a:r>
            <a:r>
              <a:rPr lang="en-US" altLang="ko-KR" dirty="0"/>
              <a:t>. </a:t>
            </a:r>
            <a:r>
              <a:rPr lang="ko-KR" altLang="en-US" dirty="0"/>
              <a:t>저희 </a:t>
            </a:r>
            <a:r>
              <a:rPr lang="en-US" altLang="ko-KR" dirty="0"/>
              <a:t>MVP </a:t>
            </a:r>
            <a:r>
              <a:rPr lang="ko-KR" altLang="en-US" dirty="0"/>
              <a:t>한계상 </a:t>
            </a:r>
            <a:r>
              <a:rPr lang="en-US" altLang="ko-KR" dirty="0" err="1"/>
              <a:t>Gps</a:t>
            </a:r>
            <a:r>
              <a:rPr lang="ko-KR" altLang="en-US" dirty="0"/>
              <a:t>까지는 구현을 못했지만 스마트 맨홀들에 </a:t>
            </a:r>
            <a:r>
              <a:rPr lang="en-US" altLang="ko-KR" dirty="0" err="1"/>
              <a:t>Gps</a:t>
            </a:r>
            <a:r>
              <a:rPr lang="ko-KR" altLang="en-US" dirty="0"/>
              <a:t>를 설치하여 강남역 주변의 스마트 맨홀의 상태를 확인할 수 있게 하고자 생각했습니다</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F20AC9C1-C580-49BB-8715-FB37BB52ADC8}" type="slidenum">
              <a:rPr lang="ko-KR" altLang="en-US" smtClean="0"/>
              <a:t>10</a:t>
            </a:fld>
            <a:endParaRPr lang="ko-KR" altLang="en-US"/>
          </a:p>
        </p:txBody>
      </p:sp>
    </p:spTree>
    <p:extLst>
      <p:ext uri="{BB962C8B-B14F-4D97-AF65-F5344CB8AC3E}">
        <p14:creationId xmlns:p14="http://schemas.microsoft.com/office/powerpoint/2010/main" val="3923534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4" name="Google Shape;94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1103A-7397-009C-DD5F-754361CB9070}"/>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D20FB2F-5154-484C-FC73-B7BBB88A8B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2658877A-2951-2459-7987-380456120752}"/>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5" name="바닥글 개체 틀 4">
            <a:extLst>
              <a:ext uri="{FF2B5EF4-FFF2-40B4-BE49-F238E27FC236}">
                <a16:creationId xmlns:a16="http://schemas.microsoft.com/office/drawing/2014/main" id="{6B7D1883-F8E5-2F3F-C599-6240F83871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9FD23E0-D721-7323-D71E-44D94C3AFD14}"/>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3940149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C5665A-4322-36A8-5811-3C193458BB1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6B8D1DD-4390-964F-34DF-2DB71D37314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212E807-FD77-B12E-74A5-7E840CC14426}"/>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5" name="바닥글 개체 틀 4">
            <a:extLst>
              <a:ext uri="{FF2B5EF4-FFF2-40B4-BE49-F238E27FC236}">
                <a16:creationId xmlns:a16="http://schemas.microsoft.com/office/drawing/2014/main" id="{9FAC5B82-0135-5247-263A-23FE3336C6F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ED40D6F-B926-AED6-1EC7-2EEE5614867C}"/>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2866871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8EFE2DA-528A-0D64-81A7-2E524222FE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730321BA-2D83-A110-BB39-F0A139D03F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5C3D8C0-CE7E-A5B1-43DB-E50851FC84F2}"/>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5" name="바닥글 개체 틀 4">
            <a:extLst>
              <a:ext uri="{FF2B5EF4-FFF2-40B4-BE49-F238E27FC236}">
                <a16:creationId xmlns:a16="http://schemas.microsoft.com/office/drawing/2014/main" id="{A2821D15-009E-A9E2-53B6-79F1140CE89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E3C38E3-F122-973F-5545-BC1B1772AE1B}"/>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3932102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16FABA6-42F2-C937-D62A-77D8BE96FFD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6D1AB73-E6B8-C378-B41F-5755AE95F0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C57A754F-F371-095B-E607-2C877861DE5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352A1F9A-E063-386C-BE15-2B18785ED555}"/>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6" name="바닥글 개체 틀 5">
            <a:extLst>
              <a:ext uri="{FF2B5EF4-FFF2-40B4-BE49-F238E27FC236}">
                <a16:creationId xmlns:a16="http://schemas.microsoft.com/office/drawing/2014/main" id="{7DD5D7AA-9577-AEBC-1DBE-74A1103DD1C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B19AF0F-C251-A4B3-7CD7-990D0B1FA3E2}"/>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3572828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C16B501-E00B-291A-8B84-D1FA8B40879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D146715-B2E4-96BF-7669-983F58F5F0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906D76B2-41AE-2794-5CA2-480BEC521C58}"/>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5114CF1D-1A6E-EF99-F7E6-DABAC33B5F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CBEB468-26FA-A980-BF7D-F0B0F31557A8}"/>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D28DE0C-BEC9-B305-9D44-0FA299498163}"/>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8" name="바닥글 개체 틀 7">
            <a:extLst>
              <a:ext uri="{FF2B5EF4-FFF2-40B4-BE49-F238E27FC236}">
                <a16:creationId xmlns:a16="http://schemas.microsoft.com/office/drawing/2014/main" id="{17EE0E16-BDC1-B203-F6AC-DF7EFC42B525}"/>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AC40DDC-29B0-357F-11AB-00BDBF03BEF4}"/>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2035865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ECC52CD-BE2D-9C79-256A-8403A0B738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2C8A864A-BA24-9EC8-82AE-D2AA9BE7ECE5}"/>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4" name="바닥글 개체 틀 3">
            <a:extLst>
              <a:ext uri="{FF2B5EF4-FFF2-40B4-BE49-F238E27FC236}">
                <a16:creationId xmlns:a16="http://schemas.microsoft.com/office/drawing/2014/main" id="{3A2FE2A7-9E89-C8F1-02A0-1D22B94F7525}"/>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772FEC4C-CF4C-48FC-9708-DE4A679D555E}"/>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1412714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CEB8C3-142A-EE25-B23A-27A2498B4A73}"/>
              </a:ext>
            </a:extLst>
          </p:cNvPr>
          <p:cNvSpPr txBox="1"/>
          <p:nvPr userDrawn="1"/>
        </p:nvSpPr>
        <p:spPr>
          <a:xfrm>
            <a:off x="9987228" y="6586181"/>
            <a:ext cx="2194833" cy="230832"/>
          </a:xfrm>
          <a:prstGeom prst="rect">
            <a:avLst/>
          </a:prstGeom>
          <a:noFill/>
        </p:spPr>
        <p:txBody>
          <a:bodyPr wrap="none" rtlCol="0">
            <a:spAutoFit/>
          </a:bodyPr>
          <a:lstStyle/>
          <a:p>
            <a:pPr algn="r"/>
            <a:r>
              <a:rPr lang="en-US" altLang="ko-KR" sz="900" dirty="0">
                <a:solidFill>
                  <a:schemeClr val="tx1">
                    <a:lumMod val="75000"/>
                    <a:lumOff val="25000"/>
                  </a:schemeClr>
                </a:solidFill>
                <a:latin typeface="Arial" panose="020B0604020202020204" pitchFamily="34" charset="0"/>
                <a:cs typeface="Arial" panose="020B0604020202020204" pitchFamily="34" charset="0"/>
              </a:rPr>
              <a:t>ⓒSaebyeol Yu.</a:t>
            </a:r>
            <a:r>
              <a:rPr lang="ko-KR" altLang="en-US" sz="900" dirty="0">
                <a:solidFill>
                  <a:schemeClr val="tx1">
                    <a:lumMod val="75000"/>
                    <a:lumOff val="25000"/>
                  </a:schemeClr>
                </a:solidFill>
                <a:latin typeface="Arial" panose="020B0604020202020204" pitchFamily="34" charset="0"/>
                <a:cs typeface="Arial" panose="020B0604020202020204" pitchFamily="34" charset="0"/>
              </a:rPr>
              <a:t> </a:t>
            </a:r>
            <a:r>
              <a:rPr lang="en-US" altLang="ko-KR" sz="900" dirty="0" err="1">
                <a:solidFill>
                  <a:schemeClr val="tx1">
                    <a:lumMod val="75000"/>
                    <a:lumOff val="25000"/>
                  </a:schemeClr>
                </a:solidFill>
                <a:latin typeface="Arial" panose="020B0604020202020204" pitchFamily="34" charset="0"/>
                <a:cs typeface="Arial" panose="020B0604020202020204" pitchFamily="34" charset="0"/>
              </a:rPr>
              <a:t>Saebyeol’s</a:t>
            </a:r>
            <a:r>
              <a:rPr lang="ko-KR" altLang="en-US" sz="900" dirty="0">
                <a:solidFill>
                  <a:schemeClr val="tx1">
                    <a:lumMod val="75000"/>
                    <a:lumOff val="25000"/>
                  </a:schemeClr>
                </a:solidFill>
                <a:latin typeface="Arial" panose="020B0604020202020204" pitchFamily="34" charset="0"/>
                <a:cs typeface="Arial" panose="020B0604020202020204" pitchFamily="34" charset="0"/>
              </a:rPr>
              <a:t> </a:t>
            </a:r>
            <a:r>
              <a:rPr lang="en-US" altLang="ko-KR" sz="900" dirty="0">
                <a:solidFill>
                  <a:schemeClr val="tx1">
                    <a:lumMod val="75000"/>
                    <a:lumOff val="25000"/>
                  </a:schemeClr>
                </a:solidFill>
                <a:latin typeface="Arial" panose="020B0604020202020204" pitchFamily="34" charset="0"/>
                <a:cs typeface="Arial" panose="020B0604020202020204" pitchFamily="34" charset="0"/>
              </a:rPr>
              <a:t>PowerPoint</a:t>
            </a:r>
            <a:endParaRPr lang="ko-KR" altLang="en-US" sz="9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2" name="날짜 개체 틀 1">
            <a:extLst>
              <a:ext uri="{FF2B5EF4-FFF2-40B4-BE49-F238E27FC236}">
                <a16:creationId xmlns:a16="http://schemas.microsoft.com/office/drawing/2014/main" id="{C6C7CDD9-022D-2F2D-1E17-994180C34A61}"/>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3" name="바닥글 개체 틀 2">
            <a:extLst>
              <a:ext uri="{FF2B5EF4-FFF2-40B4-BE49-F238E27FC236}">
                <a16:creationId xmlns:a16="http://schemas.microsoft.com/office/drawing/2014/main" id="{04AC3038-9448-A567-0EA5-7E6DE02CED7C}"/>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1BE6244-00E9-F849-A2C6-DDC755980571}"/>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41375342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빈 화면">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CEB8C3-142A-EE25-B23A-27A2498B4A73}"/>
              </a:ext>
            </a:extLst>
          </p:cNvPr>
          <p:cNvSpPr txBox="1"/>
          <p:nvPr userDrawn="1"/>
        </p:nvSpPr>
        <p:spPr>
          <a:xfrm>
            <a:off x="9987228" y="6586181"/>
            <a:ext cx="2194833" cy="230832"/>
          </a:xfrm>
          <a:prstGeom prst="rect">
            <a:avLst/>
          </a:prstGeom>
          <a:noFill/>
        </p:spPr>
        <p:txBody>
          <a:bodyPr wrap="none" rtlCol="0">
            <a:spAutoFit/>
          </a:bodyPr>
          <a:lstStyle/>
          <a:p>
            <a:pPr algn="r"/>
            <a:r>
              <a:rPr lang="en-US" altLang="ko-KR" sz="900" dirty="0">
                <a:solidFill>
                  <a:schemeClr val="bg1"/>
                </a:solidFill>
                <a:latin typeface="Arial" panose="020B0604020202020204" pitchFamily="34" charset="0"/>
                <a:cs typeface="Arial" panose="020B0604020202020204" pitchFamily="34" charset="0"/>
              </a:rPr>
              <a:t>ⓒSaebyeol Yu.</a:t>
            </a:r>
            <a:r>
              <a:rPr lang="ko-KR" altLang="en-US" sz="900" dirty="0">
                <a:solidFill>
                  <a:schemeClr val="bg1"/>
                </a:solidFill>
                <a:latin typeface="Arial" panose="020B0604020202020204" pitchFamily="34" charset="0"/>
                <a:cs typeface="Arial" panose="020B0604020202020204" pitchFamily="34" charset="0"/>
              </a:rPr>
              <a:t> </a:t>
            </a:r>
            <a:r>
              <a:rPr lang="en-US" altLang="ko-KR" sz="900" dirty="0" err="1">
                <a:solidFill>
                  <a:schemeClr val="bg1"/>
                </a:solidFill>
                <a:latin typeface="Arial" panose="020B0604020202020204" pitchFamily="34" charset="0"/>
                <a:cs typeface="Arial" panose="020B0604020202020204" pitchFamily="34" charset="0"/>
              </a:rPr>
              <a:t>Saebyeol’s</a:t>
            </a:r>
            <a:r>
              <a:rPr lang="ko-KR" altLang="en-US" sz="900" dirty="0">
                <a:solidFill>
                  <a:schemeClr val="bg1"/>
                </a:solidFill>
                <a:latin typeface="Arial" panose="020B0604020202020204" pitchFamily="34" charset="0"/>
                <a:cs typeface="Arial" panose="020B0604020202020204" pitchFamily="34" charset="0"/>
              </a:rPr>
              <a:t> </a:t>
            </a:r>
            <a:r>
              <a:rPr lang="en-US" altLang="ko-KR" sz="900" dirty="0">
                <a:solidFill>
                  <a:schemeClr val="bg1"/>
                </a:solidFill>
                <a:latin typeface="Arial" panose="020B0604020202020204" pitchFamily="34" charset="0"/>
                <a:cs typeface="Arial" panose="020B0604020202020204" pitchFamily="34" charset="0"/>
              </a:rPr>
              <a:t>PowerPoint</a:t>
            </a:r>
            <a:endParaRPr lang="ko-KR" altLang="en-US" sz="900" dirty="0">
              <a:solidFill>
                <a:schemeClr val="bg1"/>
              </a:solidFill>
              <a:latin typeface="Arial" panose="020B0604020202020204" pitchFamily="34" charset="0"/>
              <a:cs typeface="Arial" panose="020B0604020202020204" pitchFamily="34" charset="0"/>
            </a:endParaRPr>
          </a:p>
        </p:txBody>
      </p:sp>
      <p:sp>
        <p:nvSpPr>
          <p:cNvPr id="2" name="날짜 개체 틀 1">
            <a:extLst>
              <a:ext uri="{FF2B5EF4-FFF2-40B4-BE49-F238E27FC236}">
                <a16:creationId xmlns:a16="http://schemas.microsoft.com/office/drawing/2014/main" id="{C6C7CDD9-022D-2F2D-1E17-994180C34A61}"/>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3" name="바닥글 개체 틀 2">
            <a:extLst>
              <a:ext uri="{FF2B5EF4-FFF2-40B4-BE49-F238E27FC236}">
                <a16:creationId xmlns:a16="http://schemas.microsoft.com/office/drawing/2014/main" id="{04AC3038-9448-A567-0EA5-7E6DE02CED7C}"/>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1BE6244-00E9-F849-A2C6-DDC755980571}"/>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9149818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022ED2-9E4B-6CF9-27F4-542A7B0DA31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90CEA536-C101-10F2-AAA2-8655E666C0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8E2EA8F-74CC-8E7D-B11D-55D25CB505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6312E5E-87F3-A546-C46E-F618D05F1131}"/>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6" name="바닥글 개체 틀 5">
            <a:extLst>
              <a:ext uri="{FF2B5EF4-FFF2-40B4-BE49-F238E27FC236}">
                <a16:creationId xmlns:a16="http://schemas.microsoft.com/office/drawing/2014/main" id="{C70420B9-CA0F-EA3D-0764-B82DB5972A2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15EFBAF-4893-3D99-8763-3BA21EB7985A}"/>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2221369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5456F2-119A-494E-63F4-8E49B516E55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B068A0B4-4FE3-A4CD-A9D4-77A8235340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893DDC89-B861-6692-9208-D4592B342A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67F4A45-2291-C8EF-B19A-253B68786DDF}"/>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6" name="바닥글 개체 틀 5">
            <a:extLst>
              <a:ext uri="{FF2B5EF4-FFF2-40B4-BE49-F238E27FC236}">
                <a16:creationId xmlns:a16="http://schemas.microsoft.com/office/drawing/2014/main" id="{0609E998-CCE6-8F1C-B8F0-6EEB7B0E7B1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18FC3D4-2A4B-82F3-3D82-C97C3E736221}"/>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1460056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20569B-273F-CFC3-E056-C5248962996B}"/>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97E7BBF8-2B09-33FB-B05D-8DBC36DA4EE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B7B9767-B890-6D38-1CFA-6EBAD1DE243D}"/>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5" name="바닥글 개체 틀 4">
            <a:extLst>
              <a:ext uri="{FF2B5EF4-FFF2-40B4-BE49-F238E27FC236}">
                <a16:creationId xmlns:a16="http://schemas.microsoft.com/office/drawing/2014/main" id="{6A3B00C5-23E7-605E-2F37-65226F286DA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43BF979-D39C-67DC-2B99-A3E90ED5A161}"/>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3296256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0F3032E4-D1DF-8A15-6FAC-C9A61A493EA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7F60BFE6-7C59-92B7-FF9A-B9B28777DFC6}"/>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92F91D2-6E29-697C-F9FF-694B432AD08D}"/>
              </a:ext>
            </a:extLst>
          </p:cNvPr>
          <p:cNvSpPr>
            <a:spLocks noGrp="1"/>
          </p:cNvSpPr>
          <p:nvPr>
            <p:ph type="dt" sz="half" idx="10"/>
          </p:nvPr>
        </p:nvSpPr>
        <p:spPr/>
        <p:txBody>
          <a:bodyPr/>
          <a:lstStyle/>
          <a:p>
            <a:fld id="{AF8B1663-7C2A-42E9-8AF3-A2BF2206EF26}" type="datetimeFigureOut">
              <a:rPr lang="ko-KR" altLang="en-US" smtClean="0"/>
              <a:t>2024-08-01</a:t>
            </a:fld>
            <a:endParaRPr lang="ko-KR" altLang="en-US"/>
          </a:p>
        </p:txBody>
      </p:sp>
      <p:sp>
        <p:nvSpPr>
          <p:cNvPr id="5" name="바닥글 개체 틀 4">
            <a:extLst>
              <a:ext uri="{FF2B5EF4-FFF2-40B4-BE49-F238E27FC236}">
                <a16:creationId xmlns:a16="http://schemas.microsoft.com/office/drawing/2014/main" id="{CD081BD2-465B-68EA-2924-5554CF0DD25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BDE87B9-91DD-75B8-1EF6-2FF113287743}"/>
              </a:ext>
            </a:extLst>
          </p:cNvPr>
          <p:cNvSpPr>
            <a:spLocks noGrp="1"/>
          </p:cNvSpPr>
          <p:nvPr>
            <p:ph type="sldNum" sz="quarter" idx="12"/>
          </p:nvPr>
        </p:nvSpPr>
        <p:spPr/>
        <p:txBody>
          <a:body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1487253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BAF7759-6F6C-C594-5A80-FE323A42AB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8064223-0AE9-4CEB-02AC-8EEAE2A15E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412F4D-662B-865D-90ED-1160E3FCD6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B1663-7C2A-42E9-8AF3-A2BF2206EF26}" type="datetimeFigureOut">
              <a:rPr lang="ko-KR" altLang="en-US" smtClean="0"/>
              <a:t>2024-08-01</a:t>
            </a:fld>
            <a:endParaRPr lang="ko-KR" altLang="en-US"/>
          </a:p>
        </p:txBody>
      </p:sp>
      <p:sp>
        <p:nvSpPr>
          <p:cNvPr id="5" name="바닥글 개체 틀 4">
            <a:extLst>
              <a:ext uri="{FF2B5EF4-FFF2-40B4-BE49-F238E27FC236}">
                <a16:creationId xmlns:a16="http://schemas.microsoft.com/office/drawing/2014/main" id="{A4A83461-97E4-F9C7-509F-5FC359F866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E1A9DD75-A437-4112-42DC-768E5A1A49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CF39CB-7778-48FC-80BF-AB553563CAA0}" type="slidenum">
              <a:rPr lang="ko-KR" altLang="en-US" smtClean="0"/>
              <a:t>‹#›</a:t>
            </a:fld>
            <a:endParaRPr lang="ko-KR" altLang="en-US"/>
          </a:p>
        </p:txBody>
      </p:sp>
    </p:spTree>
    <p:extLst>
      <p:ext uri="{BB962C8B-B14F-4D97-AF65-F5344CB8AC3E}">
        <p14:creationId xmlns:p14="http://schemas.microsoft.com/office/powerpoint/2010/main" val="622636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거품이(가) 표시된 사진&#10;&#10;자동 생성된 설명">
            <a:extLst>
              <a:ext uri="{FF2B5EF4-FFF2-40B4-BE49-F238E27FC236}">
                <a16:creationId xmlns:a16="http://schemas.microsoft.com/office/drawing/2014/main" id="{14996ED0-AA26-AADC-22AB-2D6CBA46D5C2}"/>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A1463DC9-176E-30B9-F3D2-D1FC4CCB6E00}"/>
              </a:ext>
            </a:extLst>
          </p:cNvPr>
          <p:cNvSpPr txBox="1"/>
          <p:nvPr/>
        </p:nvSpPr>
        <p:spPr>
          <a:xfrm>
            <a:off x="738026" y="1591319"/>
            <a:ext cx="11041805" cy="861774"/>
          </a:xfrm>
          <a:prstGeom prst="rect">
            <a:avLst/>
          </a:prstGeom>
          <a:noFill/>
        </p:spPr>
        <p:txBody>
          <a:bodyPr wrap="none" rtlCol="0">
            <a:spAutoFit/>
          </a:bodyPr>
          <a:lstStyle/>
          <a:p>
            <a:r>
              <a:rPr lang="en-US" altLang="ko-KR" sz="5000" b="1" dirty="0">
                <a:solidFill>
                  <a:schemeClr val="bg1"/>
                </a:solidFill>
                <a:latin typeface="배달의민족 도현" panose="020B0600000101010101" pitchFamily="50" charset="-127"/>
                <a:ea typeface="배달의민족 도현" panose="020B0600000101010101" pitchFamily="50" charset="-127"/>
              </a:rPr>
              <a:t>Gangnam-station hydro guardian</a:t>
            </a:r>
            <a:endParaRPr lang="ko-KR" altLang="en-US" sz="5000" b="1" dirty="0">
              <a:solidFill>
                <a:schemeClr val="bg1"/>
              </a:solidFill>
              <a:latin typeface="배달의민족 도현" panose="020B0600000101010101" pitchFamily="50" charset="-127"/>
              <a:ea typeface="배달의민족 도현" panose="020B0600000101010101" pitchFamily="50" charset="-127"/>
            </a:endParaRPr>
          </a:p>
        </p:txBody>
      </p:sp>
      <p:cxnSp>
        <p:nvCxnSpPr>
          <p:cNvPr id="6" name="직선 연결선 5">
            <a:extLst>
              <a:ext uri="{FF2B5EF4-FFF2-40B4-BE49-F238E27FC236}">
                <a16:creationId xmlns:a16="http://schemas.microsoft.com/office/drawing/2014/main" id="{AEF1A3FF-F9A6-6A9C-BBC7-7B6855EEE107}"/>
              </a:ext>
            </a:extLst>
          </p:cNvPr>
          <p:cNvCxnSpPr>
            <a:cxnSpLocks/>
          </p:cNvCxnSpPr>
          <p:nvPr/>
        </p:nvCxnSpPr>
        <p:spPr>
          <a:xfrm>
            <a:off x="6497053" y="1428329"/>
            <a:ext cx="5694947" cy="0"/>
          </a:xfrm>
          <a:prstGeom prst="line">
            <a:avLst/>
          </a:prstGeom>
          <a:ln w="2032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93FA651-437C-F28F-A0ED-AA67C2163536}"/>
              </a:ext>
            </a:extLst>
          </p:cNvPr>
          <p:cNvSpPr txBox="1"/>
          <p:nvPr/>
        </p:nvSpPr>
        <p:spPr>
          <a:xfrm>
            <a:off x="8595275" y="5035848"/>
            <a:ext cx="2965354" cy="461665"/>
          </a:xfrm>
          <a:prstGeom prst="rect">
            <a:avLst/>
          </a:prstGeom>
          <a:noFill/>
        </p:spPr>
        <p:txBody>
          <a:bodyPr wrap="square" rtlCol="0">
            <a:spAutoFit/>
          </a:bodyPr>
          <a:lstStyle/>
          <a:p>
            <a:pPr algn="ctr"/>
            <a:r>
              <a:rPr lang="ko-KR" altLang="en-US" sz="2400" dirty="0">
                <a:solidFill>
                  <a:schemeClr val="bg1"/>
                </a:solidFill>
                <a:latin typeface="배달의민족 도현" panose="020B0600000101010101" pitchFamily="50" charset="-127"/>
                <a:ea typeface="배달의민족 도현" panose="020B0600000101010101" pitchFamily="50" charset="-127"/>
              </a:rPr>
              <a:t>정우 없는 정우 팀</a:t>
            </a:r>
            <a:endParaRPr lang="en-US" altLang="ko-KR" sz="2400" dirty="0">
              <a:solidFill>
                <a:schemeClr val="bg1"/>
              </a:solidFill>
              <a:latin typeface="배달의민족 도현" panose="020B0600000101010101" pitchFamily="50" charset="-127"/>
              <a:ea typeface="배달의민족 도현" panose="020B0600000101010101" pitchFamily="50" charset="-127"/>
            </a:endParaRPr>
          </a:p>
        </p:txBody>
      </p:sp>
      <p:sp>
        <p:nvSpPr>
          <p:cNvPr id="2" name="TextBox 1">
            <a:extLst>
              <a:ext uri="{FF2B5EF4-FFF2-40B4-BE49-F238E27FC236}">
                <a16:creationId xmlns:a16="http://schemas.microsoft.com/office/drawing/2014/main" id="{2AFA7F44-CC54-6B27-1FE4-20E3D339CAA1}"/>
              </a:ext>
            </a:extLst>
          </p:cNvPr>
          <p:cNvSpPr txBox="1"/>
          <p:nvPr/>
        </p:nvSpPr>
        <p:spPr>
          <a:xfrm>
            <a:off x="8885337" y="5480399"/>
            <a:ext cx="2614290" cy="1200329"/>
          </a:xfrm>
          <a:prstGeom prst="rect">
            <a:avLst/>
          </a:prstGeom>
          <a:noFill/>
        </p:spPr>
        <p:txBody>
          <a:bodyPr wrap="square" rtlCol="0">
            <a:spAutoFit/>
          </a:bodyPr>
          <a:lstStyle/>
          <a:p>
            <a:pPr algn="ctr"/>
            <a:r>
              <a:rPr lang="en-US" altLang="ko-KR" dirty="0">
                <a:solidFill>
                  <a:schemeClr val="bg1"/>
                </a:solidFill>
                <a:latin typeface="배달의민족 도현" panose="020B0600000101010101" pitchFamily="50" charset="-127"/>
                <a:ea typeface="배달의민족 도현" panose="020B0600000101010101" pitchFamily="50" charset="-127"/>
              </a:rPr>
              <a:t>2020311400 </a:t>
            </a:r>
            <a:r>
              <a:rPr lang="ko-KR" altLang="en-US" dirty="0" err="1">
                <a:solidFill>
                  <a:schemeClr val="bg1"/>
                </a:solidFill>
                <a:latin typeface="배달의민족 도현" panose="020B0600000101010101" pitchFamily="50" charset="-127"/>
                <a:ea typeface="배달의민족 도현" panose="020B0600000101010101" pitchFamily="50" charset="-127"/>
              </a:rPr>
              <a:t>박세빈</a:t>
            </a:r>
            <a:endParaRPr lang="en-US" altLang="ko-KR" dirty="0">
              <a:solidFill>
                <a:schemeClr val="bg1"/>
              </a:solidFill>
              <a:latin typeface="배달의민족 도현" panose="020B0600000101010101" pitchFamily="50" charset="-127"/>
              <a:ea typeface="배달의민족 도현" panose="020B0600000101010101" pitchFamily="50" charset="-127"/>
            </a:endParaRPr>
          </a:p>
          <a:p>
            <a:pPr algn="ctr"/>
            <a:r>
              <a:rPr lang="en-US" altLang="ko-KR" dirty="0">
                <a:solidFill>
                  <a:schemeClr val="bg1"/>
                </a:solidFill>
                <a:latin typeface="배달의민족 도현" panose="020B0600000101010101" pitchFamily="50" charset="-127"/>
                <a:ea typeface="배달의민족 도현" panose="020B0600000101010101" pitchFamily="50" charset="-127"/>
              </a:rPr>
              <a:t>2020311096 </a:t>
            </a:r>
            <a:r>
              <a:rPr lang="ko-KR" altLang="en-US" dirty="0" err="1">
                <a:solidFill>
                  <a:schemeClr val="bg1"/>
                </a:solidFill>
                <a:latin typeface="배달의민족 도현" panose="020B0600000101010101" pitchFamily="50" charset="-127"/>
                <a:ea typeface="배달의민족 도현" panose="020B0600000101010101" pitchFamily="50" charset="-127"/>
              </a:rPr>
              <a:t>김준태</a:t>
            </a:r>
            <a:r>
              <a:rPr lang="en-US" altLang="ko-KR" dirty="0">
                <a:solidFill>
                  <a:schemeClr val="bg1"/>
                </a:solidFill>
                <a:latin typeface="배달의민족 도현" panose="020B0600000101010101" pitchFamily="50" charset="-127"/>
                <a:ea typeface="배달의민족 도현" panose="020B0600000101010101" pitchFamily="50" charset="-127"/>
              </a:rPr>
              <a:t> </a:t>
            </a:r>
          </a:p>
          <a:p>
            <a:pPr algn="ctr"/>
            <a:r>
              <a:rPr lang="en-US" altLang="ko-KR" dirty="0">
                <a:solidFill>
                  <a:schemeClr val="bg1"/>
                </a:solidFill>
                <a:latin typeface="배달의민족 도현" panose="020B0600000101010101" pitchFamily="50" charset="-127"/>
                <a:ea typeface="배달의민족 도현" panose="020B0600000101010101" pitchFamily="50" charset="-127"/>
              </a:rPr>
              <a:t>2020310727 </a:t>
            </a:r>
            <a:r>
              <a:rPr lang="ko-KR" altLang="en-US" dirty="0">
                <a:solidFill>
                  <a:schemeClr val="bg1"/>
                </a:solidFill>
                <a:latin typeface="배달의민족 도현" panose="020B0600000101010101" pitchFamily="50" charset="-127"/>
                <a:ea typeface="배달의민족 도현" panose="020B0600000101010101" pitchFamily="50" charset="-127"/>
              </a:rPr>
              <a:t>유승현</a:t>
            </a:r>
            <a:r>
              <a:rPr lang="en-US" altLang="ko-KR" dirty="0">
                <a:solidFill>
                  <a:schemeClr val="bg1"/>
                </a:solidFill>
                <a:latin typeface="배달의민족 도현" panose="020B0600000101010101" pitchFamily="50" charset="-127"/>
                <a:ea typeface="배달의민족 도현" panose="020B0600000101010101" pitchFamily="50" charset="-127"/>
              </a:rPr>
              <a:t> </a:t>
            </a:r>
          </a:p>
          <a:p>
            <a:pPr algn="ctr"/>
            <a:r>
              <a:rPr lang="en-US" altLang="ko-KR" dirty="0">
                <a:solidFill>
                  <a:schemeClr val="bg1"/>
                </a:solidFill>
                <a:latin typeface="배달의민족 도현" panose="020B0600000101010101" pitchFamily="50" charset="-127"/>
                <a:ea typeface="배달의민족 도현" panose="020B0600000101010101" pitchFamily="50" charset="-127"/>
              </a:rPr>
              <a:t>2020310663 </a:t>
            </a:r>
            <a:r>
              <a:rPr lang="ko-KR" altLang="en-US" dirty="0">
                <a:solidFill>
                  <a:schemeClr val="bg1"/>
                </a:solidFill>
                <a:latin typeface="배달의민족 도현" panose="020B0600000101010101" pitchFamily="50" charset="-127"/>
                <a:ea typeface="배달의민족 도현" panose="020B0600000101010101" pitchFamily="50" charset="-127"/>
              </a:rPr>
              <a:t>홍성필</a:t>
            </a:r>
          </a:p>
        </p:txBody>
      </p:sp>
    </p:spTree>
    <p:extLst>
      <p:ext uri="{BB962C8B-B14F-4D97-AF65-F5344CB8AC3E}">
        <p14:creationId xmlns:p14="http://schemas.microsoft.com/office/powerpoint/2010/main" val="1635274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4D9590F-9302-1B4B-63A0-401B4B093250}"/>
              </a:ext>
            </a:extLst>
          </p:cNvPr>
          <p:cNvSpPr txBox="1"/>
          <p:nvPr/>
        </p:nvSpPr>
        <p:spPr>
          <a:xfrm>
            <a:off x="473242" y="468563"/>
            <a:ext cx="777777" cy="461665"/>
          </a:xfrm>
          <a:prstGeom prst="rect">
            <a:avLst/>
          </a:prstGeom>
          <a:noFill/>
        </p:spPr>
        <p:txBody>
          <a:bodyPr wrap="none" rtlCol="0">
            <a:spAutoFit/>
          </a:bodyPr>
          <a:lstStyle/>
          <a:p>
            <a:r>
              <a:rPr lang="ko-KR" altLang="en-US" sz="2400" b="1" dirty="0">
                <a:solidFill>
                  <a:schemeClr val="bg1"/>
                </a:solidFill>
                <a:latin typeface="배달의민족 도현" panose="020B0600000101010101" pitchFamily="50" charset="-127"/>
                <a:ea typeface="배달의민족 도현" panose="020B0600000101010101" pitchFamily="50" charset="-127"/>
              </a:rPr>
              <a:t>목차</a:t>
            </a:r>
          </a:p>
        </p:txBody>
      </p:sp>
      <p:cxnSp>
        <p:nvCxnSpPr>
          <p:cNvPr id="11" name="직선 연결선 10">
            <a:extLst>
              <a:ext uri="{FF2B5EF4-FFF2-40B4-BE49-F238E27FC236}">
                <a16:creationId xmlns:a16="http://schemas.microsoft.com/office/drawing/2014/main" id="{4E5FC885-7B71-E7F7-1576-91D4770D4C31}"/>
              </a:ext>
            </a:extLst>
          </p:cNvPr>
          <p:cNvCxnSpPr>
            <a:cxnSpLocks/>
          </p:cNvCxnSpPr>
          <p:nvPr/>
        </p:nvCxnSpPr>
        <p:spPr>
          <a:xfrm>
            <a:off x="2390567" y="699395"/>
            <a:ext cx="98014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5830DE6-55D9-DCAF-4A6C-07F5BA0137A9}"/>
              </a:ext>
            </a:extLst>
          </p:cNvPr>
          <p:cNvSpPr txBox="1"/>
          <p:nvPr/>
        </p:nvSpPr>
        <p:spPr>
          <a:xfrm>
            <a:off x="1433803" y="1942805"/>
            <a:ext cx="524503" cy="461665"/>
          </a:xfrm>
          <a:prstGeom prst="rect">
            <a:avLst/>
          </a:prstGeom>
          <a:noFill/>
        </p:spPr>
        <p:txBody>
          <a:bodyPr wrap="none" rtlCol="0">
            <a:spAutoFit/>
          </a:bodyPr>
          <a:lstStyle/>
          <a:p>
            <a:pPr algn="ctr"/>
            <a:r>
              <a:rPr lang="en-US" altLang="ko-KR" sz="2400" b="1" dirty="0">
                <a:solidFill>
                  <a:schemeClr val="bg1"/>
                </a:solidFill>
                <a:latin typeface="배달의민족 도현" panose="020B0600000101010101" pitchFamily="50" charset="-127"/>
                <a:ea typeface="배달의민족 도현" panose="020B0600000101010101" pitchFamily="50" charset="-127"/>
              </a:rPr>
              <a:t>1.1</a:t>
            </a:r>
            <a:endParaRPr lang="ko-KR" altLang="en-US" sz="2400" b="1" dirty="0">
              <a:solidFill>
                <a:schemeClr val="bg1"/>
              </a:solidFill>
              <a:latin typeface="배달의민족 도현" panose="020B0600000101010101" pitchFamily="50" charset="-127"/>
              <a:ea typeface="배달의민족 도현" panose="020B0600000101010101" pitchFamily="50" charset="-127"/>
            </a:endParaRPr>
          </a:p>
        </p:txBody>
      </p:sp>
      <p:sp>
        <p:nvSpPr>
          <p:cNvPr id="13" name="TextBox 12">
            <a:extLst>
              <a:ext uri="{FF2B5EF4-FFF2-40B4-BE49-F238E27FC236}">
                <a16:creationId xmlns:a16="http://schemas.microsoft.com/office/drawing/2014/main" id="{F524BA82-8190-BB65-EB75-7AE3E1F51236}"/>
              </a:ext>
            </a:extLst>
          </p:cNvPr>
          <p:cNvSpPr txBox="1"/>
          <p:nvPr/>
        </p:nvSpPr>
        <p:spPr>
          <a:xfrm>
            <a:off x="2390567" y="2019749"/>
            <a:ext cx="2056973" cy="461665"/>
          </a:xfrm>
          <a:prstGeom prst="rect">
            <a:avLst/>
          </a:prstGeom>
          <a:noFill/>
        </p:spPr>
        <p:txBody>
          <a:bodyPr wrap="none" rtlCol="0">
            <a:spAutoFit/>
          </a:bodyPr>
          <a:lstStyle/>
          <a:p>
            <a:r>
              <a:rPr lang="en-US" altLang="ko-KR" sz="2400" spc="600" dirty="0">
                <a:solidFill>
                  <a:schemeClr val="bg1"/>
                </a:solidFill>
                <a:latin typeface="배달의민족 도현" panose="020B0600000101010101" pitchFamily="50" charset="-127"/>
                <a:ea typeface="배달의민족 도현" panose="020B0600000101010101" pitchFamily="50" charset="-127"/>
              </a:rPr>
              <a:t>Problem</a:t>
            </a:r>
            <a:endParaRPr lang="ko-KR" altLang="en-US" sz="2400" spc="600" dirty="0">
              <a:solidFill>
                <a:schemeClr val="bg1"/>
              </a:solidFill>
              <a:latin typeface="배달의민족 도현" panose="020B0600000101010101" pitchFamily="50" charset="-127"/>
              <a:ea typeface="배달의민족 도현" panose="020B0600000101010101" pitchFamily="50" charset="-127"/>
            </a:endParaRPr>
          </a:p>
        </p:txBody>
      </p:sp>
      <p:sp>
        <p:nvSpPr>
          <p:cNvPr id="14" name="TextBox 13">
            <a:extLst>
              <a:ext uri="{FF2B5EF4-FFF2-40B4-BE49-F238E27FC236}">
                <a16:creationId xmlns:a16="http://schemas.microsoft.com/office/drawing/2014/main" id="{208E5067-67D5-09A2-7FA1-777CBC3A2FFA}"/>
              </a:ext>
            </a:extLst>
          </p:cNvPr>
          <p:cNvSpPr txBox="1"/>
          <p:nvPr/>
        </p:nvSpPr>
        <p:spPr>
          <a:xfrm>
            <a:off x="1407354" y="2676993"/>
            <a:ext cx="577401" cy="461665"/>
          </a:xfrm>
          <a:prstGeom prst="rect">
            <a:avLst/>
          </a:prstGeom>
          <a:noFill/>
        </p:spPr>
        <p:txBody>
          <a:bodyPr wrap="none" rtlCol="0">
            <a:spAutoFit/>
          </a:bodyPr>
          <a:lstStyle/>
          <a:p>
            <a:pPr algn="ctr"/>
            <a:r>
              <a:rPr lang="en-US" altLang="ko-KR" sz="2400" b="1" dirty="0">
                <a:solidFill>
                  <a:schemeClr val="bg1"/>
                </a:solidFill>
                <a:latin typeface="배달의민족 도현" panose="020B0600000101010101" pitchFamily="50" charset="-127"/>
                <a:ea typeface="배달의민족 도현" panose="020B0600000101010101" pitchFamily="50" charset="-127"/>
              </a:rPr>
              <a:t>1.2</a:t>
            </a:r>
            <a:endParaRPr lang="ko-KR" altLang="en-US" sz="2400" b="1" dirty="0">
              <a:solidFill>
                <a:schemeClr val="bg1"/>
              </a:solidFill>
              <a:latin typeface="배달의민족 도현" panose="020B0600000101010101" pitchFamily="50" charset="-127"/>
              <a:ea typeface="배달의민족 도현" panose="020B0600000101010101" pitchFamily="50" charset="-127"/>
            </a:endParaRPr>
          </a:p>
        </p:txBody>
      </p:sp>
      <p:sp>
        <p:nvSpPr>
          <p:cNvPr id="15" name="TextBox 14">
            <a:extLst>
              <a:ext uri="{FF2B5EF4-FFF2-40B4-BE49-F238E27FC236}">
                <a16:creationId xmlns:a16="http://schemas.microsoft.com/office/drawing/2014/main" id="{01DA354F-8FF7-A69B-74C3-2E0DD902FDC5}"/>
              </a:ext>
            </a:extLst>
          </p:cNvPr>
          <p:cNvSpPr txBox="1"/>
          <p:nvPr/>
        </p:nvSpPr>
        <p:spPr>
          <a:xfrm>
            <a:off x="2390567" y="2753937"/>
            <a:ext cx="4499950" cy="830997"/>
          </a:xfrm>
          <a:prstGeom prst="rect">
            <a:avLst/>
          </a:prstGeom>
          <a:noFill/>
        </p:spPr>
        <p:txBody>
          <a:bodyPr wrap="none" rtlCol="0">
            <a:spAutoFit/>
          </a:bodyPr>
          <a:lstStyle/>
          <a:p>
            <a:r>
              <a:rPr lang="en-US" altLang="ko-KR" sz="2400" spc="600" dirty="0">
                <a:solidFill>
                  <a:schemeClr val="bg1"/>
                </a:solidFill>
                <a:latin typeface="배달의민족 도현" panose="020B0600000101010101" pitchFamily="50" charset="-127"/>
                <a:ea typeface="배달의민족 도현" panose="020B0600000101010101" pitchFamily="50" charset="-127"/>
              </a:rPr>
              <a:t>Solution &amp; Product</a:t>
            </a:r>
            <a:endParaRPr lang="ko-KR" altLang="en-US" sz="2400" spc="600" dirty="0">
              <a:solidFill>
                <a:schemeClr val="bg1"/>
              </a:solidFill>
              <a:latin typeface="배달의민족 도현" panose="020B0600000101010101" pitchFamily="50" charset="-127"/>
              <a:ea typeface="배달의민족 도현" panose="020B0600000101010101" pitchFamily="50" charset="-127"/>
            </a:endParaRPr>
          </a:p>
          <a:p>
            <a:endParaRPr lang="ko-KR" altLang="en-US" sz="2400" spc="600" dirty="0">
              <a:solidFill>
                <a:schemeClr val="bg1"/>
              </a:solidFill>
              <a:latin typeface="배달의민족 도현" panose="020B0600000101010101" pitchFamily="50" charset="-127"/>
              <a:ea typeface="배달의민족 도현" panose="020B0600000101010101" pitchFamily="50" charset="-127"/>
            </a:endParaRPr>
          </a:p>
        </p:txBody>
      </p:sp>
      <p:sp>
        <p:nvSpPr>
          <p:cNvPr id="18" name="TextBox 17">
            <a:extLst>
              <a:ext uri="{FF2B5EF4-FFF2-40B4-BE49-F238E27FC236}">
                <a16:creationId xmlns:a16="http://schemas.microsoft.com/office/drawing/2014/main" id="{2531631F-1789-1769-B9D3-796BDF54EA11}"/>
              </a:ext>
            </a:extLst>
          </p:cNvPr>
          <p:cNvSpPr txBox="1"/>
          <p:nvPr/>
        </p:nvSpPr>
        <p:spPr>
          <a:xfrm>
            <a:off x="1407354" y="3857457"/>
            <a:ext cx="577401" cy="461665"/>
          </a:xfrm>
          <a:prstGeom prst="rect">
            <a:avLst/>
          </a:prstGeom>
          <a:noFill/>
        </p:spPr>
        <p:txBody>
          <a:bodyPr wrap="none" rtlCol="0">
            <a:spAutoFit/>
          </a:bodyPr>
          <a:lstStyle/>
          <a:p>
            <a:pPr algn="ctr"/>
            <a:r>
              <a:rPr lang="en-US" altLang="ko-KR" sz="2400" b="1" dirty="0">
                <a:solidFill>
                  <a:schemeClr val="bg1"/>
                </a:solidFill>
                <a:latin typeface="배달의민족 도현" panose="020B0600000101010101" pitchFamily="50" charset="-127"/>
                <a:ea typeface="배달의민족 도현" panose="020B0600000101010101" pitchFamily="50" charset="-127"/>
              </a:rPr>
              <a:t>2.1</a:t>
            </a:r>
            <a:endParaRPr lang="ko-KR" altLang="en-US" sz="2400" b="1" dirty="0">
              <a:solidFill>
                <a:schemeClr val="bg1"/>
              </a:solidFill>
              <a:latin typeface="배달의민족 도현" panose="020B0600000101010101" pitchFamily="50" charset="-127"/>
              <a:ea typeface="배달의민족 도현" panose="020B0600000101010101" pitchFamily="50" charset="-127"/>
            </a:endParaRPr>
          </a:p>
        </p:txBody>
      </p:sp>
      <p:sp>
        <p:nvSpPr>
          <p:cNvPr id="19" name="TextBox 18">
            <a:extLst>
              <a:ext uri="{FF2B5EF4-FFF2-40B4-BE49-F238E27FC236}">
                <a16:creationId xmlns:a16="http://schemas.microsoft.com/office/drawing/2014/main" id="{E9A311BA-E1C8-62C6-644C-0F40819CE9CF}"/>
              </a:ext>
            </a:extLst>
          </p:cNvPr>
          <p:cNvSpPr txBox="1"/>
          <p:nvPr/>
        </p:nvSpPr>
        <p:spPr>
          <a:xfrm>
            <a:off x="2390567" y="3934401"/>
            <a:ext cx="5933034" cy="461665"/>
          </a:xfrm>
          <a:prstGeom prst="rect">
            <a:avLst/>
          </a:prstGeom>
          <a:noFill/>
        </p:spPr>
        <p:txBody>
          <a:bodyPr wrap="none" rtlCol="0">
            <a:spAutoFit/>
          </a:bodyPr>
          <a:lstStyle/>
          <a:p>
            <a:r>
              <a:rPr lang="en-US" altLang="ko-KR" sz="2400" spc="600" dirty="0">
                <a:solidFill>
                  <a:schemeClr val="bg1"/>
                </a:solidFill>
                <a:latin typeface="배달의민족 도현" panose="020B0600000101010101" pitchFamily="50" charset="-127"/>
                <a:ea typeface="배달의민족 도현" panose="020B0600000101010101" pitchFamily="50" charset="-127"/>
              </a:rPr>
              <a:t>Market &amp; Business model</a:t>
            </a:r>
            <a:endParaRPr lang="ko-KR" altLang="en-US" sz="2400" spc="600" dirty="0">
              <a:solidFill>
                <a:schemeClr val="bg1"/>
              </a:solidFill>
              <a:latin typeface="배달의민족 도현" panose="020B0600000101010101" pitchFamily="50" charset="-127"/>
              <a:ea typeface="배달의민족 도현" panose="020B0600000101010101" pitchFamily="50" charset="-127"/>
            </a:endParaRPr>
          </a:p>
        </p:txBody>
      </p:sp>
      <p:sp>
        <p:nvSpPr>
          <p:cNvPr id="20" name="TextBox 19">
            <a:extLst>
              <a:ext uri="{FF2B5EF4-FFF2-40B4-BE49-F238E27FC236}">
                <a16:creationId xmlns:a16="http://schemas.microsoft.com/office/drawing/2014/main" id="{D5B2C9C0-6AC6-A05B-4BF0-D25A5708CF1F}"/>
              </a:ext>
            </a:extLst>
          </p:cNvPr>
          <p:cNvSpPr txBox="1"/>
          <p:nvPr/>
        </p:nvSpPr>
        <p:spPr>
          <a:xfrm>
            <a:off x="1124505" y="576284"/>
            <a:ext cx="1428596" cy="246221"/>
          </a:xfrm>
          <a:prstGeom prst="rect">
            <a:avLst/>
          </a:prstGeom>
          <a:noFill/>
        </p:spPr>
        <p:txBody>
          <a:bodyPr wrap="none" rtlCol="0">
            <a:spAutoFit/>
          </a:bodyPr>
          <a:lstStyle/>
          <a:p>
            <a:r>
              <a:rPr lang="en-US" altLang="ko-KR" sz="1000" dirty="0">
                <a:solidFill>
                  <a:schemeClr val="bg1"/>
                </a:solidFill>
                <a:latin typeface="배달의민족 도현" panose="020B0600000101010101" pitchFamily="50" charset="-127"/>
                <a:ea typeface="배달의민족 도현" panose="020B0600000101010101" pitchFamily="50" charset="-127"/>
              </a:rPr>
              <a:t>a table of contents</a:t>
            </a:r>
            <a:endParaRPr lang="ko-KR" altLang="en-US" sz="1000" dirty="0">
              <a:solidFill>
                <a:schemeClr val="bg1"/>
              </a:solidFill>
              <a:latin typeface="배달의민족 도현" panose="020B0600000101010101" pitchFamily="50" charset="-127"/>
              <a:ea typeface="배달의민족 도현" panose="020B0600000101010101" pitchFamily="50" charset="-127"/>
            </a:endParaRPr>
          </a:p>
        </p:txBody>
      </p:sp>
      <p:sp>
        <p:nvSpPr>
          <p:cNvPr id="4" name="TextBox 3">
            <a:extLst>
              <a:ext uri="{FF2B5EF4-FFF2-40B4-BE49-F238E27FC236}">
                <a16:creationId xmlns:a16="http://schemas.microsoft.com/office/drawing/2014/main" id="{A64F182D-708F-E2A5-8502-8FE2581AA0B7}"/>
              </a:ext>
            </a:extLst>
          </p:cNvPr>
          <p:cNvSpPr txBox="1"/>
          <p:nvPr/>
        </p:nvSpPr>
        <p:spPr>
          <a:xfrm>
            <a:off x="1377698" y="4486348"/>
            <a:ext cx="636714" cy="461665"/>
          </a:xfrm>
          <a:prstGeom prst="rect">
            <a:avLst/>
          </a:prstGeom>
          <a:noFill/>
        </p:spPr>
        <p:txBody>
          <a:bodyPr wrap="none" rtlCol="0">
            <a:spAutoFit/>
          </a:bodyPr>
          <a:lstStyle/>
          <a:p>
            <a:pPr algn="ctr"/>
            <a:r>
              <a:rPr lang="en-US" altLang="ko-KR" sz="2400" b="1" dirty="0">
                <a:solidFill>
                  <a:schemeClr val="bg1"/>
                </a:solidFill>
                <a:latin typeface="배달의민족 도현" panose="020B0600000101010101" pitchFamily="50" charset="-127"/>
                <a:ea typeface="배달의민족 도현" panose="020B0600000101010101" pitchFamily="50" charset="-127"/>
              </a:rPr>
              <a:t>2.2</a:t>
            </a:r>
            <a:endParaRPr lang="ko-KR" altLang="en-US" sz="2400" b="1" dirty="0">
              <a:solidFill>
                <a:schemeClr val="bg1"/>
              </a:solidFill>
              <a:latin typeface="배달의민족 도현" panose="020B0600000101010101" pitchFamily="50" charset="-127"/>
              <a:ea typeface="배달의민족 도현" panose="020B0600000101010101" pitchFamily="50" charset="-127"/>
            </a:endParaRPr>
          </a:p>
        </p:txBody>
      </p:sp>
      <p:sp>
        <p:nvSpPr>
          <p:cNvPr id="5" name="TextBox 4">
            <a:extLst>
              <a:ext uri="{FF2B5EF4-FFF2-40B4-BE49-F238E27FC236}">
                <a16:creationId xmlns:a16="http://schemas.microsoft.com/office/drawing/2014/main" id="{00027230-E3F5-825C-8FD1-E156BAB39A81}"/>
              </a:ext>
            </a:extLst>
          </p:cNvPr>
          <p:cNvSpPr txBox="1"/>
          <p:nvPr/>
        </p:nvSpPr>
        <p:spPr>
          <a:xfrm>
            <a:off x="2390567" y="4563292"/>
            <a:ext cx="2914580" cy="461665"/>
          </a:xfrm>
          <a:prstGeom prst="rect">
            <a:avLst/>
          </a:prstGeom>
          <a:noFill/>
        </p:spPr>
        <p:txBody>
          <a:bodyPr wrap="none" rtlCol="0">
            <a:spAutoFit/>
          </a:bodyPr>
          <a:lstStyle/>
          <a:p>
            <a:r>
              <a:rPr lang="en-US" altLang="ko-KR" sz="2400" spc="600" dirty="0">
                <a:solidFill>
                  <a:schemeClr val="bg1"/>
                </a:solidFill>
                <a:latin typeface="배달의민족 도현" panose="020B0600000101010101" pitchFamily="50" charset="-127"/>
                <a:ea typeface="배달의민족 도현" panose="020B0600000101010101" pitchFamily="50" charset="-127"/>
              </a:rPr>
              <a:t>Competition</a:t>
            </a:r>
            <a:endParaRPr lang="ko-KR" altLang="en-US" sz="2400" spc="600" dirty="0">
              <a:solidFill>
                <a:schemeClr val="bg1"/>
              </a:solidFill>
              <a:latin typeface="배달의민족 도현" panose="020B0600000101010101" pitchFamily="50" charset="-127"/>
              <a:ea typeface="배달의민족 도현" panose="020B0600000101010101" pitchFamily="50" charset="-127"/>
            </a:endParaRPr>
          </a:p>
        </p:txBody>
      </p:sp>
      <p:sp>
        <p:nvSpPr>
          <p:cNvPr id="23" name="AutoShape 2" descr="A rainy day in Gangnam Station, Seoul. The street is wet with puddles reflecting the city lights. People are walking with umbrellas, wearing raincoats. There are tall buildings with bright neon signs in Korean, street vendors selling food under canopies, and cars driving through the rain. The atmosphere is bustling but cozy with the rain adding a serene feel.">
            <a:extLst>
              <a:ext uri="{FF2B5EF4-FFF2-40B4-BE49-F238E27FC236}">
                <a16:creationId xmlns:a16="http://schemas.microsoft.com/office/drawing/2014/main" id="{1FABC7ED-9EF3-E968-44EA-2F10B82AFB0B}"/>
              </a:ext>
            </a:extLst>
          </p:cNvPr>
          <p:cNvSpPr>
            <a:spLocks noChangeAspect="1" noChangeArrowheads="1"/>
          </p:cNvSpPr>
          <p:nvPr/>
        </p:nvSpPr>
        <p:spPr bwMode="auto">
          <a:xfrm>
            <a:off x="5943599" y="3276599"/>
            <a:ext cx="2895625" cy="28956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latin typeface="배달의민족 도현" panose="020B0600000101010101" pitchFamily="50" charset="-127"/>
              <a:ea typeface="배달의민족 도현" panose="020B0600000101010101" pitchFamily="50" charset="-127"/>
            </a:endParaRPr>
          </a:p>
        </p:txBody>
      </p:sp>
      <p:pic>
        <p:nvPicPr>
          <p:cNvPr id="3" name="그림 2">
            <a:extLst>
              <a:ext uri="{FF2B5EF4-FFF2-40B4-BE49-F238E27FC236}">
                <a16:creationId xmlns:a16="http://schemas.microsoft.com/office/drawing/2014/main" id="{66992230-D700-9268-5F02-2D6B65F71ED1}"/>
              </a:ext>
            </a:extLst>
          </p:cNvPr>
          <p:cNvPicPr>
            <a:picLocks noChangeAspect="1"/>
          </p:cNvPicPr>
          <p:nvPr/>
        </p:nvPicPr>
        <p:blipFill>
          <a:blip r:embed="rId3"/>
          <a:stretch>
            <a:fillRect/>
          </a:stretch>
        </p:blipFill>
        <p:spPr>
          <a:xfrm>
            <a:off x="9674065" y="6619873"/>
            <a:ext cx="2447943" cy="238127"/>
          </a:xfrm>
          <a:prstGeom prst="rect">
            <a:avLst/>
          </a:prstGeom>
        </p:spPr>
      </p:pic>
    </p:spTree>
    <p:extLst>
      <p:ext uri="{BB962C8B-B14F-4D97-AF65-F5344CB8AC3E}">
        <p14:creationId xmlns:p14="http://schemas.microsoft.com/office/powerpoint/2010/main" val="488589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86CB7179-2CED-698E-7489-BBBF08E1F63C}"/>
              </a:ext>
            </a:extLst>
          </p:cNvPr>
          <p:cNvSpPr/>
          <p:nvPr/>
        </p:nvSpPr>
        <p:spPr>
          <a:xfrm>
            <a:off x="272715" y="0"/>
            <a:ext cx="802105" cy="7527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4" name="TextBox 3">
            <a:extLst>
              <a:ext uri="{FF2B5EF4-FFF2-40B4-BE49-F238E27FC236}">
                <a16:creationId xmlns:a16="http://schemas.microsoft.com/office/drawing/2014/main" id="{9EFEF442-2E39-E8A3-0720-B4AF147BC24A}"/>
              </a:ext>
            </a:extLst>
          </p:cNvPr>
          <p:cNvSpPr txBox="1"/>
          <p:nvPr/>
        </p:nvSpPr>
        <p:spPr>
          <a:xfrm>
            <a:off x="1176688" y="383381"/>
            <a:ext cx="1935145"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1.1 Problem</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sp>
        <p:nvSpPr>
          <p:cNvPr id="22" name="직사각형 21">
            <a:extLst>
              <a:ext uri="{FF2B5EF4-FFF2-40B4-BE49-F238E27FC236}">
                <a16:creationId xmlns:a16="http://schemas.microsoft.com/office/drawing/2014/main" id="{6F9F86CB-A042-4117-C176-7760365E0CD6}"/>
              </a:ext>
            </a:extLst>
          </p:cNvPr>
          <p:cNvSpPr/>
          <p:nvPr/>
        </p:nvSpPr>
        <p:spPr>
          <a:xfrm>
            <a:off x="451756" y="1378857"/>
            <a:ext cx="5465375" cy="3898900"/>
          </a:xfrm>
          <a:prstGeom prst="rect">
            <a:avLst/>
          </a:prstGeom>
          <a:solidFill>
            <a:srgbClr val="F9EA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23" name="직사각형 22">
            <a:extLst>
              <a:ext uri="{FF2B5EF4-FFF2-40B4-BE49-F238E27FC236}">
                <a16:creationId xmlns:a16="http://schemas.microsoft.com/office/drawing/2014/main" id="{A98D52BF-4726-EC87-2931-0913CCDFC028}"/>
              </a:ext>
            </a:extLst>
          </p:cNvPr>
          <p:cNvSpPr/>
          <p:nvPr/>
        </p:nvSpPr>
        <p:spPr>
          <a:xfrm>
            <a:off x="6187785" y="1378857"/>
            <a:ext cx="5439972" cy="38989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24" name="직사각형 23">
            <a:extLst>
              <a:ext uri="{FF2B5EF4-FFF2-40B4-BE49-F238E27FC236}">
                <a16:creationId xmlns:a16="http://schemas.microsoft.com/office/drawing/2014/main" id="{E6AD84B6-98D9-40C7-DEC8-D5B4BE8AF458}"/>
              </a:ext>
            </a:extLst>
          </p:cNvPr>
          <p:cNvSpPr/>
          <p:nvPr/>
        </p:nvSpPr>
        <p:spPr>
          <a:xfrm>
            <a:off x="765387" y="1692484"/>
            <a:ext cx="4880670" cy="2400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25" name="직사각형 24">
            <a:extLst>
              <a:ext uri="{FF2B5EF4-FFF2-40B4-BE49-F238E27FC236}">
                <a16:creationId xmlns:a16="http://schemas.microsoft.com/office/drawing/2014/main" id="{41C9A66F-9CC6-2677-F394-719F962028F5}"/>
              </a:ext>
            </a:extLst>
          </p:cNvPr>
          <p:cNvSpPr/>
          <p:nvPr/>
        </p:nvSpPr>
        <p:spPr>
          <a:xfrm>
            <a:off x="6458857" y="1692484"/>
            <a:ext cx="4880670" cy="2400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26" name="TextBox 25">
            <a:extLst>
              <a:ext uri="{FF2B5EF4-FFF2-40B4-BE49-F238E27FC236}">
                <a16:creationId xmlns:a16="http://schemas.microsoft.com/office/drawing/2014/main" id="{71138C67-1579-3D44-29B9-7DE29A11EEC1}"/>
              </a:ext>
            </a:extLst>
          </p:cNvPr>
          <p:cNvSpPr txBox="1"/>
          <p:nvPr/>
        </p:nvSpPr>
        <p:spPr>
          <a:xfrm>
            <a:off x="2125144" y="4406411"/>
            <a:ext cx="2161169" cy="461665"/>
          </a:xfrm>
          <a:prstGeom prst="rect">
            <a:avLst/>
          </a:prstGeom>
          <a:noFill/>
        </p:spPr>
        <p:txBody>
          <a:bodyPr wrap="none" rtlCol="0">
            <a:spAutoFit/>
          </a:bodyPr>
          <a:lstStyle/>
          <a:p>
            <a:pPr algn="ctr"/>
            <a:r>
              <a:rPr lang="ko-KR" altLang="en-US" sz="24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강남역 침수 피해 </a:t>
            </a:r>
          </a:p>
        </p:txBody>
      </p:sp>
      <p:sp>
        <p:nvSpPr>
          <p:cNvPr id="27" name="TextBox 26">
            <a:extLst>
              <a:ext uri="{FF2B5EF4-FFF2-40B4-BE49-F238E27FC236}">
                <a16:creationId xmlns:a16="http://schemas.microsoft.com/office/drawing/2014/main" id="{0BC9C296-C38D-1C8B-E24C-10710CD931C6}"/>
              </a:ext>
            </a:extLst>
          </p:cNvPr>
          <p:cNvSpPr txBox="1"/>
          <p:nvPr/>
        </p:nvSpPr>
        <p:spPr>
          <a:xfrm>
            <a:off x="7842419" y="4406410"/>
            <a:ext cx="2130711" cy="461665"/>
          </a:xfrm>
          <a:prstGeom prst="rect">
            <a:avLst/>
          </a:prstGeom>
          <a:noFill/>
        </p:spPr>
        <p:txBody>
          <a:bodyPr wrap="none" rtlCol="0">
            <a:spAutoFit/>
          </a:bodyPr>
          <a:lstStyle/>
          <a:p>
            <a:pPr algn="ctr"/>
            <a:r>
              <a:rPr lang="ko-KR" altLang="en-US" sz="24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맨홀에 의한 피해</a:t>
            </a:r>
          </a:p>
        </p:txBody>
      </p:sp>
      <p:sp>
        <p:nvSpPr>
          <p:cNvPr id="5" name="TextBox 4">
            <a:extLst>
              <a:ext uri="{FF2B5EF4-FFF2-40B4-BE49-F238E27FC236}">
                <a16:creationId xmlns:a16="http://schemas.microsoft.com/office/drawing/2014/main" id="{3B28DA74-B0B1-F515-1A3F-CE3EBECD54BD}"/>
              </a:ext>
            </a:extLst>
          </p:cNvPr>
          <p:cNvSpPr txBox="1"/>
          <p:nvPr/>
        </p:nvSpPr>
        <p:spPr>
          <a:xfrm>
            <a:off x="6312543" y="4866138"/>
            <a:ext cx="5465375" cy="307777"/>
          </a:xfrm>
          <a:prstGeom prst="rect">
            <a:avLst/>
          </a:prstGeom>
          <a:noFill/>
        </p:spPr>
        <p:txBody>
          <a:bodyPr wrap="square" rtlCol="0">
            <a:spAutoFit/>
          </a:bodyPr>
          <a:lstStyle/>
          <a:p>
            <a:r>
              <a:rPr lang="ko-KR" altLang="en-US" sz="1400" dirty="0">
                <a:latin typeface="배달의민족 도현" panose="020B0600000101010101" pitchFamily="50" charset="-127"/>
                <a:ea typeface="배달의민족 도현" panose="020B0600000101010101" pitchFamily="50" charset="-127"/>
              </a:rPr>
              <a:t>도로의 하수구 역류 및 맨홀뚜껑 솟구침</a:t>
            </a:r>
            <a:r>
              <a:rPr lang="en-US" altLang="ko-KR" sz="1400" dirty="0">
                <a:latin typeface="배달의민족 도현" panose="020B0600000101010101" pitchFamily="50" charset="-127"/>
                <a:ea typeface="배달의민족 도현" panose="020B0600000101010101" pitchFamily="50" charset="-127"/>
              </a:rPr>
              <a:t>/</a:t>
            </a:r>
            <a:r>
              <a:rPr lang="ko-KR" altLang="en-US" sz="1400" dirty="0">
                <a:latin typeface="배달의민족 도현" panose="020B0600000101010101" pitchFamily="50" charset="-127"/>
                <a:ea typeface="배달의민족 도현" panose="020B0600000101010101" pitchFamily="50" charset="-127"/>
              </a:rPr>
              <a:t>소실로 인한 사고 위험</a:t>
            </a:r>
          </a:p>
        </p:txBody>
      </p:sp>
      <p:sp>
        <p:nvSpPr>
          <p:cNvPr id="6" name="TextBox 5">
            <a:extLst>
              <a:ext uri="{FF2B5EF4-FFF2-40B4-BE49-F238E27FC236}">
                <a16:creationId xmlns:a16="http://schemas.microsoft.com/office/drawing/2014/main" id="{7556B485-5CF1-2F4D-9D58-43B9B4E32877}"/>
              </a:ext>
            </a:extLst>
          </p:cNvPr>
          <p:cNvSpPr txBox="1"/>
          <p:nvPr/>
        </p:nvSpPr>
        <p:spPr>
          <a:xfrm>
            <a:off x="1621018" y="4882570"/>
            <a:ext cx="4566767" cy="307777"/>
          </a:xfrm>
          <a:prstGeom prst="rect">
            <a:avLst/>
          </a:prstGeom>
          <a:noFill/>
        </p:spPr>
        <p:txBody>
          <a:bodyPr wrap="square" rtlCol="0">
            <a:spAutoFit/>
          </a:bodyPr>
          <a:lstStyle/>
          <a:p>
            <a:pPr algn="just"/>
            <a:r>
              <a:rPr lang="ko-KR" altLang="en-US" sz="1400" dirty="0">
                <a:latin typeface="배달의민족 도현" panose="020B0600000101010101" pitchFamily="50" charset="-127"/>
                <a:ea typeface="배달의민족 도현" panose="020B0600000101010101" pitchFamily="50" charset="-127"/>
              </a:rPr>
              <a:t>여름철</a:t>
            </a:r>
            <a:r>
              <a:rPr lang="en-US" altLang="ko-KR" sz="1400" dirty="0">
                <a:latin typeface="배달의민족 도현" panose="020B0600000101010101" pitchFamily="50" charset="-127"/>
                <a:ea typeface="배달의민족 도현" panose="020B0600000101010101" pitchFamily="50" charset="-127"/>
              </a:rPr>
              <a:t>, </a:t>
            </a:r>
            <a:r>
              <a:rPr lang="ko-KR" altLang="en-US" sz="1400" dirty="0">
                <a:latin typeface="배달의민족 도현" panose="020B0600000101010101" pitchFamily="50" charset="-127"/>
                <a:ea typeface="배달의민족 도현" panose="020B0600000101010101" pitchFamily="50" charset="-127"/>
              </a:rPr>
              <a:t>집중 호우로 인한 침수 피해</a:t>
            </a:r>
          </a:p>
        </p:txBody>
      </p:sp>
      <p:sp>
        <p:nvSpPr>
          <p:cNvPr id="7" name="화살표: 오른쪽 6">
            <a:extLst>
              <a:ext uri="{FF2B5EF4-FFF2-40B4-BE49-F238E27FC236}">
                <a16:creationId xmlns:a16="http://schemas.microsoft.com/office/drawing/2014/main" id="{AB210D2F-3989-11C9-8995-4FDE208ED68B}"/>
              </a:ext>
            </a:extLst>
          </p:cNvPr>
          <p:cNvSpPr/>
          <p:nvPr/>
        </p:nvSpPr>
        <p:spPr>
          <a:xfrm>
            <a:off x="2940379" y="5857993"/>
            <a:ext cx="530686" cy="41910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8" name="TextBox 7">
            <a:extLst>
              <a:ext uri="{FF2B5EF4-FFF2-40B4-BE49-F238E27FC236}">
                <a16:creationId xmlns:a16="http://schemas.microsoft.com/office/drawing/2014/main" id="{894B1FC3-AE6F-4395-B7A1-016E0DB68D1A}"/>
              </a:ext>
            </a:extLst>
          </p:cNvPr>
          <p:cNvSpPr txBox="1"/>
          <p:nvPr/>
        </p:nvSpPr>
        <p:spPr>
          <a:xfrm>
            <a:off x="3720663" y="5806823"/>
            <a:ext cx="5771680" cy="523220"/>
          </a:xfrm>
          <a:prstGeom prst="rect">
            <a:avLst/>
          </a:prstGeom>
          <a:noFill/>
        </p:spPr>
        <p:txBody>
          <a:bodyPr wrap="square" rtlCol="0">
            <a:spAutoFit/>
          </a:bodyPr>
          <a:lstStyle/>
          <a:p>
            <a:r>
              <a:rPr lang="ko-KR" altLang="en-US" sz="2800" b="1" dirty="0">
                <a:latin typeface="배달의민족 도현" panose="020B0600000101010101" pitchFamily="50" charset="-127"/>
                <a:ea typeface="배달의민족 도현" panose="020B0600000101010101" pitchFamily="50" charset="-127"/>
              </a:rPr>
              <a:t>인명 피해와 금전적 손해 발생</a:t>
            </a:r>
          </a:p>
        </p:txBody>
      </p:sp>
      <p:pic>
        <p:nvPicPr>
          <p:cNvPr id="2050" name="Picture 2">
            <a:extLst>
              <a:ext uri="{FF2B5EF4-FFF2-40B4-BE49-F238E27FC236}">
                <a16:creationId xmlns:a16="http://schemas.microsoft.com/office/drawing/2014/main" id="{9EE74DBF-0690-699C-BADE-B868044B5B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387" y="1692485"/>
            <a:ext cx="4880670" cy="24003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지난해 6월 공사 인부 2명이 숨진 서울 강남구 하수관 맨홀 추락사고 공사현장 작업책임자인 작업반장이 1심에서 벌금형을 선고받았다. 사진=연합뉴스">
            <a:extLst>
              <a:ext uri="{FF2B5EF4-FFF2-40B4-BE49-F238E27FC236}">
                <a16:creationId xmlns:a16="http://schemas.microsoft.com/office/drawing/2014/main" id="{8E9202C8-7056-2F99-A195-47F720B81B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8857" y="1677331"/>
            <a:ext cx="4880670" cy="2423239"/>
          </a:xfrm>
          <a:prstGeom prst="rect">
            <a:avLst/>
          </a:prstGeom>
          <a:noFill/>
          <a:extLst>
            <a:ext uri="{909E8E84-426E-40DD-AFC4-6F175D3DCCD1}">
              <a14:hiddenFill xmlns:a14="http://schemas.microsoft.com/office/drawing/2010/main">
                <a:solidFill>
                  <a:srgbClr val="FFFFFF"/>
                </a:solidFill>
              </a14:hiddenFill>
            </a:ext>
          </a:extLst>
        </p:spPr>
      </p:pic>
      <p:pic>
        <p:nvPicPr>
          <p:cNvPr id="9" name="그림 8">
            <a:extLst>
              <a:ext uri="{FF2B5EF4-FFF2-40B4-BE49-F238E27FC236}">
                <a16:creationId xmlns:a16="http://schemas.microsoft.com/office/drawing/2014/main" id="{4170CA63-2EDB-C376-A136-D64C7AABB918}"/>
              </a:ext>
            </a:extLst>
          </p:cNvPr>
          <p:cNvPicPr>
            <a:picLocks noChangeAspect="1"/>
          </p:cNvPicPr>
          <p:nvPr/>
        </p:nvPicPr>
        <p:blipFill>
          <a:blip r:embed="rId5"/>
          <a:stretch>
            <a:fillRect/>
          </a:stretch>
        </p:blipFill>
        <p:spPr>
          <a:xfrm>
            <a:off x="9972659" y="6629398"/>
            <a:ext cx="2219341" cy="228602"/>
          </a:xfrm>
          <a:prstGeom prst="rect">
            <a:avLst/>
          </a:prstGeom>
        </p:spPr>
      </p:pic>
    </p:spTree>
    <p:extLst>
      <p:ext uri="{BB962C8B-B14F-4D97-AF65-F5344CB8AC3E}">
        <p14:creationId xmlns:p14="http://schemas.microsoft.com/office/powerpoint/2010/main" val="4053731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타원 1">
            <a:extLst>
              <a:ext uri="{FF2B5EF4-FFF2-40B4-BE49-F238E27FC236}">
                <a16:creationId xmlns:a16="http://schemas.microsoft.com/office/drawing/2014/main" id="{8230581F-3CDD-6E21-9F5D-B1DA168E7A8F}"/>
              </a:ext>
            </a:extLst>
          </p:cNvPr>
          <p:cNvSpPr/>
          <p:nvPr/>
        </p:nvSpPr>
        <p:spPr>
          <a:xfrm>
            <a:off x="1045410" y="1329072"/>
            <a:ext cx="4126831" cy="4126831"/>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latin typeface="배달의민족 도현" panose="020B0600000101010101" pitchFamily="50" charset="-127"/>
              <a:ea typeface="배달의민족 도현" panose="020B0600000101010101" pitchFamily="50" charset="-127"/>
            </a:endParaRPr>
          </a:p>
        </p:txBody>
      </p:sp>
      <p:sp>
        <p:nvSpPr>
          <p:cNvPr id="3" name="타원 2">
            <a:extLst>
              <a:ext uri="{FF2B5EF4-FFF2-40B4-BE49-F238E27FC236}">
                <a16:creationId xmlns:a16="http://schemas.microsoft.com/office/drawing/2014/main" id="{115D6B55-8ED9-099D-24FC-B0D7DD4CB292}"/>
              </a:ext>
            </a:extLst>
          </p:cNvPr>
          <p:cNvSpPr/>
          <p:nvPr/>
        </p:nvSpPr>
        <p:spPr>
          <a:xfrm>
            <a:off x="7045161" y="1329071"/>
            <a:ext cx="4126831" cy="4126831"/>
          </a:xfrm>
          <a:prstGeom prst="ellipse">
            <a:avLst/>
          </a:prstGeom>
          <a:solidFill>
            <a:srgbClr val="F9EA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latin typeface="배달의민족 도현" panose="020B0600000101010101" pitchFamily="50" charset="-127"/>
              <a:ea typeface="배달의민족 도현" panose="020B0600000101010101" pitchFamily="50" charset="-127"/>
            </a:endParaRPr>
          </a:p>
        </p:txBody>
      </p:sp>
      <p:sp>
        <p:nvSpPr>
          <p:cNvPr id="4" name="타원 3">
            <a:extLst>
              <a:ext uri="{FF2B5EF4-FFF2-40B4-BE49-F238E27FC236}">
                <a16:creationId xmlns:a16="http://schemas.microsoft.com/office/drawing/2014/main" id="{9EEBD930-01AE-D34D-DBE5-B8F915EE3129}"/>
              </a:ext>
            </a:extLst>
          </p:cNvPr>
          <p:cNvSpPr/>
          <p:nvPr/>
        </p:nvSpPr>
        <p:spPr>
          <a:xfrm>
            <a:off x="4045286" y="1258316"/>
            <a:ext cx="4126831" cy="41268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latin typeface="배달의민족 도현" panose="020B0600000101010101" pitchFamily="50" charset="-127"/>
              <a:ea typeface="배달의민족 도현" panose="020B0600000101010101" pitchFamily="50" charset="-127"/>
            </a:endParaRPr>
          </a:p>
        </p:txBody>
      </p:sp>
      <p:sp>
        <p:nvSpPr>
          <p:cNvPr id="5" name="TextBox 4">
            <a:extLst>
              <a:ext uri="{FF2B5EF4-FFF2-40B4-BE49-F238E27FC236}">
                <a16:creationId xmlns:a16="http://schemas.microsoft.com/office/drawing/2014/main" id="{C2F6F31A-4580-7A3F-68B9-8EAD130E7818}"/>
              </a:ext>
            </a:extLst>
          </p:cNvPr>
          <p:cNvSpPr txBox="1"/>
          <p:nvPr/>
        </p:nvSpPr>
        <p:spPr>
          <a:xfrm>
            <a:off x="4423785" y="2783122"/>
            <a:ext cx="3369833" cy="1077218"/>
          </a:xfrm>
          <a:prstGeom prst="rect">
            <a:avLst/>
          </a:prstGeom>
          <a:noFill/>
        </p:spPr>
        <p:txBody>
          <a:bodyPr wrap="none" rtlCol="0">
            <a:spAutoFit/>
          </a:bodyPr>
          <a:lstStyle/>
          <a:p>
            <a:pPr algn="ctr"/>
            <a:r>
              <a:rPr lang="en-US" altLang="ko-KR" sz="3200" b="1" spc="-300" dirty="0">
                <a:solidFill>
                  <a:schemeClr val="bg1"/>
                </a:solidFill>
                <a:latin typeface="배달의민족 도현" panose="020B0600000101010101" pitchFamily="50" charset="-127"/>
                <a:ea typeface="배달의민족 도현" panose="020B0600000101010101" pitchFamily="50" charset="-127"/>
              </a:rPr>
              <a:t>Gangnam-station </a:t>
            </a:r>
          </a:p>
          <a:p>
            <a:pPr algn="ctr"/>
            <a:r>
              <a:rPr lang="en-US" altLang="ko-KR" sz="3200" b="1" spc="-300" dirty="0">
                <a:solidFill>
                  <a:schemeClr val="bg1"/>
                </a:solidFill>
                <a:latin typeface="배달의민족 도현" panose="020B0600000101010101" pitchFamily="50" charset="-127"/>
                <a:ea typeface="배달의민족 도현" panose="020B0600000101010101" pitchFamily="50" charset="-127"/>
              </a:rPr>
              <a:t>hydro guardian</a:t>
            </a:r>
            <a:endParaRPr lang="ko-KR" altLang="en-US" sz="3200" b="1" spc="-300" dirty="0">
              <a:solidFill>
                <a:schemeClr val="bg1"/>
              </a:solidFill>
              <a:latin typeface="배달의민족 도현" panose="020B0600000101010101" pitchFamily="50" charset="-127"/>
              <a:ea typeface="배달의민족 도현" panose="020B0600000101010101" pitchFamily="50" charset="-127"/>
            </a:endParaRPr>
          </a:p>
        </p:txBody>
      </p:sp>
      <p:sp>
        <p:nvSpPr>
          <p:cNvPr id="7" name="TextBox 6">
            <a:extLst>
              <a:ext uri="{FF2B5EF4-FFF2-40B4-BE49-F238E27FC236}">
                <a16:creationId xmlns:a16="http://schemas.microsoft.com/office/drawing/2014/main" id="{865448C5-AD5E-AF7C-293C-6754F8017E63}"/>
              </a:ext>
            </a:extLst>
          </p:cNvPr>
          <p:cNvSpPr txBox="1"/>
          <p:nvPr/>
        </p:nvSpPr>
        <p:spPr>
          <a:xfrm>
            <a:off x="8405221" y="2921168"/>
            <a:ext cx="2190022" cy="1015663"/>
          </a:xfrm>
          <a:prstGeom prst="rect">
            <a:avLst/>
          </a:prstGeom>
          <a:noFill/>
        </p:spPr>
        <p:txBody>
          <a:bodyPr wrap="none" rtlCol="0">
            <a:spAutoFit/>
          </a:bodyPr>
          <a:lstStyle/>
          <a:p>
            <a:pPr algn="ctr"/>
            <a:r>
              <a:rPr lang="ko-KR" altLang="en-US"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어플리케이션을  통한 </a:t>
            </a:r>
            <a:endParaRPr lang="en-US" altLang="ko-KR"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endParaRPr>
          </a:p>
          <a:p>
            <a:pPr algn="ctr"/>
            <a:r>
              <a:rPr lang="ko-KR" altLang="en-US"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실시간 침수  위험도  </a:t>
            </a:r>
            <a:endParaRPr lang="en-US" altLang="ko-KR"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endParaRPr>
          </a:p>
          <a:p>
            <a:pPr algn="ctr"/>
            <a:r>
              <a:rPr lang="ko-KR" altLang="en-US"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 제공</a:t>
            </a:r>
          </a:p>
        </p:txBody>
      </p:sp>
      <p:sp>
        <p:nvSpPr>
          <p:cNvPr id="9" name="TextBox 8">
            <a:extLst>
              <a:ext uri="{FF2B5EF4-FFF2-40B4-BE49-F238E27FC236}">
                <a16:creationId xmlns:a16="http://schemas.microsoft.com/office/drawing/2014/main" id="{7ECD050F-27B4-533C-72DF-63E8A72D1009}"/>
              </a:ext>
            </a:extLst>
          </p:cNvPr>
          <p:cNvSpPr txBox="1"/>
          <p:nvPr/>
        </p:nvSpPr>
        <p:spPr>
          <a:xfrm>
            <a:off x="1622164" y="2921168"/>
            <a:ext cx="2190022" cy="1015663"/>
          </a:xfrm>
          <a:prstGeom prst="rect">
            <a:avLst/>
          </a:prstGeom>
          <a:noFill/>
        </p:spPr>
        <p:txBody>
          <a:bodyPr wrap="none" rtlCol="0">
            <a:spAutoFit/>
          </a:bodyPr>
          <a:lstStyle/>
          <a:p>
            <a:pPr algn="ctr"/>
            <a:r>
              <a:rPr lang="ko-KR" altLang="en-US"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도로 위의 시민들에게 </a:t>
            </a:r>
            <a:endParaRPr lang="en-US" altLang="ko-KR"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endParaRPr>
          </a:p>
          <a:p>
            <a:pPr algn="ctr"/>
            <a:r>
              <a:rPr lang="ko-KR" altLang="en-US"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맨홀 사고 방지 위한</a:t>
            </a:r>
            <a:endParaRPr lang="en-US" altLang="ko-KR"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endParaRPr>
          </a:p>
          <a:p>
            <a:pPr algn="ctr"/>
            <a:r>
              <a:rPr lang="ko-KR" altLang="en-US" sz="2000"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경고등 표시</a:t>
            </a:r>
          </a:p>
        </p:txBody>
      </p:sp>
      <p:sp>
        <p:nvSpPr>
          <p:cNvPr id="10" name="직사각형 9">
            <a:extLst>
              <a:ext uri="{FF2B5EF4-FFF2-40B4-BE49-F238E27FC236}">
                <a16:creationId xmlns:a16="http://schemas.microsoft.com/office/drawing/2014/main" id="{50EC9D84-597E-8360-C79F-E91F51BAA045}"/>
              </a:ext>
            </a:extLst>
          </p:cNvPr>
          <p:cNvSpPr/>
          <p:nvPr/>
        </p:nvSpPr>
        <p:spPr>
          <a:xfrm>
            <a:off x="272715" y="0"/>
            <a:ext cx="802105" cy="7527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12" name="TextBox 11">
            <a:extLst>
              <a:ext uri="{FF2B5EF4-FFF2-40B4-BE49-F238E27FC236}">
                <a16:creationId xmlns:a16="http://schemas.microsoft.com/office/drawing/2014/main" id="{B53D159A-E5A6-2BD6-839A-C5F36067AA17}"/>
              </a:ext>
            </a:extLst>
          </p:cNvPr>
          <p:cNvSpPr txBox="1"/>
          <p:nvPr/>
        </p:nvSpPr>
        <p:spPr>
          <a:xfrm>
            <a:off x="1176688" y="460629"/>
            <a:ext cx="3602268"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1.2 Solution &amp; Product</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sp>
        <p:nvSpPr>
          <p:cNvPr id="8" name="TextBox 7">
            <a:extLst>
              <a:ext uri="{FF2B5EF4-FFF2-40B4-BE49-F238E27FC236}">
                <a16:creationId xmlns:a16="http://schemas.microsoft.com/office/drawing/2014/main" id="{947C9B8D-2C52-BECC-9DBC-5927108B404D}"/>
              </a:ext>
            </a:extLst>
          </p:cNvPr>
          <p:cNvSpPr txBox="1"/>
          <p:nvPr/>
        </p:nvSpPr>
        <p:spPr>
          <a:xfrm>
            <a:off x="4944975" y="4205866"/>
            <a:ext cx="2452916" cy="461665"/>
          </a:xfrm>
          <a:prstGeom prst="rect">
            <a:avLst/>
          </a:prstGeom>
          <a:noFill/>
        </p:spPr>
        <p:txBody>
          <a:bodyPr wrap="none" rtlCol="0">
            <a:spAutoFit/>
          </a:bodyPr>
          <a:lstStyle/>
          <a:p>
            <a:pPr algn="ctr"/>
            <a:r>
              <a:rPr lang="en-US" altLang="ko-KR" sz="2400" b="1" spc="-300" dirty="0">
                <a:solidFill>
                  <a:schemeClr val="bg1"/>
                </a:solidFill>
                <a:latin typeface="배달의민족 도현" panose="020B0600000101010101" pitchFamily="50" charset="-127"/>
                <a:ea typeface="배달의민족 도현" panose="020B0600000101010101" pitchFamily="50" charset="-127"/>
              </a:rPr>
              <a:t>by</a:t>
            </a:r>
            <a:r>
              <a:rPr lang="ko-KR" altLang="en-US" sz="2400" b="1" spc="-300" dirty="0">
                <a:solidFill>
                  <a:schemeClr val="bg1"/>
                </a:solidFill>
                <a:latin typeface="배달의민족 도현" panose="020B0600000101010101" pitchFamily="50" charset="-127"/>
                <a:ea typeface="배달의민족 도현" panose="020B0600000101010101" pitchFamily="50" charset="-127"/>
              </a:rPr>
              <a:t> </a:t>
            </a:r>
            <a:r>
              <a:rPr lang="en-US" altLang="ko-KR" sz="2400" b="1" spc="-300" dirty="0">
                <a:solidFill>
                  <a:schemeClr val="bg1"/>
                </a:solidFill>
                <a:latin typeface="배달의민족 도현" panose="020B0600000101010101" pitchFamily="50" charset="-127"/>
                <a:ea typeface="배달의민족 도현" panose="020B0600000101010101" pitchFamily="50" charset="-127"/>
              </a:rPr>
              <a:t>smart</a:t>
            </a:r>
            <a:r>
              <a:rPr lang="ko-KR" altLang="en-US" sz="2400" b="1" spc="-300" dirty="0">
                <a:solidFill>
                  <a:schemeClr val="bg1"/>
                </a:solidFill>
                <a:latin typeface="배달의민족 도현" panose="020B0600000101010101" pitchFamily="50" charset="-127"/>
                <a:ea typeface="배달의민족 도현" panose="020B0600000101010101" pitchFamily="50" charset="-127"/>
              </a:rPr>
              <a:t> </a:t>
            </a:r>
            <a:r>
              <a:rPr lang="en-US" altLang="ko-KR" sz="2400" b="1" spc="-300" dirty="0">
                <a:solidFill>
                  <a:schemeClr val="bg1"/>
                </a:solidFill>
                <a:latin typeface="배달의민족 도현" panose="020B0600000101010101" pitchFamily="50" charset="-127"/>
                <a:ea typeface="배달의민족 도현" panose="020B0600000101010101" pitchFamily="50" charset="-127"/>
              </a:rPr>
              <a:t>manhole</a:t>
            </a:r>
            <a:endParaRPr lang="ko-KR" altLang="en-US" sz="2400" b="1" spc="-300" dirty="0">
              <a:solidFill>
                <a:schemeClr val="bg1"/>
              </a:solidFill>
              <a:latin typeface="배달의민족 도현" panose="020B0600000101010101" pitchFamily="50" charset="-127"/>
              <a:ea typeface="배달의민족 도현" panose="020B0600000101010101" pitchFamily="50" charset="-127"/>
            </a:endParaRPr>
          </a:p>
        </p:txBody>
      </p:sp>
      <p:pic>
        <p:nvPicPr>
          <p:cNvPr id="11" name="그림 10">
            <a:extLst>
              <a:ext uri="{FF2B5EF4-FFF2-40B4-BE49-F238E27FC236}">
                <a16:creationId xmlns:a16="http://schemas.microsoft.com/office/drawing/2014/main" id="{8421C668-EBD8-22C4-53B8-FB8699B2D52E}"/>
              </a:ext>
            </a:extLst>
          </p:cNvPr>
          <p:cNvPicPr>
            <a:picLocks noChangeAspect="1"/>
          </p:cNvPicPr>
          <p:nvPr/>
        </p:nvPicPr>
        <p:blipFill>
          <a:blip r:embed="rId3"/>
          <a:stretch>
            <a:fillRect/>
          </a:stretch>
        </p:blipFill>
        <p:spPr>
          <a:xfrm>
            <a:off x="9915876" y="6605047"/>
            <a:ext cx="2228866" cy="180976"/>
          </a:xfrm>
          <a:prstGeom prst="rect">
            <a:avLst/>
          </a:prstGeom>
        </p:spPr>
      </p:pic>
    </p:spTree>
    <p:extLst>
      <p:ext uri="{BB962C8B-B14F-4D97-AF65-F5344CB8AC3E}">
        <p14:creationId xmlns:p14="http://schemas.microsoft.com/office/powerpoint/2010/main" val="2430020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F99744F8-8802-91F5-5A1A-146CB528DCB1}"/>
              </a:ext>
            </a:extLst>
          </p:cNvPr>
          <p:cNvSpPr/>
          <p:nvPr/>
        </p:nvSpPr>
        <p:spPr>
          <a:xfrm>
            <a:off x="1270761" y="908649"/>
            <a:ext cx="6194751" cy="579113"/>
          </a:xfrm>
          <a:prstGeom prst="rect">
            <a:avLst/>
          </a:prstGeom>
          <a:solidFill>
            <a:srgbClr val="F9EA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2" name="직사각형 1">
            <a:extLst>
              <a:ext uri="{FF2B5EF4-FFF2-40B4-BE49-F238E27FC236}">
                <a16:creationId xmlns:a16="http://schemas.microsoft.com/office/drawing/2014/main" id="{86CB7179-2CED-698E-7489-BBBF08E1F63C}"/>
              </a:ext>
            </a:extLst>
          </p:cNvPr>
          <p:cNvSpPr/>
          <p:nvPr/>
        </p:nvSpPr>
        <p:spPr>
          <a:xfrm>
            <a:off x="272715" y="0"/>
            <a:ext cx="802105" cy="7527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5" name="타원 4">
            <a:extLst>
              <a:ext uri="{FF2B5EF4-FFF2-40B4-BE49-F238E27FC236}">
                <a16:creationId xmlns:a16="http://schemas.microsoft.com/office/drawing/2014/main" id="{C4F6FD9A-4343-9C66-B966-192DE8475229}"/>
              </a:ext>
            </a:extLst>
          </p:cNvPr>
          <p:cNvSpPr/>
          <p:nvPr/>
        </p:nvSpPr>
        <p:spPr>
          <a:xfrm>
            <a:off x="4504858" y="2316751"/>
            <a:ext cx="3073179" cy="3000688"/>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cxnSp>
        <p:nvCxnSpPr>
          <p:cNvPr id="6" name="직선 화살표 연결선 5">
            <a:extLst>
              <a:ext uri="{FF2B5EF4-FFF2-40B4-BE49-F238E27FC236}">
                <a16:creationId xmlns:a16="http://schemas.microsoft.com/office/drawing/2014/main" id="{C510AB6C-7178-1FEF-5854-7C377EEAB309}"/>
              </a:ext>
            </a:extLst>
          </p:cNvPr>
          <p:cNvCxnSpPr/>
          <p:nvPr/>
        </p:nvCxnSpPr>
        <p:spPr>
          <a:xfrm>
            <a:off x="7671223" y="4767943"/>
            <a:ext cx="736979" cy="736979"/>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직선 화살표 연결선 6">
            <a:extLst>
              <a:ext uri="{FF2B5EF4-FFF2-40B4-BE49-F238E27FC236}">
                <a16:creationId xmlns:a16="http://schemas.microsoft.com/office/drawing/2014/main" id="{2D6294F1-1C5D-2657-4672-952369E5D6A1}"/>
              </a:ext>
            </a:extLst>
          </p:cNvPr>
          <p:cNvCxnSpPr>
            <a:cxnSpLocks/>
          </p:cNvCxnSpPr>
          <p:nvPr/>
        </p:nvCxnSpPr>
        <p:spPr>
          <a:xfrm flipH="1">
            <a:off x="3848441" y="4767943"/>
            <a:ext cx="736979" cy="736979"/>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직선 화살표 연결선 7">
            <a:extLst>
              <a:ext uri="{FF2B5EF4-FFF2-40B4-BE49-F238E27FC236}">
                <a16:creationId xmlns:a16="http://schemas.microsoft.com/office/drawing/2014/main" id="{733A5968-9667-C0E1-D453-0612596B46D4}"/>
              </a:ext>
            </a:extLst>
          </p:cNvPr>
          <p:cNvCxnSpPr>
            <a:cxnSpLocks/>
          </p:cNvCxnSpPr>
          <p:nvPr/>
        </p:nvCxnSpPr>
        <p:spPr>
          <a:xfrm flipV="1">
            <a:off x="7671222" y="2176272"/>
            <a:ext cx="736979" cy="736979"/>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직선 화살표 연결선 8">
            <a:extLst>
              <a:ext uri="{FF2B5EF4-FFF2-40B4-BE49-F238E27FC236}">
                <a16:creationId xmlns:a16="http://schemas.microsoft.com/office/drawing/2014/main" id="{9EE979ED-BC50-78FF-9873-044A3040CE94}"/>
              </a:ext>
            </a:extLst>
          </p:cNvPr>
          <p:cNvCxnSpPr>
            <a:cxnSpLocks/>
          </p:cNvCxnSpPr>
          <p:nvPr/>
        </p:nvCxnSpPr>
        <p:spPr>
          <a:xfrm flipH="1" flipV="1">
            <a:off x="3834672" y="2176272"/>
            <a:ext cx="736979" cy="736979"/>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24A20AF-56CE-469E-1983-F524DFE4F04E}"/>
              </a:ext>
            </a:extLst>
          </p:cNvPr>
          <p:cNvSpPr txBox="1"/>
          <p:nvPr/>
        </p:nvSpPr>
        <p:spPr>
          <a:xfrm>
            <a:off x="1416918" y="1773332"/>
            <a:ext cx="2595582" cy="1323439"/>
          </a:xfrm>
          <a:prstGeom prst="rect">
            <a:avLst/>
          </a:prstGeom>
          <a:noFill/>
        </p:spPr>
        <p:txBody>
          <a:bodyPr wrap="none" rtlCol="0">
            <a:spAutoFit/>
          </a:bodyPr>
          <a:lstStyle/>
          <a:p>
            <a:r>
              <a:rPr lang="ko-KR" altLang="en-US" sz="2000" b="1" dirty="0">
                <a:latin typeface="배달의민족 도현" panose="020B0600000101010101" pitchFamily="50" charset="-127"/>
                <a:ea typeface="배달의민족 도현" panose="020B0600000101010101" pitchFamily="50" charset="-127"/>
              </a:rPr>
              <a:t>맨홀 내부 수위 감지</a:t>
            </a:r>
            <a:endParaRPr lang="en-US" altLang="ko-KR" sz="2000" b="1" dirty="0">
              <a:latin typeface="배달의민족 도현" panose="020B0600000101010101" pitchFamily="50" charset="-127"/>
              <a:ea typeface="배달의민족 도현" panose="020B0600000101010101" pitchFamily="50" charset="-127"/>
            </a:endParaRPr>
          </a:p>
          <a:p>
            <a:pPr marL="342900" indent="-342900">
              <a:buFont typeface="Wingdings" panose="05000000000000000000" pitchFamily="2" charset="2"/>
              <a:buChar char="è"/>
            </a:pPr>
            <a:r>
              <a:rPr lang="ko-KR" altLang="en-US" sz="2000" dirty="0">
                <a:latin typeface="배달의민족 도현" panose="020B0600000101010101" pitchFamily="50" charset="-127"/>
                <a:ea typeface="배달의민족 도현" panose="020B0600000101010101" pitchFamily="50" charset="-127"/>
              </a:rPr>
              <a:t>맨홀 솟구침 사고 </a:t>
            </a:r>
            <a:endParaRPr lang="en-US" altLang="ko-KR" sz="2000" dirty="0">
              <a:latin typeface="배달의민족 도현" panose="020B0600000101010101" pitchFamily="50" charset="-127"/>
              <a:ea typeface="배달의민족 도현" panose="020B0600000101010101" pitchFamily="50" charset="-127"/>
            </a:endParaRPr>
          </a:p>
          <a:p>
            <a:r>
              <a:rPr lang="en-US" altLang="ko-KR" sz="2000" dirty="0">
                <a:latin typeface="배달의민족 도현" panose="020B0600000101010101" pitchFamily="50" charset="-127"/>
                <a:ea typeface="배달의민족 도현" panose="020B0600000101010101" pitchFamily="50" charset="-127"/>
              </a:rPr>
              <a:t>    </a:t>
            </a:r>
            <a:r>
              <a:rPr lang="ko-KR" altLang="en-US" sz="2000" dirty="0">
                <a:latin typeface="배달의민족 도현" panose="020B0600000101010101" pitchFamily="50" charset="-127"/>
                <a:ea typeface="배달의민족 도현" panose="020B0600000101010101" pitchFamily="50" charset="-127"/>
              </a:rPr>
              <a:t>방지하기 위한 </a:t>
            </a:r>
            <a:endParaRPr lang="en-US" altLang="ko-KR" sz="2000" dirty="0">
              <a:latin typeface="배달의민족 도현" panose="020B0600000101010101" pitchFamily="50" charset="-127"/>
              <a:ea typeface="배달의민족 도현" panose="020B0600000101010101" pitchFamily="50" charset="-127"/>
            </a:endParaRPr>
          </a:p>
          <a:p>
            <a:r>
              <a:rPr lang="en-US" altLang="ko-KR" sz="2000" dirty="0">
                <a:latin typeface="배달의민족 도현" panose="020B0600000101010101" pitchFamily="50" charset="-127"/>
                <a:ea typeface="배달의민족 도현" panose="020B0600000101010101" pitchFamily="50" charset="-127"/>
              </a:rPr>
              <a:t>    </a:t>
            </a:r>
            <a:r>
              <a:rPr lang="ko-KR" altLang="en-US" sz="2000" dirty="0">
                <a:solidFill>
                  <a:srgbClr val="0070C0"/>
                </a:solidFill>
                <a:latin typeface="배달의민족 도현" panose="020B0600000101010101" pitchFamily="50" charset="-127"/>
                <a:ea typeface="배달의민족 도현" panose="020B0600000101010101" pitchFamily="50" charset="-127"/>
              </a:rPr>
              <a:t>파란색</a:t>
            </a:r>
            <a:r>
              <a:rPr lang="ko-KR" altLang="en-US" sz="2000" dirty="0">
                <a:latin typeface="배달의민족 도현" panose="020B0600000101010101" pitchFamily="50" charset="-127"/>
                <a:ea typeface="배달의민족 도현" panose="020B0600000101010101" pitchFamily="50" charset="-127"/>
              </a:rPr>
              <a:t> 경고등</a:t>
            </a:r>
          </a:p>
        </p:txBody>
      </p:sp>
      <p:sp>
        <p:nvSpPr>
          <p:cNvPr id="13" name="TextBox 12">
            <a:extLst>
              <a:ext uri="{FF2B5EF4-FFF2-40B4-BE49-F238E27FC236}">
                <a16:creationId xmlns:a16="http://schemas.microsoft.com/office/drawing/2014/main" id="{483AAD8A-52DF-7F4B-15C6-5710CA53FC30}"/>
              </a:ext>
            </a:extLst>
          </p:cNvPr>
          <p:cNvSpPr txBox="1"/>
          <p:nvPr/>
        </p:nvSpPr>
        <p:spPr>
          <a:xfrm>
            <a:off x="1270761" y="5425744"/>
            <a:ext cx="3029997" cy="1015663"/>
          </a:xfrm>
          <a:prstGeom prst="rect">
            <a:avLst/>
          </a:prstGeom>
          <a:noFill/>
        </p:spPr>
        <p:txBody>
          <a:bodyPr wrap="none" rtlCol="0">
            <a:spAutoFit/>
          </a:bodyPr>
          <a:lstStyle/>
          <a:p>
            <a:r>
              <a:rPr lang="ko-KR" altLang="en-US" sz="2000" b="1" dirty="0">
                <a:latin typeface="배달의민족 도현" panose="020B0600000101010101" pitchFamily="50" charset="-127"/>
                <a:ea typeface="배달의민족 도현" panose="020B0600000101010101" pitchFamily="50" charset="-127"/>
              </a:rPr>
              <a:t>도로 위의 시민들에게 </a:t>
            </a:r>
            <a:endParaRPr lang="en-US" altLang="ko-KR" sz="2000" b="1" dirty="0">
              <a:latin typeface="배달의민족 도현" panose="020B0600000101010101" pitchFamily="50" charset="-127"/>
              <a:ea typeface="배달의민족 도현" panose="020B0600000101010101" pitchFamily="50" charset="-127"/>
            </a:endParaRPr>
          </a:p>
          <a:p>
            <a:r>
              <a:rPr lang="ko-KR" altLang="en-US" sz="2000" b="1" dirty="0">
                <a:latin typeface="배달의민족 도현" panose="020B0600000101010101" pitchFamily="50" charset="-127"/>
                <a:ea typeface="배달의민족 도현" panose="020B0600000101010101" pitchFamily="50" charset="-127"/>
              </a:rPr>
              <a:t>상황에 맞는 </a:t>
            </a:r>
            <a:r>
              <a:rPr lang="en-US" altLang="ko-KR" sz="2000" b="1" dirty="0">
                <a:latin typeface="배달의민족 도현" panose="020B0600000101010101" pitchFamily="50" charset="-127"/>
                <a:ea typeface="배달의민족 도현" panose="020B0600000101010101" pitchFamily="50" charset="-127"/>
              </a:rPr>
              <a:t>LED </a:t>
            </a:r>
            <a:r>
              <a:rPr lang="ko-KR" altLang="en-US" sz="2000" b="1" dirty="0">
                <a:latin typeface="배달의민족 도현" panose="020B0600000101010101" pitchFamily="50" charset="-127"/>
                <a:ea typeface="배달의민족 도현" panose="020B0600000101010101" pitchFamily="50" charset="-127"/>
              </a:rPr>
              <a:t>경고등 </a:t>
            </a:r>
            <a:endParaRPr lang="en-US" altLang="ko-KR" sz="2000" b="1" dirty="0">
              <a:latin typeface="배달의민족 도현" panose="020B0600000101010101" pitchFamily="50" charset="-127"/>
              <a:ea typeface="배달의민족 도현" panose="020B0600000101010101" pitchFamily="50" charset="-127"/>
            </a:endParaRPr>
          </a:p>
          <a:p>
            <a:r>
              <a:rPr lang="ko-KR" altLang="en-US" sz="2000" b="1" dirty="0">
                <a:latin typeface="배달의민족 도현" panose="020B0600000101010101" pitchFamily="50" charset="-127"/>
                <a:ea typeface="배달의민족 도현" panose="020B0600000101010101" pitchFamily="50" charset="-127"/>
              </a:rPr>
              <a:t>표시 제공</a:t>
            </a:r>
          </a:p>
        </p:txBody>
      </p:sp>
      <p:sp>
        <p:nvSpPr>
          <p:cNvPr id="33" name="TextBox 32">
            <a:extLst>
              <a:ext uri="{FF2B5EF4-FFF2-40B4-BE49-F238E27FC236}">
                <a16:creationId xmlns:a16="http://schemas.microsoft.com/office/drawing/2014/main" id="{BA065F87-CA45-B77A-B35D-399225EE9881}"/>
              </a:ext>
            </a:extLst>
          </p:cNvPr>
          <p:cNvSpPr txBox="1"/>
          <p:nvPr/>
        </p:nvSpPr>
        <p:spPr>
          <a:xfrm>
            <a:off x="4504858" y="3155375"/>
            <a:ext cx="3073180" cy="1323439"/>
          </a:xfrm>
          <a:prstGeom prst="rect">
            <a:avLst/>
          </a:prstGeom>
          <a:noFill/>
        </p:spPr>
        <p:txBody>
          <a:bodyPr wrap="square" rtlCol="0">
            <a:spAutoFit/>
          </a:bodyPr>
          <a:lstStyle/>
          <a:p>
            <a:pPr algn="ctr"/>
            <a:r>
              <a:rPr lang="en-US" altLang="ko-KR" sz="4000" b="1" dirty="0">
                <a:solidFill>
                  <a:schemeClr val="bg1"/>
                </a:solidFill>
                <a:latin typeface="배달의민족 도현" panose="020B0600000101010101" pitchFamily="50" charset="-127"/>
                <a:ea typeface="배달의민족 도현" panose="020B0600000101010101" pitchFamily="50" charset="-127"/>
              </a:rPr>
              <a:t>Smart manhole</a:t>
            </a:r>
            <a:endParaRPr lang="ko-KR" altLang="en-US" sz="4000" b="1" dirty="0">
              <a:solidFill>
                <a:schemeClr val="bg1"/>
              </a:solidFill>
              <a:latin typeface="배달의민족 도현" panose="020B0600000101010101" pitchFamily="50" charset="-127"/>
              <a:ea typeface="배달의민족 도현" panose="020B0600000101010101" pitchFamily="50" charset="-127"/>
            </a:endParaRPr>
          </a:p>
        </p:txBody>
      </p:sp>
      <p:sp>
        <p:nvSpPr>
          <p:cNvPr id="14" name="TextBox 13">
            <a:extLst>
              <a:ext uri="{FF2B5EF4-FFF2-40B4-BE49-F238E27FC236}">
                <a16:creationId xmlns:a16="http://schemas.microsoft.com/office/drawing/2014/main" id="{585CB8CC-3A31-B4C9-5CF7-C3A5F9339B34}"/>
              </a:ext>
            </a:extLst>
          </p:cNvPr>
          <p:cNvSpPr txBox="1"/>
          <p:nvPr/>
        </p:nvSpPr>
        <p:spPr>
          <a:xfrm>
            <a:off x="1176688" y="460629"/>
            <a:ext cx="3602268"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1.2 Solution &amp; Product</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sp>
        <p:nvSpPr>
          <p:cNvPr id="15" name="TextBox 14">
            <a:extLst>
              <a:ext uri="{FF2B5EF4-FFF2-40B4-BE49-F238E27FC236}">
                <a16:creationId xmlns:a16="http://schemas.microsoft.com/office/drawing/2014/main" id="{8DE4FA53-53CC-D0E7-1ABC-B8118D58CE76}"/>
              </a:ext>
            </a:extLst>
          </p:cNvPr>
          <p:cNvSpPr txBox="1"/>
          <p:nvPr/>
        </p:nvSpPr>
        <p:spPr>
          <a:xfrm>
            <a:off x="8550077" y="5504922"/>
            <a:ext cx="2404826" cy="707886"/>
          </a:xfrm>
          <a:prstGeom prst="rect">
            <a:avLst/>
          </a:prstGeom>
          <a:noFill/>
        </p:spPr>
        <p:txBody>
          <a:bodyPr wrap="none" rtlCol="0">
            <a:spAutoFit/>
          </a:bodyPr>
          <a:lstStyle/>
          <a:p>
            <a:r>
              <a:rPr lang="ko-KR" altLang="en-US" sz="2000" b="1" dirty="0">
                <a:latin typeface="배달의민족 도현" panose="020B0600000101010101" pitchFamily="50" charset="-127"/>
                <a:ea typeface="배달의민족 도현" panose="020B0600000101010101" pitchFamily="50" charset="-127"/>
              </a:rPr>
              <a:t>도로 위의 시민들의 </a:t>
            </a:r>
            <a:endParaRPr lang="en-US" altLang="ko-KR" sz="2000" b="1" dirty="0">
              <a:latin typeface="배달의민족 도현" panose="020B0600000101010101" pitchFamily="50" charset="-127"/>
              <a:ea typeface="배달의민족 도현" panose="020B0600000101010101" pitchFamily="50" charset="-127"/>
            </a:endParaRPr>
          </a:p>
          <a:p>
            <a:r>
              <a:rPr lang="ko-KR" altLang="en-US" sz="2000" b="1" dirty="0">
                <a:latin typeface="배달의민족 도현" panose="020B0600000101010101" pitchFamily="50" charset="-127"/>
                <a:ea typeface="배달의민족 도현" panose="020B0600000101010101" pitchFamily="50" charset="-127"/>
              </a:rPr>
              <a:t>즉각적 대처 가능</a:t>
            </a:r>
          </a:p>
        </p:txBody>
      </p:sp>
      <p:sp>
        <p:nvSpPr>
          <p:cNvPr id="16" name="TextBox 15">
            <a:extLst>
              <a:ext uri="{FF2B5EF4-FFF2-40B4-BE49-F238E27FC236}">
                <a16:creationId xmlns:a16="http://schemas.microsoft.com/office/drawing/2014/main" id="{9FB26D5B-ADAB-D5B0-6772-07009D2A442A}"/>
              </a:ext>
            </a:extLst>
          </p:cNvPr>
          <p:cNvSpPr txBox="1"/>
          <p:nvPr/>
        </p:nvSpPr>
        <p:spPr>
          <a:xfrm>
            <a:off x="1240731" y="1028603"/>
            <a:ext cx="6224781" cy="400110"/>
          </a:xfrm>
          <a:prstGeom prst="rect">
            <a:avLst/>
          </a:prstGeom>
          <a:noFill/>
        </p:spPr>
        <p:txBody>
          <a:bodyPr wrap="none" rtlCol="0">
            <a:spAutoFit/>
          </a:bodyPr>
          <a:lstStyle/>
          <a:p>
            <a:pPr algn="ct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주요 기능 </a:t>
            </a:r>
            <a:r>
              <a:rPr lang="en-US" altLang="ko-KR"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1 : </a:t>
            </a: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도로 위의 시민들에게 맨홀 사고 방지 위한</a:t>
            </a:r>
            <a:r>
              <a:rPr lang="en-US" altLang="ko-KR"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 </a:t>
            </a: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경고등 표시</a:t>
            </a:r>
          </a:p>
        </p:txBody>
      </p:sp>
      <p:sp>
        <p:nvSpPr>
          <p:cNvPr id="19" name="TextBox 18">
            <a:extLst>
              <a:ext uri="{FF2B5EF4-FFF2-40B4-BE49-F238E27FC236}">
                <a16:creationId xmlns:a16="http://schemas.microsoft.com/office/drawing/2014/main" id="{FB98F411-D7BB-4758-DDB2-A788D03E6B8B}"/>
              </a:ext>
            </a:extLst>
          </p:cNvPr>
          <p:cNvSpPr txBox="1"/>
          <p:nvPr/>
        </p:nvSpPr>
        <p:spPr>
          <a:xfrm>
            <a:off x="8550077" y="1773331"/>
            <a:ext cx="2467342" cy="1323439"/>
          </a:xfrm>
          <a:prstGeom prst="rect">
            <a:avLst/>
          </a:prstGeom>
          <a:noFill/>
        </p:spPr>
        <p:txBody>
          <a:bodyPr wrap="none" rtlCol="0">
            <a:spAutoFit/>
          </a:bodyPr>
          <a:lstStyle/>
          <a:p>
            <a:r>
              <a:rPr lang="ko-KR" altLang="en-US" sz="2000" b="1" dirty="0">
                <a:latin typeface="배달의민족 도현" panose="020B0600000101010101" pitchFamily="50" charset="-127"/>
                <a:ea typeface="배달의민족 도현" panose="020B0600000101010101" pitchFamily="50" charset="-127"/>
              </a:rPr>
              <a:t>맨홀 뚜껑 소실 감지</a:t>
            </a:r>
            <a:endParaRPr lang="en-US" altLang="ko-KR" sz="2000" b="1" dirty="0">
              <a:latin typeface="배달의민족 도현" panose="020B0600000101010101" pitchFamily="50" charset="-127"/>
              <a:ea typeface="배달의민족 도현" panose="020B0600000101010101" pitchFamily="50" charset="-127"/>
            </a:endParaRPr>
          </a:p>
          <a:p>
            <a:pPr marL="342900" indent="-342900">
              <a:buFont typeface="Wingdings" panose="05000000000000000000" pitchFamily="2" charset="2"/>
              <a:buChar char="è"/>
            </a:pPr>
            <a:r>
              <a:rPr lang="ko-KR" altLang="en-US" sz="2000" dirty="0">
                <a:latin typeface="배달의민족 도현" panose="020B0600000101010101" pitchFamily="50" charset="-127"/>
                <a:ea typeface="배달의민족 도현" panose="020B0600000101010101" pitchFamily="50" charset="-127"/>
              </a:rPr>
              <a:t>맨홀 추락 사고</a:t>
            </a:r>
            <a:endParaRPr lang="en-US" altLang="ko-KR" sz="2000" dirty="0">
              <a:latin typeface="배달의민족 도현" panose="020B0600000101010101" pitchFamily="50" charset="-127"/>
              <a:ea typeface="배달의민족 도현" panose="020B0600000101010101" pitchFamily="50" charset="-127"/>
            </a:endParaRPr>
          </a:p>
          <a:p>
            <a:r>
              <a:rPr lang="ko-KR" altLang="en-US" sz="2000" dirty="0">
                <a:latin typeface="배달의민족 도현" panose="020B0600000101010101" pitchFamily="50" charset="-127"/>
                <a:ea typeface="배달의민족 도현" panose="020B0600000101010101" pitchFamily="50" charset="-127"/>
              </a:rPr>
              <a:t>    방지하기 위한 </a:t>
            </a:r>
            <a:endParaRPr lang="en-US" altLang="ko-KR" sz="2000" dirty="0">
              <a:latin typeface="배달의민족 도현" panose="020B0600000101010101" pitchFamily="50" charset="-127"/>
              <a:ea typeface="배달의민족 도현" panose="020B0600000101010101" pitchFamily="50" charset="-127"/>
            </a:endParaRPr>
          </a:p>
          <a:p>
            <a:r>
              <a:rPr lang="en-US" altLang="ko-KR" sz="2000" dirty="0">
                <a:latin typeface="배달의민족 도현" panose="020B0600000101010101" pitchFamily="50" charset="-127"/>
                <a:ea typeface="배달의민족 도현" panose="020B0600000101010101" pitchFamily="50" charset="-127"/>
              </a:rPr>
              <a:t>    </a:t>
            </a:r>
            <a:r>
              <a:rPr lang="ko-KR" altLang="en-US" sz="2000" dirty="0">
                <a:solidFill>
                  <a:srgbClr val="C00000"/>
                </a:solidFill>
                <a:latin typeface="배달의민족 도현" panose="020B0600000101010101" pitchFamily="50" charset="-127"/>
                <a:ea typeface="배달의민족 도현" panose="020B0600000101010101" pitchFamily="50" charset="-127"/>
              </a:rPr>
              <a:t>빨간색</a:t>
            </a:r>
            <a:r>
              <a:rPr lang="ko-KR" altLang="en-US" sz="2000" dirty="0">
                <a:latin typeface="배달의민족 도현" panose="020B0600000101010101" pitchFamily="50" charset="-127"/>
                <a:ea typeface="배달의민족 도현" panose="020B0600000101010101" pitchFamily="50" charset="-127"/>
              </a:rPr>
              <a:t> 경고등</a:t>
            </a:r>
            <a:endParaRPr lang="en-US" altLang="ko-KR" sz="2000" dirty="0">
              <a:latin typeface="배달의민족 도현" panose="020B0600000101010101" pitchFamily="50" charset="-127"/>
              <a:ea typeface="배달의민족 도현" panose="020B0600000101010101" pitchFamily="50" charset="-127"/>
            </a:endParaRPr>
          </a:p>
        </p:txBody>
      </p:sp>
      <p:pic>
        <p:nvPicPr>
          <p:cNvPr id="11" name="그림 10">
            <a:extLst>
              <a:ext uri="{FF2B5EF4-FFF2-40B4-BE49-F238E27FC236}">
                <a16:creationId xmlns:a16="http://schemas.microsoft.com/office/drawing/2014/main" id="{B61275F9-121D-6339-BF0C-7EFA5C9C14F9}"/>
              </a:ext>
            </a:extLst>
          </p:cNvPr>
          <p:cNvPicPr>
            <a:picLocks noChangeAspect="1"/>
          </p:cNvPicPr>
          <p:nvPr/>
        </p:nvPicPr>
        <p:blipFill>
          <a:blip r:embed="rId3"/>
          <a:stretch>
            <a:fillRect/>
          </a:stretch>
        </p:blipFill>
        <p:spPr>
          <a:xfrm>
            <a:off x="9907748" y="6558231"/>
            <a:ext cx="2219341" cy="228602"/>
          </a:xfrm>
          <a:prstGeom prst="rect">
            <a:avLst/>
          </a:prstGeom>
        </p:spPr>
      </p:pic>
    </p:spTree>
    <p:extLst>
      <p:ext uri="{BB962C8B-B14F-4D97-AF65-F5344CB8AC3E}">
        <p14:creationId xmlns:p14="http://schemas.microsoft.com/office/powerpoint/2010/main" val="3219946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86CB7179-2CED-698E-7489-BBBF08E1F63C}"/>
              </a:ext>
            </a:extLst>
          </p:cNvPr>
          <p:cNvSpPr/>
          <p:nvPr/>
        </p:nvSpPr>
        <p:spPr>
          <a:xfrm>
            <a:off x="272715" y="0"/>
            <a:ext cx="802105" cy="7527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14" name="TextBox 13">
            <a:extLst>
              <a:ext uri="{FF2B5EF4-FFF2-40B4-BE49-F238E27FC236}">
                <a16:creationId xmlns:a16="http://schemas.microsoft.com/office/drawing/2014/main" id="{585CB8CC-3A31-B4C9-5CF7-C3A5F9339B34}"/>
              </a:ext>
            </a:extLst>
          </p:cNvPr>
          <p:cNvSpPr txBox="1"/>
          <p:nvPr/>
        </p:nvSpPr>
        <p:spPr>
          <a:xfrm>
            <a:off x="1176688" y="460629"/>
            <a:ext cx="3602268"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1.2 Solution &amp; Product</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grpSp>
        <p:nvGrpSpPr>
          <p:cNvPr id="44" name="그룹 43">
            <a:extLst>
              <a:ext uri="{FF2B5EF4-FFF2-40B4-BE49-F238E27FC236}">
                <a16:creationId xmlns:a16="http://schemas.microsoft.com/office/drawing/2014/main" id="{BF32EE68-F90E-C3A0-F961-FDA933722CB8}"/>
              </a:ext>
            </a:extLst>
          </p:cNvPr>
          <p:cNvGrpSpPr/>
          <p:nvPr/>
        </p:nvGrpSpPr>
        <p:grpSpPr>
          <a:xfrm>
            <a:off x="1366358" y="1072416"/>
            <a:ext cx="9247007" cy="5243979"/>
            <a:chOff x="1355472" y="827487"/>
            <a:chExt cx="9247007" cy="5243979"/>
          </a:xfrm>
        </p:grpSpPr>
        <p:grpSp>
          <p:nvGrpSpPr>
            <p:cNvPr id="42" name="그룹 41">
              <a:extLst>
                <a:ext uri="{FF2B5EF4-FFF2-40B4-BE49-F238E27FC236}">
                  <a16:creationId xmlns:a16="http://schemas.microsoft.com/office/drawing/2014/main" id="{27AB0690-2B0D-C586-24DD-934CB1639497}"/>
                </a:ext>
              </a:extLst>
            </p:cNvPr>
            <p:cNvGrpSpPr/>
            <p:nvPr/>
          </p:nvGrpSpPr>
          <p:grpSpPr>
            <a:xfrm>
              <a:off x="3864628" y="1575733"/>
              <a:ext cx="4041409" cy="4096319"/>
              <a:chOff x="4084880" y="1490498"/>
              <a:chExt cx="4041409" cy="4096319"/>
            </a:xfrm>
          </p:grpSpPr>
          <p:pic>
            <p:nvPicPr>
              <p:cNvPr id="11" name="그림 10">
                <a:extLst>
                  <a:ext uri="{FF2B5EF4-FFF2-40B4-BE49-F238E27FC236}">
                    <a16:creationId xmlns:a16="http://schemas.microsoft.com/office/drawing/2014/main" id="{0F6B1520-55E4-4E28-69DB-E1559B52636C}"/>
                  </a:ext>
                </a:extLst>
              </p:cNvPr>
              <p:cNvPicPr>
                <a:picLocks noChangeAspect="1"/>
              </p:cNvPicPr>
              <p:nvPr/>
            </p:nvPicPr>
            <p:blipFill>
              <a:blip r:embed="rId3"/>
              <a:stretch>
                <a:fillRect/>
              </a:stretch>
            </p:blipFill>
            <p:spPr>
              <a:xfrm>
                <a:off x="4084880" y="1490498"/>
                <a:ext cx="4041409" cy="4096319"/>
              </a:xfrm>
              <a:prstGeom prst="rect">
                <a:avLst/>
              </a:prstGeom>
            </p:spPr>
          </p:pic>
          <p:sp>
            <p:nvSpPr>
              <p:cNvPr id="25" name="직사각형 24">
                <a:extLst>
                  <a:ext uri="{FF2B5EF4-FFF2-40B4-BE49-F238E27FC236}">
                    <a16:creationId xmlns:a16="http://schemas.microsoft.com/office/drawing/2014/main" id="{B1602C60-D323-DE30-CDA6-68B05728598B}"/>
                  </a:ext>
                </a:extLst>
              </p:cNvPr>
              <p:cNvSpPr/>
              <p:nvPr/>
            </p:nvSpPr>
            <p:spPr>
              <a:xfrm>
                <a:off x="4585627" y="1892801"/>
                <a:ext cx="239485" cy="5388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9" name="직사각형 28">
                <a:extLst>
                  <a:ext uri="{FF2B5EF4-FFF2-40B4-BE49-F238E27FC236}">
                    <a16:creationId xmlns:a16="http://schemas.microsoft.com/office/drawing/2014/main" id="{EB54F0BC-7C64-730E-4612-5BDC54D007C9}"/>
                  </a:ext>
                </a:extLst>
              </p:cNvPr>
              <p:cNvSpPr/>
              <p:nvPr/>
            </p:nvSpPr>
            <p:spPr>
              <a:xfrm>
                <a:off x="6937429" y="1736965"/>
                <a:ext cx="652603" cy="24229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70C0"/>
                  </a:solidFill>
                </a:endParaRPr>
              </a:p>
            </p:txBody>
          </p:sp>
        </p:grpSp>
        <p:pic>
          <p:nvPicPr>
            <p:cNvPr id="17" name="그림 16">
              <a:extLst>
                <a:ext uri="{FF2B5EF4-FFF2-40B4-BE49-F238E27FC236}">
                  <a16:creationId xmlns:a16="http://schemas.microsoft.com/office/drawing/2014/main" id="{5603709C-A6A9-25A7-12B5-2DDE68E49574}"/>
                </a:ext>
              </a:extLst>
            </p:cNvPr>
            <p:cNvPicPr>
              <a:picLocks noChangeAspect="1"/>
            </p:cNvPicPr>
            <p:nvPr/>
          </p:nvPicPr>
          <p:blipFill>
            <a:blip r:embed="rId4"/>
            <a:stretch>
              <a:fillRect/>
            </a:stretch>
          </p:blipFill>
          <p:spPr>
            <a:xfrm>
              <a:off x="3202635" y="5147534"/>
              <a:ext cx="1323985" cy="923932"/>
            </a:xfrm>
            <a:prstGeom prst="rect">
              <a:avLst/>
            </a:prstGeom>
          </p:spPr>
        </p:pic>
        <p:pic>
          <p:nvPicPr>
            <p:cNvPr id="20" name="그림 19">
              <a:extLst>
                <a:ext uri="{FF2B5EF4-FFF2-40B4-BE49-F238E27FC236}">
                  <a16:creationId xmlns:a16="http://schemas.microsoft.com/office/drawing/2014/main" id="{39217C6C-2135-5FAF-607D-57BB9DF4F262}"/>
                </a:ext>
              </a:extLst>
            </p:cNvPr>
            <p:cNvPicPr>
              <a:picLocks noChangeAspect="1"/>
            </p:cNvPicPr>
            <p:nvPr/>
          </p:nvPicPr>
          <p:blipFill>
            <a:blip r:embed="rId4"/>
            <a:stretch>
              <a:fillRect/>
            </a:stretch>
          </p:blipFill>
          <p:spPr>
            <a:xfrm rot="785616">
              <a:off x="7589379" y="3532413"/>
              <a:ext cx="1427319" cy="996043"/>
            </a:xfrm>
            <a:prstGeom prst="rect">
              <a:avLst/>
            </a:prstGeom>
          </p:spPr>
        </p:pic>
        <p:pic>
          <p:nvPicPr>
            <p:cNvPr id="22" name="그림 21">
              <a:extLst>
                <a:ext uri="{FF2B5EF4-FFF2-40B4-BE49-F238E27FC236}">
                  <a16:creationId xmlns:a16="http://schemas.microsoft.com/office/drawing/2014/main" id="{4ACD90CF-078D-A79A-CBAC-463CC8F2CEAB}"/>
                </a:ext>
              </a:extLst>
            </p:cNvPr>
            <p:cNvPicPr>
              <a:picLocks noChangeAspect="1"/>
            </p:cNvPicPr>
            <p:nvPr/>
          </p:nvPicPr>
          <p:blipFill>
            <a:blip r:embed="rId4"/>
            <a:stretch>
              <a:fillRect/>
            </a:stretch>
          </p:blipFill>
          <p:spPr>
            <a:xfrm rot="20521855">
              <a:off x="7626866" y="2459536"/>
              <a:ext cx="441265" cy="923932"/>
            </a:xfrm>
            <a:prstGeom prst="rect">
              <a:avLst/>
            </a:prstGeom>
          </p:spPr>
        </p:pic>
        <p:pic>
          <p:nvPicPr>
            <p:cNvPr id="24" name="그림 23">
              <a:extLst>
                <a:ext uri="{FF2B5EF4-FFF2-40B4-BE49-F238E27FC236}">
                  <a16:creationId xmlns:a16="http://schemas.microsoft.com/office/drawing/2014/main" id="{B6A2047F-3456-5875-6F44-F5E0E01FF8E6}"/>
                </a:ext>
              </a:extLst>
            </p:cNvPr>
            <p:cNvPicPr>
              <a:picLocks noChangeAspect="1"/>
            </p:cNvPicPr>
            <p:nvPr/>
          </p:nvPicPr>
          <p:blipFill>
            <a:blip r:embed="rId4"/>
            <a:stretch>
              <a:fillRect/>
            </a:stretch>
          </p:blipFill>
          <p:spPr>
            <a:xfrm>
              <a:off x="7582646" y="5000577"/>
              <a:ext cx="593432" cy="923932"/>
            </a:xfrm>
            <a:prstGeom prst="rect">
              <a:avLst/>
            </a:prstGeom>
          </p:spPr>
        </p:pic>
        <p:sp>
          <p:nvSpPr>
            <p:cNvPr id="32" name="타원 31">
              <a:extLst>
                <a:ext uri="{FF2B5EF4-FFF2-40B4-BE49-F238E27FC236}">
                  <a16:creationId xmlns:a16="http://schemas.microsoft.com/office/drawing/2014/main" id="{C071E3A4-342C-8F45-CC24-E739BA022593}"/>
                </a:ext>
              </a:extLst>
            </p:cNvPr>
            <p:cNvSpPr/>
            <p:nvPr/>
          </p:nvSpPr>
          <p:spPr>
            <a:xfrm>
              <a:off x="8199888" y="827487"/>
              <a:ext cx="2402591" cy="2334762"/>
            </a:xfrm>
            <a:prstGeom prst="ellipse">
              <a:avLst/>
            </a:prstGeom>
            <a:solidFill>
              <a:srgbClr val="F9EA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latin typeface="배달의민족 도현" panose="020B0600000101010101" pitchFamily="50" charset="-127"/>
                <a:ea typeface="배달의민족 도현" panose="020B0600000101010101" pitchFamily="50" charset="-127"/>
              </a:endParaRPr>
            </a:p>
          </p:txBody>
        </p:sp>
        <p:sp>
          <p:nvSpPr>
            <p:cNvPr id="30" name="TextBox 29">
              <a:extLst>
                <a:ext uri="{FF2B5EF4-FFF2-40B4-BE49-F238E27FC236}">
                  <a16:creationId xmlns:a16="http://schemas.microsoft.com/office/drawing/2014/main" id="{A3EFFFAE-5FEA-29A6-9651-48A3FD1E6B05}"/>
                </a:ext>
              </a:extLst>
            </p:cNvPr>
            <p:cNvSpPr txBox="1"/>
            <p:nvPr/>
          </p:nvSpPr>
          <p:spPr>
            <a:xfrm>
              <a:off x="8388727" y="1527658"/>
              <a:ext cx="2024913" cy="1015663"/>
            </a:xfrm>
            <a:prstGeom prst="rect">
              <a:avLst/>
            </a:prstGeom>
            <a:noFill/>
          </p:spPr>
          <p:txBody>
            <a:bodyPr wrap="none" rtlCol="0">
              <a:spAutoFit/>
            </a:bodyPr>
            <a:lstStyle/>
            <a:p>
              <a:pPr algn="ctr"/>
              <a:r>
                <a:rPr lang="ko-KR" altLang="en-US" sz="2000" b="1" spc="-300" dirty="0">
                  <a:solidFill>
                    <a:srgbClr val="0070C0"/>
                  </a:solidFill>
                  <a:latin typeface="배달의민족 도현" panose="020B0600000101010101" pitchFamily="50" charset="-127"/>
                  <a:ea typeface="배달의민족 도현" panose="020B0600000101010101" pitchFamily="50" charset="-127"/>
                </a:rPr>
                <a:t>자기 홀 센서를 </a:t>
              </a:r>
              <a:endParaRPr lang="en-US" altLang="ko-KR" sz="2000" b="1" spc="-300" dirty="0">
                <a:solidFill>
                  <a:srgbClr val="0070C0"/>
                </a:solidFill>
                <a:latin typeface="배달의민족 도현" panose="020B0600000101010101" pitchFamily="50" charset="-127"/>
                <a:ea typeface="배달의민족 도현" panose="020B0600000101010101" pitchFamily="50" charset="-127"/>
              </a:endParaRPr>
            </a:p>
            <a:p>
              <a:pPr algn="ctr"/>
              <a:r>
                <a:rPr lang="ko-KR" altLang="en-US" sz="2000" b="1" spc="-300" dirty="0">
                  <a:solidFill>
                    <a:srgbClr val="0070C0"/>
                  </a:solidFill>
                  <a:latin typeface="배달의민족 도현" panose="020B0600000101010101" pitchFamily="50" charset="-127"/>
                  <a:ea typeface="배달의민족 도현" panose="020B0600000101010101" pitchFamily="50" charset="-127"/>
                </a:rPr>
                <a:t>활용한 </a:t>
              </a:r>
              <a:endParaRPr lang="en-US" altLang="ko-KR" sz="2000" b="1" spc="-300" dirty="0">
                <a:solidFill>
                  <a:srgbClr val="0070C0"/>
                </a:solidFill>
                <a:latin typeface="배달의민족 도현" panose="020B0600000101010101" pitchFamily="50" charset="-127"/>
                <a:ea typeface="배달의민족 도현" panose="020B0600000101010101" pitchFamily="50" charset="-127"/>
              </a:endParaRPr>
            </a:p>
            <a:p>
              <a:pPr algn="ctr"/>
              <a:r>
                <a:rPr lang="ko-KR" altLang="en-US" sz="2000" b="1" spc="-300" dirty="0">
                  <a:solidFill>
                    <a:srgbClr val="0070C0"/>
                  </a:solidFill>
                  <a:latin typeface="배달의민족 도현" panose="020B0600000101010101" pitchFamily="50" charset="-127"/>
                  <a:ea typeface="배달의민족 도현" panose="020B0600000101010101" pitchFamily="50" charset="-127"/>
                </a:rPr>
                <a:t>맨홀 뚜껑 소실 감지 </a:t>
              </a:r>
            </a:p>
          </p:txBody>
        </p:sp>
        <p:pic>
          <p:nvPicPr>
            <p:cNvPr id="43" name="그림 42">
              <a:extLst>
                <a:ext uri="{FF2B5EF4-FFF2-40B4-BE49-F238E27FC236}">
                  <a16:creationId xmlns:a16="http://schemas.microsoft.com/office/drawing/2014/main" id="{7886B424-1B44-3BC7-BD93-AFFF99D35973}"/>
                </a:ext>
              </a:extLst>
            </p:cNvPr>
            <p:cNvPicPr>
              <a:picLocks noChangeAspect="1"/>
            </p:cNvPicPr>
            <p:nvPr/>
          </p:nvPicPr>
          <p:blipFill>
            <a:blip r:embed="rId4"/>
            <a:stretch>
              <a:fillRect/>
            </a:stretch>
          </p:blipFill>
          <p:spPr>
            <a:xfrm>
              <a:off x="3179358" y="2536684"/>
              <a:ext cx="814392" cy="923932"/>
            </a:xfrm>
            <a:prstGeom prst="rect">
              <a:avLst/>
            </a:prstGeom>
          </p:spPr>
        </p:pic>
        <p:sp>
          <p:nvSpPr>
            <p:cNvPr id="34" name="타원 33">
              <a:extLst>
                <a:ext uri="{FF2B5EF4-FFF2-40B4-BE49-F238E27FC236}">
                  <a16:creationId xmlns:a16="http://schemas.microsoft.com/office/drawing/2014/main" id="{F65871E0-8DFA-187C-0852-0832C0CEDFF4}"/>
                </a:ext>
              </a:extLst>
            </p:cNvPr>
            <p:cNvSpPr/>
            <p:nvPr/>
          </p:nvSpPr>
          <p:spPr>
            <a:xfrm>
              <a:off x="1355472" y="2124185"/>
              <a:ext cx="2454279" cy="2334763"/>
            </a:xfrm>
            <a:prstGeom prst="ellipse">
              <a:avLst/>
            </a:prstGeom>
            <a:solidFill>
              <a:srgbClr val="F9EA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latin typeface="배달의민족 도현" panose="020B0600000101010101" pitchFamily="50" charset="-127"/>
                <a:ea typeface="배달의민족 도현" panose="020B0600000101010101" pitchFamily="50" charset="-127"/>
              </a:endParaRPr>
            </a:p>
          </p:txBody>
        </p:sp>
        <p:sp>
          <p:nvSpPr>
            <p:cNvPr id="31" name="TextBox 30">
              <a:extLst>
                <a:ext uri="{FF2B5EF4-FFF2-40B4-BE49-F238E27FC236}">
                  <a16:creationId xmlns:a16="http://schemas.microsoft.com/office/drawing/2014/main" id="{52558A3B-6DA9-10F0-C24E-6238829126F0}"/>
                </a:ext>
              </a:extLst>
            </p:cNvPr>
            <p:cNvSpPr txBox="1"/>
            <p:nvPr/>
          </p:nvSpPr>
          <p:spPr>
            <a:xfrm>
              <a:off x="1679343" y="2653569"/>
              <a:ext cx="1773241" cy="1323439"/>
            </a:xfrm>
            <a:prstGeom prst="rect">
              <a:avLst/>
            </a:prstGeom>
            <a:noFill/>
          </p:spPr>
          <p:txBody>
            <a:bodyPr wrap="none" rtlCol="0">
              <a:spAutoFit/>
            </a:bodyPr>
            <a:lstStyle/>
            <a:p>
              <a:pPr algn="ctr"/>
              <a:r>
                <a:rPr lang="ko-KR" altLang="en-US" sz="2000" b="1" spc="-300" dirty="0">
                  <a:solidFill>
                    <a:srgbClr val="C00000"/>
                  </a:solidFill>
                  <a:latin typeface="배달의민족 도현" panose="020B0600000101010101" pitchFamily="50" charset="-127"/>
                  <a:ea typeface="배달의민족 도현" panose="020B0600000101010101" pitchFamily="50" charset="-127"/>
                </a:rPr>
                <a:t>수위 감지 센서를 </a:t>
              </a:r>
              <a:endParaRPr lang="en-US" altLang="ko-KR" sz="2000" b="1" spc="-300" dirty="0">
                <a:solidFill>
                  <a:srgbClr val="C00000"/>
                </a:solidFill>
                <a:latin typeface="배달의민족 도현" panose="020B0600000101010101" pitchFamily="50" charset="-127"/>
                <a:ea typeface="배달의민족 도현" panose="020B0600000101010101" pitchFamily="50" charset="-127"/>
              </a:endParaRPr>
            </a:p>
            <a:p>
              <a:pPr algn="ctr"/>
              <a:r>
                <a:rPr lang="ko-KR" altLang="en-US" sz="2000" b="1" spc="-300" dirty="0">
                  <a:solidFill>
                    <a:srgbClr val="C00000"/>
                  </a:solidFill>
                  <a:latin typeface="배달의민족 도현" panose="020B0600000101010101" pitchFamily="50" charset="-127"/>
                  <a:ea typeface="배달의민족 도현" panose="020B0600000101010101" pitchFamily="50" charset="-127"/>
                </a:rPr>
                <a:t>활용한 </a:t>
              </a:r>
              <a:endParaRPr lang="en-US" altLang="ko-KR" sz="2000" b="1" spc="-300" dirty="0">
                <a:solidFill>
                  <a:srgbClr val="C00000"/>
                </a:solidFill>
                <a:latin typeface="배달의민족 도현" panose="020B0600000101010101" pitchFamily="50" charset="-127"/>
                <a:ea typeface="배달의민족 도현" panose="020B0600000101010101" pitchFamily="50" charset="-127"/>
              </a:endParaRPr>
            </a:p>
            <a:p>
              <a:pPr algn="ctr"/>
              <a:r>
                <a:rPr lang="ko-KR" altLang="en-US" sz="2000" b="1" spc="-300" dirty="0">
                  <a:solidFill>
                    <a:srgbClr val="C00000"/>
                  </a:solidFill>
                  <a:latin typeface="배달의민족 도현" panose="020B0600000101010101" pitchFamily="50" charset="-127"/>
                  <a:ea typeface="배달의민족 도현" panose="020B0600000101010101" pitchFamily="50" charset="-127"/>
                </a:rPr>
                <a:t>맨홀 배수구 내의 </a:t>
              </a:r>
              <a:endParaRPr lang="en-US" altLang="ko-KR" sz="2000" b="1" spc="-300" dirty="0">
                <a:solidFill>
                  <a:srgbClr val="C00000"/>
                </a:solidFill>
                <a:latin typeface="배달의민족 도현" panose="020B0600000101010101" pitchFamily="50" charset="-127"/>
                <a:ea typeface="배달의민족 도현" panose="020B0600000101010101" pitchFamily="50" charset="-127"/>
              </a:endParaRPr>
            </a:p>
            <a:p>
              <a:pPr algn="ctr"/>
              <a:r>
                <a:rPr lang="ko-KR" altLang="en-US" sz="2000" b="1" spc="-300" dirty="0">
                  <a:solidFill>
                    <a:srgbClr val="C00000"/>
                  </a:solidFill>
                  <a:latin typeface="배달의민족 도현" panose="020B0600000101010101" pitchFamily="50" charset="-127"/>
                  <a:ea typeface="배달의민족 도현" panose="020B0600000101010101" pitchFamily="50" charset="-127"/>
                </a:rPr>
                <a:t>수위 감지</a:t>
              </a:r>
            </a:p>
          </p:txBody>
        </p:sp>
      </p:grpSp>
      <p:pic>
        <p:nvPicPr>
          <p:cNvPr id="4" name="그림 3">
            <a:extLst>
              <a:ext uri="{FF2B5EF4-FFF2-40B4-BE49-F238E27FC236}">
                <a16:creationId xmlns:a16="http://schemas.microsoft.com/office/drawing/2014/main" id="{985A2A92-3FCD-32DF-C013-B0DF16DDD61F}"/>
              </a:ext>
            </a:extLst>
          </p:cNvPr>
          <p:cNvPicPr>
            <a:picLocks noChangeAspect="1"/>
          </p:cNvPicPr>
          <p:nvPr/>
        </p:nvPicPr>
        <p:blipFill>
          <a:blip r:embed="rId5"/>
          <a:stretch>
            <a:fillRect/>
          </a:stretch>
        </p:blipFill>
        <p:spPr>
          <a:xfrm>
            <a:off x="9949114" y="6581235"/>
            <a:ext cx="2219341" cy="228602"/>
          </a:xfrm>
          <a:prstGeom prst="rect">
            <a:avLst/>
          </a:prstGeom>
        </p:spPr>
      </p:pic>
    </p:spTree>
    <p:extLst>
      <p:ext uri="{BB962C8B-B14F-4D97-AF65-F5344CB8AC3E}">
        <p14:creationId xmlns:p14="http://schemas.microsoft.com/office/powerpoint/2010/main" val="1497141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직사각형 155">
            <a:extLst>
              <a:ext uri="{FF2B5EF4-FFF2-40B4-BE49-F238E27FC236}">
                <a16:creationId xmlns:a16="http://schemas.microsoft.com/office/drawing/2014/main" id="{B0B10F33-7984-A74D-B12C-50B99606445F}"/>
              </a:ext>
            </a:extLst>
          </p:cNvPr>
          <p:cNvSpPr/>
          <p:nvPr/>
        </p:nvSpPr>
        <p:spPr>
          <a:xfrm>
            <a:off x="673767" y="982553"/>
            <a:ext cx="5439972" cy="522332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배달의민족 도현" panose="020B0600000101010101" pitchFamily="50" charset="-127"/>
              <a:ea typeface="배달의민족 도현" panose="020B0600000101010101" pitchFamily="50" charset="-127"/>
            </a:endParaRPr>
          </a:p>
        </p:txBody>
      </p:sp>
      <p:sp>
        <p:nvSpPr>
          <p:cNvPr id="155" name="직사각형 154">
            <a:extLst>
              <a:ext uri="{FF2B5EF4-FFF2-40B4-BE49-F238E27FC236}">
                <a16:creationId xmlns:a16="http://schemas.microsoft.com/office/drawing/2014/main" id="{8023B2B8-4DF5-63E7-C1A8-5FD30AC3E81B}"/>
              </a:ext>
            </a:extLst>
          </p:cNvPr>
          <p:cNvSpPr/>
          <p:nvPr/>
        </p:nvSpPr>
        <p:spPr>
          <a:xfrm>
            <a:off x="6392766" y="982553"/>
            <a:ext cx="5465375" cy="5223329"/>
          </a:xfrm>
          <a:prstGeom prst="rect">
            <a:avLst/>
          </a:prstGeom>
          <a:solidFill>
            <a:srgbClr val="F9EA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배달의민족 도현" panose="020B0600000101010101" pitchFamily="50" charset="-127"/>
              <a:ea typeface="배달의민족 도현" panose="020B0600000101010101" pitchFamily="50" charset="-127"/>
            </a:endParaRPr>
          </a:p>
        </p:txBody>
      </p:sp>
      <p:sp>
        <p:nvSpPr>
          <p:cNvPr id="2" name="직사각형 1">
            <a:extLst>
              <a:ext uri="{FF2B5EF4-FFF2-40B4-BE49-F238E27FC236}">
                <a16:creationId xmlns:a16="http://schemas.microsoft.com/office/drawing/2014/main" id="{86CB7179-2CED-698E-7489-BBBF08E1F63C}"/>
              </a:ext>
            </a:extLst>
          </p:cNvPr>
          <p:cNvSpPr/>
          <p:nvPr/>
        </p:nvSpPr>
        <p:spPr>
          <a:xfrm>
            <a:off x="272715" y="0"/>
            <a:ext cx="802105" cy="7527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14" name="TextBox 13">
            <a:extLst>
              <a:ext uri="{FF2B5EF4-FFF2-40B4-BE49-F238E27FC236}">
                <a16:creationId xmlns:a16="http://schemas.microsoft.com/office/drawing/2014/main" id="{585CB8CC-3A31-B4C9-5CF7-C3A5F9339B34}"/>
              </a:ext>
            </a:extLst>
          </p:cNvPr>
          <p:cNvSpPr txBox="1"/>
          <p:nvPr/>
        </p:nvSpPr>
        <p:spPr>
          <a:xfrm>
            <a:off x="1176688" y="460629"/>
            <a:ext cx="3602268"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1.2 Solution &amp; Product</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grpSp>
        <p:nvGrpSpPr>
          <p:cNvPr id="127" name="그룹 126">
            <a:extLst>
              <a:ext uri="{FF2B5EF4-FFF2-40B4-BE49-F238E27FC236}">
                <a16:creationId xmlns:a16="http://schemas.microsoft.com/office/drawing/2014/main" id="{266219A8-5AC5-F1C7-8EB5-F4A1F65C4B7D}"/>
              </a:ext>
            </a:extLst>
          </p:cNvPr>
          <p:cNvGrpSpPr/>
          <p:nvPr/>
        </p:nvGrpSpPr>
        <p:grpSpPr>
          <a:xfrm>
            <a:off x="7125780" y="1410778"/>
            <a:ext cx="3744000" cy="3744579"/>
            <a:chOff x="1077653" y="1696423"/>
            <a:chExt cx="3744000" cy="3744579"/>
          </a:xfrm>
        </p:grpSpPr>
        <p:sp>
          <p:nvSpPr>
            <p:cNvPr id="4" name="AutoShape 2" descr="사각 및 원형 주조 연성 주철 맨홀 커버 BMC SMC 맨홀 커버">
              <a:extLst>
                <a:ext uri="{FF2B5EF4-FFF2-40B4-BE49-F238E27FC236}">
                  <a16:creationId xmlns:a16="http://schemas.microsoft.com/office/drawing/2014/main" id="{E347A1AB-B00F-3EC4-ACF2-BA79344423F0}"/>
                </a:ext>
              </a:extLst>
            </p:cNvPr>
            <p:cNvSpPr>
              <a:spLocks noChangeAspect="1" noChangeArrowheads="1"/>
            </p:cNvSpPr>
            <p:nvPr/>
          </p:nvSpPr>
          <p:spPr bwMode="auto">
            <a:xfrm>
              <a:off x="2855822" y="314597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grpSp>
          <p:nvGrpSpPr>
            <p:cNvPr id="21" name="그룹 20">
              <a:extLst>
                <a:ext uri="{FF2B5EF4-FFF2-40B4-BE49-F238E27FC236}">
                  <a16:creationId xmlns:a16="http://schemas.microsoft.com/office/drawing/2014/main" id="{C594D0D9-DA98-4288-3089-6ECFF3ABACB1}"/>
                </a:ext>
              </a:extLst>
            </p:cNvPr>
            <p:cNvGrpSpPr/>
            <p:nvPr/>
          </p:nvGrpSpPr>
          <p:grpSpPr>
            <a:xfrm>
              <a:off x="1080264" y="1700466"/>
              <a:ext cx="3738557" cy="180000"/>
              <a:chOff x="4002465" y="1415162"/>
              <a:chExt cx="4096859" cy="541047"/>
            </a:xfrm>
          </p:grpSpPr>
          <p:pic>
            <p:nvPicPr>
              <p:cNvPr id="8" name="그림 7">
                <a:extLst>
                  <a:ext uri="{FF2B5EF4-FFF2-40B4-BE49-F238E27FC236}">
                    <a16:creationId xmlns:a16="http://schemas.microsoft.com/office/drawing/2014/main" id="{F51EA712-10A0-4DCD-D1D9-721DC763B1F9}"/>
                  </a:ext>
                </a:extLst>
              </p:cNvPr>
              <p:cNvPicPr>
                <a:picLocks noChangeAspect="1"/>
              </p:cNvPicPr>
              <p:nvPr/>
            </p:nvPicPr>
            <p:blipFill>
              <a:blip r:embed="rId3"/>
              <a:stretch>
                <a:fillRect/>
              </a:stretch>
            </p:blipFill>
            <p:spPr>
              <a:xfrm>
                <a:off x="4687453" y="1415162"/>
                <a:ext cx="687945" cy="540000"/>
              </a:xfrm>
              <a:prstGeom prst="rect">
                <a:avLst/>
              </a:prstGeom>
            </p:spPr>
          </p:pic>
          <p:pic>
            <p:nvPicPr>
              <p:cNvPr id="10" name="그림 9">
                <a:extLst>
                  <a:ext uri="{FF2B5EF4-FFF2-40B4-BE49-F238E27FC236}">
                    <a16:creationId xmlns:a16="http://schemas.microsoft.com/office/drawing/2014/main" id="{ADC23BC7-ADD0-E81C-37CC-31BA621ACE91}"/>
                  </a:ext>
                </a:extLst>
              </p:cNvPr>
              <p:cNvPicPr>
                <a:picLocks noChangeAspect="1"/>
              </p:cNvPicPr>
              <p:nvPr/>
            </p:nvPicPr>
            <p:blipFill>
              <a:blip r:embed="rId3"/>
              <a:stretch>
                <a:fillRect/>
              </a:stretch>
            </p:blipFill>
            <p:spPr>
              <a:xfrm>
                <a:off x="6061523" y="1416209"/>
                <a:ext cx="687945" cy="540000"/>
              </a:xfrm>
              <a:prstGeom prst="rect">
                <a:avLst/>
              </a:prstGeom>
            </p:spPr>
          </p:pic>
          <p:pic>
            <p:nvPicPr>
              <p:cNvPr id="13" name="그림 12">
                <a:extLst>
                  <a:ext uri="{FF2B5EF4-FFF2-40B4-BE49-F238E27FC236}">
                    <a16:creationId xmlns:a16="http://schemas.microsoft.com/office/drawing/2014/main" id="{36F2E892-A90E-B451-4D49-732E6A00B9AC}"/>
                  </a:ext>
                </a:extLst>
              </p:cNvPr>
              <p:cNvPicPr>
                <a:picLocks noChangeAspect="1"/>
              </p:cNvPicPr>
              <p:nvPr/>
            </p:nvPicPr>
            <p:blipFill>
              <a:blip r:embed="rId3"/>
              <a:stretch>
                <a:fillRect/>
              </a:stretch>
            </p:blipFill>
            <p:spPr>
              <a:xfrm>
                <a:off x="4002465" y="1415162"/>
                <a:ext cx="687945" cy="540001"/>
              </a:xfrm>
              <a:prstGeom prst="rect">
                <a:avLst/>
              </a:prstGeom>
            </p:spPr>
          </p:pic>
          <p:pic>
            <p:nvPicPr>
              <p:cNvPr id="16" name="그림 15">
                <a:extLst>
                  <a:ext uri="{FF2B5EF4-FFF2-40B4-BE49-F238E27FC236}">
                    <a16:creationId xmlns:a16="http://schemas.microsoft.com/office/drawing/2014/main" id="{8E34D852-B195-4AC2-D999-B6E15A28ACBA}"/>
                  </a:ext>
                </a:extLst>
              </p:cNvPr>
              <p:cNvPicPr>
                <a:picLocks noChangeAspect="1"/>
              </p:cNvPicPr>
              <p:nvPr/>
            </p:nvPicPr>
            <p:blipFill>
              <a:blip r:embed="rId3"/>
              <a:stretch>
                <a:fillRect/>
              </a:stretch>
            </p:blipFill>
            <p:spPr>
              <a:xfrm>
                <a:off x="5375398" y="1416208"/>
                <a:ext cx="687945" cy="540000"/>
              </a:xfrm>
              <a:prstGeom prst="rect">
                <a:avLst/>
              </a:prstGeom>
            </p:spPr>
          </p:pic>
          <p:pic>
            <p:nvPicPr>
              <p:cNvPr id="18" name="그림 17">
                <a:extLst>
                  <a:ext uri="{FF2B5EF4-FFF2-40B4-BE49-F238E27FC236}">
                    <a16:creationId xmlns:a16="http://schemas.microsoft.com/office/drawing/2014/main" id="{B60AC33D-044D-5502-ED8C-A66291CABB91}"/>
                  </a:ext>
                </a:extLst>
              </p:cNvPr>
              <p:cNvPicPr>
                <a:picLocks noChangeAspect="1"/>
              </p:cNvPicPr>
              <p:nvPr/>
            </p:nvPicPr>
            <p:blipFill>
              <a:blip r:embed="rId3"/>
              <a:stretch>
                <a:fillRect/>
              </a:stretch>
            </p:blipFill>
            <p:spPr>
              <a:xfrm>
                <a:off x="6743410" y="1415162"/>
                <a:ext cx="687945" cy="540000"/>
              </a:xfrm>
              <a:prstGeom prst="rect">
                <a:avLst/>
              </a:prstGeom>
            </p:spPr>
          </p:pic>
          <p:pic>
            <p:nvPicPr>
              <p:cNvPr id="19" name="그림 18">
                <a:extLst>
                  <a:ext uri="{FF2B5EF4-FFF2-40B4-BE49-F238E27FC236}">
                    <a16:creationId xmlns:a16="http://schemas.microsoft.com/office/drawing/2014/main" id="{94809511-E210-5EF9-3BDA-226BB483F3E1}"/>
                  </a:ext>
                </a:extLst>
              </p:cNvPr>
              <p:cNvPicPr>
                <a:picLocks noChangeAspect="1"/>
              </p:cNvPicPr>
              <p:nvPr/>
            </p:nvPicPr>
            <p:blipFill>
              <a:blip r:embed="rId3"/>
              <a:stretch>
                <a:fillRect/>
              </a:stretch>
            </p:blipFill>
            <p:spPr>
              <a:xfrm>
                <a:off x="7411379" y="1415162"/>
                <a:ext cx="687945" cy="540000"/>
              </a:xfrm>
              <a:prstGeom prst="rect">
                <a:avLst/>
              </a:prstGeom>
            </p:spPr>
          </p:pic>
        </p:grpSp>
        <p:grpSp>
          <p:nvGrpSpPr>
            <p:cNvPr id="47" name="그룹 46">
              <a:extLst>
                <a:ext uri="{FF2B5EF4-FFF2-40B4-BE49-F238E27FC236}">
                  <a16:creationId xmlns:a16="http://schemas.microsoft.com/office/drawing/2014/main" id="{0CC7C0D5-3DB1-4FEC-5F9A-1EAA3B82FF79}"/>
                </a:ext>
              </a:extLst>
            </p:cNvPr>
            <p:cNvGrpSpPr/>
            <p:nvPr/>
          </p:nvGrpSpPr>
          <p:grpSpPr>
            <a:xfrm rot="16200000">
              <a:off x="-662972" y="3480504"/>
              <a:ext cx="3672000" cy="180000"/>
              <a:chOff x="3996500" y="1415161"/>
              <a:chExt cx="4102824" cy="541048"/>
            </a:xfrm>
          </p:grpSpPr>
          <p:pic>
            <p:nvPicPr>
              <p:cNvPr id="48" name="그림 47">
                <a:extLst>
                  <a:ext uri="{FF2B5EF4-FFF2-40B4-BE49-F238E27FC236}">
                    <a16:creationId xmlns:a16="http://schemas.microsoft.com/office/drawing/2014/main" id="{42689721-DF8A-09CB-8BD9-ABDB73577398}"/>
                  </a:ext>
                </a:extLst>
              </p:cNvPr>
              <p:cNvPicPr>
                <a:picLocks noChangeAspect="1"/>
              </p:cNvPicPr>
              <p:nvPr/>
            </p:nvPicPr>
            <p:blipFill>
              <a:blip r:embed="rId3"/>
              <a:stretch>
                <a:fillRect/>
              </a:stretch>
            </p:blipFill>
            <p:spPr>
              <a:xfrm>
                <a:off x="4682284" y="1415161"/>
                <a:ext cx="687945" cy="540000"/>
              </a:xfrm>
              <a:prstGeom prst="rect">
                <a:avLst/>
              </a:prstGeom>
            </p:spPr>
          </p:pic>
          <p:pic>
            <p:nvPicPr>
              <p:cNvPr id="49" name="그림 48">
                <a:extLst>
                  <a:ext uri="{FF2B5EF4-FFF2-40B4-BE49-F238E27FC236}">
                    <a16:creationId xmlns:a16="http://schemas.microsoft.com/office/drawing/2014/main" id="{4ACF9E20-733F-EAD6-A27E-CF441F1CFAF7}"/>
                  </a:ext>
                </a:extLst>
              </p:cNvPr>
              <p:cNvPicPr>
                <a:picLocks noChangeAspect="1"/>
              </p:cNvPicPr>
              <p:nvPr/>
            </p:nvPicPr>
            <p:blipFill>
              <a:blip r:embed="rId3"/>
              <a:stretch>
                <a:fillRect/>
              </a:stretch>
            </p:blipFill>
            <p:spPr>
              <a:xfrm>
                <a:off x="6056354" y="1416209"/>
                <a:ext cx="687945" cy="540000"/>
              </a:xfrm>
              <a:prstGeom prst="rect">
                <a:avLst/>
              </a:prstGeom>
            </p:spPr>
          </p:pic>
          <p:pic>
            <p:nvPicPr>
              <p:cNvPr id="50" name="그림 49">
                <a:extLst>
                  <a:ext uri="{FF2B5EF4-FFF2-40B4-BE49-F238E27FC236}">
                    <a16:creationId xmlns:a16="http://schemas.microsoft.com/office/drawing/2014/main" id="{635E2EE6-2500-37D7-8F58-3A3742895A62}"/>
                  </a:ext>
                </a:extLst>
              </p:cNvPr>
              <p:cNvPicPr>
                <a:picLocks noChangeAspect="1"/>
              </p:cNvPicPr>
              <p:nvPr/>
            </p:nvPicPr>
            <p:blipFill>
              <a:blip r:embed="rId3"/>
              <a:stretch>
                <a:fillRect/>
              </a:stretch>
            </p:blipFill>
            <p:spPr>
              <a:xfrm>
                <a:off x="3996500" y="1415162"/>
                <a:ext cx="687945" cy="540000"/>
              </a:xfrm>
              <a:prstGeom prst="rect">
                <a:avLst/>
              </a:prstGeom>
            </p:spPr>
          </p:pic>
          <p:pic>
            <p:nvPicPr>
              <p:cNvPr id="51" name="그림 50">
                <a:extLst>
                  <a:ext uri="{FF2B5EF4-FFF2-40B4-BE49-F238E27FC236}">
                    <a16:creationId xmlns:a16="http://schemas.microsoft.com/office/drawing/2014/main" id="{F155DEAE-E470-37F9-348A-C698E9904205}"/>
                  </a:ext>
                </a:extLst>
              </p:cNvPr>
              <p:cNvPicPr>
                <a:picLocks noChangeAspect="1"/>
              </p:cNvPicPr>
              <p:nvPr/>
            </p:nvPicPr>
            <p:blipFill>
              <a:blip r:embed="rId3"/>
              <a:stretch>
                <a:fillRect/>
              </a:stretch>
            </p:blipFill>
            <p:spPr>
              <a:xfrm>
                <a:off x="5370229" y="1416208"/>
                <a:ext cx="687945" cy="540000"/>
              </a:xfrm>
              <a:prstGeom prst="rect">
                <a:avLst/>
              </a:prstGeom>
            </p:spPr>
          </p:pic>
          <p:pic>
            <p:nvPicPr>
              <p:cNvPr id="52" name="그림 51">
                <a:extLst>
                  <a:ext uri="{FF2B5EF4-FFF2-40B4-BE49-F238E27FC236}">
                    <a16:creationId xmlns:a16="http://schemas.microsoft.com/office/drawing/2014/main" id="{754AF4EC-485F-F562-2282-37FFCB5D0F1A}"/>
                  </a:ext>
                </a:extLst>
              </p:cNvPr>
              <p:cNvPicPr>
                <a:picLocks noChangeAspect="1"/>
              </p:cNvPicPr>
              <p:nvPr/>
            </p:nvPicPr>
            <p:blipFill>
              <a:blip r:embed="rId3"/>
              <a:stretch>
                <a:fillRect/>
              </a:stretch>
            </p:blipFill>
            <p:spPr>
              <a:xfrm>
                <a:off x="6743410" y="1415162"/>
                <a:ext cx="687945" cy="540000"/>
              </a:xfrm>
              <a:prstGeom prst="rect">
                <a:avLst/>
              </a:prstGeom>
            </p:spPr>
          </p:pic>
          <p:pic>
            <p:nvPicPr>
              <p:cNvPr id="53" name="그림 52">
                <a:extLst>
                  <a:ext uri="{FF2B5EF4-FFF2-40B4-BE49-F238E27FC236}">
                    <a16:creationId xmlns:a16="http://schemas.microsoft.com/office/drawing/2014/main" id="{B3BD7B37-DA16-6427-3FE2-E1C80915E0CC}"/>
                  </a:ext>
                </a:extLst>
              </p:cNvPr>
              <p:cNvPicPr>
                <a:picLocks noChangeAspect="1"/>
              </p:cNvPicPr>
              <p:nvPr/>
            </p:nvPicPr>
            <p:blipFill>
              <a:blip r:embed="rId3"/>
              <a:stretch>
                <a:fillRect/>
              </a:stretch>
            </p:blipFill>
            <p:spPr>
              <a:xfrm>
                <a:off x="7411379" y="1415162"/>
                <a:ext cx="687945" cy="540000"/>
              </a:xfrm>
              <a:prstGeom prst="rect">
                <a:avLst/>
              </a:prstGeom>
            </p:spPr>
          </p:pic>
        </p:grpSp>
        <p:grpSp>
          <p:nvGrpSpPr>
            <p:cNvPr id="54" name="그룹 53">
              <a:extLst>
                <a:ext uri="{FF2B5EF4-FFF2-40B4-BE49-F238E27FC236}">
                  <a16:creationId xmlns:a16="http://schemas.microsoft.com/office/drawing/2014/main" id="{8C7BD7D2-914E-51BC-3EC6-6F38644B08FF}"/>
                </a:ext>
              </a:extLst>
            </p:cNvPr>
            <p:cNvGrpSpPr/>
            <p:nvPr/>
          </p:nvGrpSpPr>
          <p:grpSpPr>
            <a:xfrm rot="16200000">
              <a:off x="2890558" y="3442423"/>
              <a:ext cx="3672000" cy="180000"/>
              <a:chOff x="3996500" y="1415161"/>
              <a:chExt cx="4102824" cy="541048"/>
            </a:xfrm>
          </p:grpSpPr>
          <p:pic>
            <p:nvPicPr>
              <p:cNvPr id="55" name="그림 54">
                <a:extLst>
                  <a:ext uri="{FF2B5EF4-FFF2-40B4-BE49-F238E27FC236}">
                    <a16:creationId xmlns:a16="http://schemas.microsoft.com/office/drawing/2014/main" id="{4A133614-4011-DED7-8E07-A63761B08B3A}"/>
                  </a:ext>
                </a:extLst>
              </p:cNvPr>
              <p:cNvPicPr>
                <a:picLocks noChangeAspect="1"/>
              </p:cNvPicPr>
              <p:nvPr/>
            </p:nvPicPr>
            <p:blipFill>
              <a:blip r:embed="rId3"/>
              <a:stretch>
                <a:fillRect/>
              </a:stretch>
            </p:blipFill>
            <p:spPr>
              <a:xfrm>
                <a:off x="4682284" y="1415161"/>
                <a:ext cx="687945" cy="540000"/>
              </a:xfrm>
              <a:prstGeom prst="rect">
                <a:avLst/>
              </a:prstGeom>
            </p:spPr>
          </p:pic>
          <p:pic>
            <p:nvPicPr>
              <p:cNvPr id="56" name="그림 55">
                <a:extLst>
                  <a:ext uri="{FF2B5EF4-FFF2-40B4-BE49-F238E27FC236}">
                    <a16:creationId xmlns:a16="http://schemas.microsoft.com/office/drawing/2014/main" id="{19A1A2E2-7920-974A-8E49-3A10D799A4DC}"/>
                  </a:ext>
                </a:extLst>
              </p:cNvPr>
              <p:cNvPicPr>
                <a:picLocks noChangeAspect="1"/>
              </p:cNvPicPr>
              <p:nvPr/>
            </p:nvPicPr>
            <p:blipFill>
              <a:blip r:embed="rId3"/>
              <a:stretch>
                <a:fillRect/>
              </a:stretch>
            </p:blipFill>
            <p:spPr>
              <a:xfrm>
                <a:off x="6056354" y="1416209"/>
                <a:ext cx="687945" cy="540000"/>
              </a:xfrm>
              <a:prstGeom prst="rect">
                <a:avLst/>
              </a:prstGeom>
            </p:spPr>
          </p:pic>
          <p:pic>
            <p:nvPicPr>
              <p:cNvPr id="57" name="그림 56">
                <a:extLst>
                  <a:ext uri="{FF2B5EF4-FFF2-40B4-BE49-F238E27FC236}">
                    <a16:creationId xmlns:a16="http://schemas.microsoft.com/office/drawing/2014/main" id="{013A2F0E-A40C-E3E6-BB4A-DBECE472F4FB}"/>
                  </a:ext>
                </a:extLst>
              </p:cNvPr>
              <p:cNvPicPr>
                <a:picLocks noChangeAspect="1"/>
              </p:cNvPicPr>
              <p:nvPr/>
            </p:nvPicPr>
            <p:blipFill>
              <a:blip r:embed="rId3"/>
              <a:stretch>
                <a:fillRect/>
              </a:stretch>
            </p:blipFill>
            <p:spPr>
              <a:xfrm>
                <a:off x="3996500" y="1415162"/>
                <a:ext cx="687945" cy="540000"/>
              </a:xfrm>
              <a:prstGeom prst="rect">
                <a:avLst/>
              </a:prstGeom>
            </p:spPr>
          </p:pic>
          <p:pic>
            <p:nvPicPr>
              <p:cNvPr id="58" name="그림 57">
                <a:extLst>
                  <a:ext uri="{FF2B5EF4-FFF2-40B4-BE49-F238E27FC236}">
                    <a16:creationId xmlns:a16="http://schemas.microsoft.com/office/drawing/2014/main" id="{FEBADE7D-AD71-456F-2B90-9C3B0466BD62}"/>
                  </a:ext>
                </a:extLst>
              </p:cNvPr>
              <p:cNvPicPr>
                <a:picLocks noChangeAspect="1"/>
              </p:cNvPicPr>
              <p:nvPr/>
            </p:nvPicPr>
            <p:blipFill>
              <a:blip r:embed="rId3"/>
              <a:stretch>
                <a:fillRect/>
              </a:stretch>
            </p:blipFill>
            <p:spPr>
              <a:xfrm>
                <a:off x="5370229" y="1416208"/>
                <a:ext cx="687945" cy="540000"/>
              </a:xfrm>
              <a:prstGeom prst="rect">
                <a:avLst/>
              </a:prstGeom>
            </p:spPr>
          </p:pic>
          <p:pic>
            <p:nvPicPr>
              <p:cNvPr id="59" name="그림 58">
                <a:extLst>
                  <a:ext uri="{FF2B5EF4-FFF2-40B4-BE49-F238E27FC236}">
                    <a16:creationId xmlns:a16="http://schemas.microsoft.com/office/drawing/2014/main" id="{FECF3263-91CA-8957-BE54-AD5DB7837653}"/>
                  </a:ext>
                </a:extLst>
              </p:cNvPr>
              <p:cNvPicPr>
                <a:picLocks noChangeAspect="1"/>
              </p:cNvPicPr>
              <p:nvPr/>
            </p:nvPicPr>
            <p:blipFill>
              <a:blip r:embed="rId3"/>
              <a:stretch>
                <a:fillRect/>
              </a:stretch>
            </p:blipFill>
            <p:spPr>
              <a:xfrm>
                <a:off x="6743410" y="1415162"/>
                <a:ext cx="687945" cy="540000"/>
              </a:xfrm>
              <a:prstGeom prst="rect">
                <a:avLst/>
              </a:prstGeom>
            </p:spPr>
          </p:pic>
          <p:pic>
            <p:nvPicPr>
              <p:cNvPr id="60" name="그림 59">
                <a:extLst>
                  <a:ext uri="{FF2B5EF4-FFF2-40B4-BE49-F238E27FC236}">
                    <a16:creationId xmlns:a16="http://schemas.microsoft.com/office/drawing/2014/main" id="{CBEE0062-1469-E1C9-66C6-98918033D96C}"/>
                  </a:ext>
                </a:extLst>
              </p:cNvPr>
              <p:cNvPicPr>
                <a:picLocks noChangeAspect="1"/>
              </p:cNvPicPr>
              <p:nvPr/>
            </p:nvPicPr>
            <p:blipFill>
              <a:blip r:embed="rId3"/>
              <a:stretch>
                <a:fillRect/>
              </a:stretch>
            </p:blipFill>
            <p:spPr>
              <a:xfrm>
                <a:off x="7411379" y="1415162"/>
                <a:ext cx="687945" cy="540000"/>
              </a:xfrm>
              <a:prstGeom prst="rect">
                <a:avLst/>
              </a:prstGeom>
            </p:spPr>
          </p:pic>
        </p:grpSp>
        <p:grpSp>
          <p:nvGrpSpPr>
            <p:cNvPr id="61" name="그룹 60">
              <a:extLst>
                <a:ext uri="{FF2B5EF4-FFF2-40B4-BE49-F238E27FC236}">
                  <a16:creationId xmlns:a16="http://schemas.microsoft.com/office/drawing/2014/main" id="{BD04DF60-7BEA-B85B-5700-4C95913D0740}"/>
                </a:ext>
              </a:extLst>
            </p:cNvPr>
            <p:cNvGrpSpPr/>
            <p:nvPr/>
          </p:nvGrpSpPr>
          <p:grpSpPr>
            <a:xfrm>
              <a:off x="1077653" y="5261002"/>
              <a:ext cx="3744000" cy="180000"/>
              <a:chOff x="3996500" y="1415162"/>
              <a:chExt cx="4102824" cy="541047"/>
            </a:xfrm>
          </p:grpSpPr>
          <p:pic>
            <p:nvPicPr>
              <p:cNvPr id="62" name="그림 61">
                <a:extLst>
                  <a:ext uri="{FF2B5EF4-FFF2-40B4-BE49-F238E27FC236}">
                    <a16:creationId xmlns:a16="http://schemas.microsoft.com/office/drawing/2014/main" id="{E1E9AB0A-0304-0C3C-013E-3AC48C95E2A0}"/>
                  </a:ext>
                </a:extLst>
              </p:cNvPr>
              <p:cNvPicPr>
                <a:picLocks noChangeAspect="1"/>
              </p:cNvPicPr>
              <p:nvPr/>
            </p:nvPicPr>
            <p:blipFill>
              <a:blip r:embed="rId3"/>
              <a:stretch>
                <a:fillRect/>
              </a:stretch>
            </p:blipFill>
            <p:spPr>
              <a:xfrm>
                <a:off x="4687453" y="1415162"/>
                <a:ext cx="687945" cy="540000"/>
              </a:xfrm>
              <a:prstGeom prst="rect">
                <a:avLst/>
              </a:prstGeom>
            </p:spPr>
          </p:pic>
          <p:pic>
            <p:nvPicPr>
              <p:cNvPr id="63" name="그림 62">
                <a:extLst>
                  <a:ext uri="{FF2B5EF4-FFF2-40B4-BE49-F238E27FC236}">
                    <a16:creationId xmlns:a16="http://schemas.microsoft.com/office/drawing/2014/main" id="{62A712A0-42FE-9541-77BC-253AFCBF8D46}"/>
                  </a:ext>
                </a:extLst>
              </p:cNvPr>
              <p:cNvPicPr>
                <a:picLocks noChangeAspect="1"/>
              </p:cNvPicPr>
              <p:nvPr/>
            </p:nvPicPr>
            <p:blipFill>
              <a:blip r:embed="rId3"/>
              <a:stretch>
                <a:fillRect/>
              </a:stretch>
            </p:blipFill>
            <p:spPr>
              <a:xfrm>
                <a:off x="6061523" y="1416209"/>
                <a:ext cx="687945" cy="540000"/>
              </a:xfrm>
              <a:prstGeom prst="rect">
                <a:avLst/>
              </a:prstGeom>
            </p:spPr>
          </p:pic>
          <p:pic>
            <p:nvPicPr>
              <p:cNvPr id="64" name="그림 63">
                <a:extLst>
                  <a:ext uri="{FF2B5EF4-FFF2-40B4-BE49-F238E27FC236}">
                    <a16:creationId xmlns:a16="http://schemas.microsoft.com/office/drawing/2014/main" id="{30CCAF3D-4033-AB7E-35C2-3FB969DFDB78}"/>
                  </a:ext>
                </a:extLst>
              </p:cNvPr>
              <p:cNvPicPr>
                <a:picLocks noChangeAspect="1"/>
              </p:cNvPicPr>
              <p:nvPr/>
            </p:nvPicPr>
            <p:blipFill>
              <a:blip r:embed="rId3"/>
              <a:stretch>
                <a:fillRect/>
              </a:stretch>
            </p:blipFill>
            <p:spPr>
              <a:xfrm>
                <a:off x="3996500" y="1415162"/>
                <a:ext cx="687945" cy="540000"/>
              </a:xfrm>
              <a:prstGeom prst="rect">
                <a:avLst/>
              </a:prstGeom>
            </p:spPr>
          </p:pic>
          <p:pic>
            <p:nvPicPr>
              <p:cNvPr id="65" name="그림 64">
                <a:extLst>
                  <a:ext uri="{FF2B5EF4-FFF2-40B4-BE49-F238E27FC236}">
                    <a16:creationId xmlns:a16="http://schemas.microsoft.com/office/drawing/2014/main" id="{9E1B0946-D524-0D48-1A11-753793B5F713}"/>
                  </a:ext>
                </a:extLst>
              </p:cNvPr>
              <p:cNvPicPr>
                <a:picLocks noChangeAspect="1"/>
              </p:cNvPicPr>
              <p:nvPr/>
            </p:nvPicPr>
            <p:blipFill>
              <a:blip r:embed="rId3"/>
              <a:stretch>
                <a:fillRect/>
              </a:stretch>
            </p:blipFill>
            <p:spPr>
              <a:xfrm>
                <a:off x="5375398" y="1416208"/>
                <a:ext cx="687945" cy="540000"/>
              </a:xfrm>
              <a:prstGeom prst="rect">
                <a:avLst/>
              </a:prstGeom>
            </p:spPr>
          </p:pic>
          <p:pic>
            <p:nvPicPr>
              <p:cNvPr id="66" name="그림 65">
                <a:extLst>
                  <a:ext uri="{FF2B5EF4-FFF2-40B4-BE49-F238E27FC236}">
                    <a16:creationId xmlns:a16="http://schemas.microsoft.com/office/drawing/2014/main" id="{C8D2C37A-4873-994C-4009-5E4AA1502791}"/>
                  </a:ext>
                </a:extLst>
              </p:cNvPr>
              <p:cNvPicPr>
                <a:picLocks noChangeAspect="1"/>
              </p:cNvPicPr>
              <p:nvPr/>
            </p:nvPicPr>
            <p:blipFill>
              <a:blip r:embed="rId3"/>
              <a:stretch>
                <a:fillRect/>
              </a:stretch>
            </p:blipFill>
            <p:spPr>
              <a:xfrm>
                <a:off x="6743410" y="1415162"/>
                <a:ext cx="687945" cy="540000"/>
              </a:xfrm>
              <a:prstGeom prst="rect">
                <a:avLst/>
              </a:prstGeom>
            </p:spPr>
          </p:pic>
          <p:pic>
            <p:nvPicPr>
              <p:cNvPr id="67" name="그림 66">
                <a:extLst>
                  <a:ext uri="{FF2B5EF4-FFF2-40B4-BE49-F238E27FC236}">
                    <a16:creationId xmlns:a16="http://schemas.microsoft.com/office/drawing/2014/main" id="{3F2AF75A-B1F7-15A8-EBF1-E962AB526FDF}"/>
                  </a:ext>
                </a:extLst>
              </p:cNvPr>
              <p:cNvPicPr>
                <a:picLocks noChangeAspect="1"/>
              </p:cNvPicPr>
              <p:nvPr/>
            </p:nvPicPr>
            <p:blipFill>
              <a:blip r:embed="rId3"/>
              <a:stretch>
                <a:fillRect/>
              </a:stretch>
            </p:blipFill>
            <p:spPr>
              <a:xfrm>
                <a:off x="7411379" y="1415162"/>
                <a:ext cx="687945" cy="540000"/>
              </a:xfrm>
              <a:prstGeom prst="rect">
                <a:avLst/>
              </a:prstGeom>
            </p:spPr>
          </p:pic>
        </p:grpSp>
      </p:grpSp>
      <p:grpSp>
        <p:nvGrpSpPr>
          <p:cNvPr id="128" name="그룹 127">
            <a:extLst>
              <a:ext uri="{FF2B5EF4-FFF2-40B4-BE49-F238E27FC236}">
                <a16:creationId xmlns:a16="http://schemas.microsoft.com/office/drawing/2014/main" id="{6E9CC88A-1B0C-614A-FB20-902C50E871CA}"/>
              </a:ext>
            </a:extLst>
          </p:cNvPr>
          <p:cNvGrpSpPr/>
          <p:nvPr/>
        </p:nvGrpSpPr>
        <p:grpSpPr>
          <a:xfrm>
            <a:off x="1520030" y="1411383"/>
            <a:ext cx="3747446" cy="3728582"/>
            <a:chOff x="5317105" y="2103598"/>
            <a:chExt cx="3747446" cy="3728582"/>
          </a:xfrm>
        </p:grpSpPr>
        <p:sp>
          <p:nvSpPr>
            <p:cNvPr id="71" name="AutoShape 2" descr="사각 및 원형 주조 연성 주철 맨홀 커버 BMC SMC 맨홀 커버">
              <a:extLst>
                <a:ext uri="{FF2B5EF4-FFF2-40B4-BE49-F238E27FC236}">
                  <a16:creationId xmlns:a16="http://schemas.microsoft.com/office/drawing/2014/main" id="{947AD122-19BC-0F48-41E3-3AF736784040}"/>
                </a:ext>
              </a:extLst>
            </p:cNvPr>
            <p:cNvSpPr>
              <a:spLocks noChangeAspect="1" noChangeArrowheads="1"/>
            </p:cNvSpPr>
            <p:nvPr/>
          </p:nvSpPr>
          <p:spPr bwMode="auto">
            <a:xfrm>
              <a:off x="7087115" y="35433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pic>
          <p:nvPicPr>
            <p:cNvPr id="72" name="그림 71">
              <a:extLst>
                <a:ext uri="{FF2B5EF4-FFF2-40B4-BE49-F238E27FC236}">
                  <a16:creationId xmlns:a16="http://schemas.microsoft.com/office/drawing/2014/main" id="{85C6C287-52A1-BE5F-7AD6-7D7CDC86B90D}"/>
                </a:ext>
              </a:extLst>
            </p:cNvPr>
            <p:cNvPicPr>
              <a:picLocks noChangeAspect="1"/>
            </p:cNvPicPr>
            <p:nvPr/>
          </p:nvPicPr>
          <p:blipFill rotWithShape="1">
            <a:blip r:embed="rId4"/>
            <a:srcRect l="12598" t="7851" r="13118" b="9830"/>
            <a:stretch/>
          </p:blipFill>
          <p:spPr>
            <a:xfrm>
              <a:off x="5493260" y="2226128"/>
              <a:ext cx="3423557" cy="3483410"/>
            </a:xfrm>
            <a:prstGeom prst="rect">
              <a:avLst/>
            </a:prstGeom>
          </p:spPr>
        </p:pic>
        <p:grpSp>
          <p:nvGrpSpPr>
            <p:cNvPr id="111" name="그룹 110">
              <a:extLst>
                <a:ext uri="{FF2B5EF4-FFF2-40B4-BE49-F238E27FC236}">
                  <a16:creationId xmlns:a16="http://schemas.microsoft.com/office/drawing/2014/main" id="{197F9634-6D23-8E86-DE82-BF58A2AF8B1E}"/>
                </a:ext>
              </a:extLst>
            </p:cNvPr>
            <p:cNvGrpSpPr/>
            <p:nvPr/>
          </p:nvGrpSpPr>
          <p:grpSpPr>
            <a:xfrm>
              <a:off x="5320711" y="2106230"/>
              <a:ext cx="183975" cy="3672000"/>
              <a:chOff x="10437262" y="1478041"/>
              <a:chExt cx="183975" cy="2931564"/>
            </a:xfrm>
          </p:grpSpPr>
          <p:pic>
            <p:nvPicPr>
              <p:cNvPr id="70" name="그림 69">
                <a:extLst>
                  <a:ext uri="{FF2B5EF4-FFF2-40B4-BE49-F238E27FC236}">
                    <a16:creationId xmlns:a16="http://schemas.microsoft.com/office/drawing/2014/main" id="{81C79F83-456E-3036-3221-158B5F5B3483}"/>
                  </a:ext>
                </a:extLst>
              </p:cNvPr>
              <p:cNvPicPr>
                <a:picLocks noChangeAspect="1"/>
              </p:cNvPicPr>
              <p:nvPr/>
            </p:nvPicPr>
            <p:blipFill>
              <a:blip r:embed="rId5"/>
              <a:stretch>
                <a:fillRect/>
              </a:stretch>
            </p:blipFill>
            <p:spPr>
              <a:xfrm rot="5400000" flipH="1">
                <a:off x="10163662" y="1755247"/>
                <a:ext cx="734411" cy="180000"/>
              </a:xfrm>
              <a:prstGeom prst="rect">
                <a:avLst/>
              </a:prstGeom>
            </p:spPr>
          </p:pic>
          <p:pic>
            <p:nvPicPr>
              <p:cNvPr id="101" name="그림 100">
                <a:extLst>
                  <a:ext uri="{FF2B5EF4-FFF2-40B4-BE49-F238E27FC236}">
                    <a16:creationId xmlns:a16="http://schemas.microsoft.com/office/drawing/2014/main" id="{DA41BC19-128F-C1D2-C812-98A2F4C0EAEA}"/>
                  </a:ext>
                </a:extLst>
              </p:cNvPr>
              <p:cNvPicPr>
                <a:picLocks noChangeAspect="1"/>
              </p:cNvPicPr>
              <p:nvPr/>
            </p:nvPicPr>
            <p:blipFill>
              <a:blip r:embed="rId5"/>
              <a:stretch>
                <a:fillRect/>
              </a:stretch>
            </p:blipFill>
            <p:spPr>
              <a:xfrm rot="5400000" flipH="1">
                <a:off x="10164031" y="2487556"/>
                <a:ext cx="734411" cy="180000"/>
              </a:xfrm>
              <a:prstGeom prst="rect">
                <a:avLst/>
              </a:prstGeom>
            </p:spPr>
          </p:pic>
          <p:pic>
            <p:nvPicPr>
              <p:cNvPr id="102" name="그림 101">
                <a:extLst>
                  <a:ext uri="{FF2B5EF4-FFF2-40B4-BE49-F238E27FC236}">
                    <a16:creationId xmlns:a16="http://schemas.microsoft.com/office/drawing/2014/main" id="{A0799A3C-CFCE-AEB2-057F-5EE74B8D08FB}"/>
                  </a:ext>
                </a:extLst>
              </p:cNvPr>
              <p:cNvPicPr>
                <a:picLocks noChangeAspect="1"/>
              </p:cNvPicPr>
              <p:nvPr/>
            </p:nvPicPr>
            <p:blipFill>
              <a:blip r:embed="rId5"/>
              <a:stretch>
                <a:fillRect/>
              </a:stretch>
            </p:blipFill>
            <p:spPr>
              <a:xfrm rot="5400000" flipH="1">
                <a:off x="10163662" y="3217989"/>
                <a:ext cx="734411" cy="180000"/>
              </a:xfrm>
              <a:prstGeom prst="rect">
                <a:avLst/>
              </a:prstGeom>
            </p:spPr>
          </p:pic>
          <p:pic>
            <p:nvPicPr>
              <p:cNvPr id="103" name="그림 102">
                <a:extLst>
                  <a:ext uri="{FF2B5EF4-FFF2-40B4-BE49-F238E27FC236}">
                    <a16:creationId xmlns:a16="http://schemas.microsoft.com/office/drawing/2014/main" id="{B7DC6031-5ABF-0052-A76C-F171CD2E2C7E}"/>
                  </a:ext>
                </a:extLst>
              </p:cNvPr>
              <p:cNvPicPr>
                <a:picLocks noChangeAspect="1"/>
              </p:cNvPicPr>
              <p:nvPr/>
            </p:nvPicPr>
            <p:blipFill>
              <a:blip r:embed="rId5"/>
              <a:stretch>
                <a:fillRect/>
              </a:stretch>
            </p:blipFill>
            <p:spPr>
              <a:xfrm rot="5400000" flipH="1">
                <a:off x="10160056" y="3952400"/>
                <a:ext cx="734411" cy="180000"/>
              </a:xfrm>
              <a:prstGeom prst="rect">
                <a:avLst/>
              </a:prstGeom>
            </p:spPr>
          </p:pic>
        </p:grpSp>
        <p:grpSp>
          <p:nvGrpSpPr>
            <p:cNvPr id="112" name="그룹 111">
              <a:extLst>
                <a:ext uri="{FF2B5EF4-FFF2-40B4-BE49-F238E27FC236}">
                  <a16:creationId xmlns:a16="http://schemas.microsoft.com/office/drawing/2014/main" id="{B3B5C581-F149-9E47-39E3-75065BB8F9A9}"/>
                </a:ext>
              </a:extLst>
            </p:cNvPr>
            <p:cNvGrpSpPr/>
            <p:nvPr/>
          </p:nvGrpSpPr>
          <p:grpSpPr>
            <a:xfrm>
              <a:off x="8877177" y="2131889"/>
              <a:ext cx="183975" cy="3672000"/>
              <a:chOff x="10437262" y="1478041"/>
              <a:chExt cx="183975" cy="2931564"/>
            </a:xfrm>
          </p:grpSpPr>
          <p:pic>
            <p:nvPicPr>
              <p:cNvPr id="113" name="그림 112">
                <a:extLst>
                  <a:ext uri="{FF2B5EF4-FFF2-40B4-BE49-F238E27FC236}">
                    <a16:creationId xmlns:a16="http://schemas.microsoft.com/office/drawing/2014/main" id="{1A00CAB5-D32A-51B0-CEF3-2537ABBE03AB}"/>
                  </a:ext>
                </a:extLst>
              </p:cNvPr>
              <p:cNvPicPr>
                <a:picLocks noChangeAspect="1"/>
              </p:cNvPicPr>
              <p:nvPr/>
            </p:nvPicPr>
            <p:blipFill>
              <a:blip r:embed="rId5"/>
              <a:stretch>
                <a:fillRect/>
              </a:stretch>
            </p:blipFill>
            <p:spPr>
              <a:xfrm rot="5400000" flipH="1">
                <a:off x="10163662" y="1755247"/>
                <a:ext cx="734411" cy="180000"/>
              </a:xfrm>
              <a:prstGeom prst="rect">
                <a:avLst/>
              </a:prstGeom>
            </p:spPr>
          </p:pic>
          <p:pic>
            <p:nvPicPr>
              <p:cNvPr id="114" name="그림 113">
                <a:extLst>
                  <a:ext uri="{FF2B5EF4-FFF2-40B4-BE49-F238E27FC236}">
                    <a16:creationId xmlns:a16="http://schemas.microsoft.com/office/drawing/2014/main" id="{5AA444D9-320A-2C45-0516-63A63AE91376}"/>
                  </a:ext>
                </a:extLst>
              </p:cNvPr>
              <p:cNvPicPr>
                <a:picLocks noChangeAspect="1"/>
              </p:cNvPicPr>
              <p:nvPr/>
            </p:nvPicPr>
            <p:blipFill>
              <a:blip r:embed="rId5"/>
              <a:stretch>
                <a:fillRect/>
              </a:stretch>
            </p:blipFill>
            <p:spPr>
              <a:xfrm rot="5400000" flipH="1">
                <a:off x="10164031" y="2487556"/>
                <a:ext cx="734411" cy="180000"/>
              </a:xfrm>
              <a:prstGeom prst="rect">
                <a:avLst/>
              </a:prstGeom>
            </p:spPr>
          </p:pic>
          <p:pic>
            <p:nvPicPr>
              <p:cNvPr id="115" name="그림 114">
                <a:extLst>
                  <a:ext uri="{FF2B5EF4-FFF2-40B4-BE49-F238E27FC236}">
                    <a16:creationId xmlns:a16="http://schemas.microsoft.com/office/drawing/2014/main" id="{D6365187-7BC2-7D82-2723-50E0AE67D3DA}"/>
                  </a:ext>
                </a:extLst>
              </p:cNvPr>
              <p:cNvPicPr>
                <a:picLocks noChangeAspect="1"/>
              </p:cNvPicPr>
              <p:nvPr/>
            </p:nvPicPr>
            <p:blipFill>
              <a:blip r:embed="rId5"/>
              <a:stretch>
                <a:fillRect/>
              </a:stretch>
            </p:blipFill>
            <p:spPr>
              <a:xfrm rot="5400000" flipH="1">
                <a:off x="10163662" y="3217989"/>
                <a:ext cx="734411" cy="180000"/>
              </a:xfrm>
              <a:prstGeom prst="rect">
                <a:avLst/>
              </a:prstGeom>
            </p:spPr>
          </p:pic>
          <p:pic>
            <p:nvPicPr>
              <p:cNvPr id="116" name="그림 115">
                <a:extLst>
                  <a:ext uri="{FF2B5EF4-FFF2-40B4-BE49-F238E27FC236}">
                    <a16:creationId xmlns:a16="http://schemas.microsoft.com/office/drawing/2014/main" id="{FCEEE9C4-2B42-2F5F-B18B-425AF599F398}"/>
                  </a:ext>
                </a:extLst>
              </p:cNvPr>
              <p:cNvPicPr>
                <a:picLocks noChangeAspect="1"/>
              </p:cNvPicPr>
              <p:nvPr/>
            </p:nvPicPr>
            <p:blipFill>
              <a:blip r:embed="rId5"/>
              <a:stretch>
                <a:fillRect/>
              </a:stretch>
            </p:blipFill>
            <p:spPr>
              <a:xfrm rot="5400000" flipH="1">
                <a:off x="10160056" y="3952400"/>
                <a:ext cx="734411" cy="180000"/>
              </a:xfrm>
              <a:prstGeom prst="rect">
                <a:avLst/>
              </a:prstGeom>
            </p:spPr>
          </p:pic>
        </p:grpSp>
        <p:grpSp>
          <p:nvGrpSpPr>
            <p:cNvPr id="117" name="그룹 116">
              <a:extLst>
                <a:ext uri="{FF2B5EF4-FFF2-40B4-BE49-F238E27FC236}">
                  <a16:creationId xmlns:a16="http://schemas.microsoft.com/office/drawing/2014/main" id="{C592ABB8-7125-5F2B-6E88-14A35A568C77}"/>
                </a:ext>
              </a:extLst>
            </p:cNvPr>
            <p:cNvGrpSpPr/>
            <p:nvPr/>
          </p:nvGrpSpPr>
          <p:grpSpPr>
            <a:xfrm rot="16200000">
              <a:off x="7118563" y="341586"/>
              <a:ext cx="183975" cy="3708000"/>
              <a:chOff x="10437262" y="1478041"/>
              <a:chExt cx="183975" cy="2931564"/>
            </a:xfrm>
          </p:grpSpPr>
          <p:pic>
            <p:nvPicPr>
              <p:cNvPr id="118" name="그림 117">
                <a:extLst>
                  <a:ext uri="{FF2B5EF4-FFF2-40B4-BE49-F238E27FC236}">
                    <a16:creationId xmlns:a16="http://schemas.microsoft.com/office/drawing/2014/main" id="{649412EA-B312-45A2-131D-9FC8E8448DC8}"/>
                  </a:ext>
                </a:extLst>
              </p:cNvPr>
              <p:cNvPicPr>
                <a:picLocks noChangeAspect="1"/>
              </p:cNvPicPr>
              <p:nvPr/>
            </p:nvPicPr>
            <p:blipFill>
              <a:blip r:embed="rId5"/>
              <a:stretch>
                <a:fillRect/>
              </a:stretch>
            </p:blipFill>
            <p:spPr>
              <a:xfrm rot="5400000" flipH="1">
                <a:off x="10163662" y="1755247"/>
                <a:ext cx="734411" cy="180000"/>
              </a:xfrm>
              <a:prstGeom prst="rect">
                <a:avLst/>
              </a:prstGeom>
            </p:spPr>
          </p:pic>
          <p:pic>
            <p:nvPicPr>
              <p:cNvPr id="119" name="그림 118">
                <a:extLst>
                  <a:ext uri="{FF2B5EF4-FFF2-40B4-BE49-F238E27FC236}">
                    <a16:creationId xmlns:a16="http://schemas.microsoft.com/office/drawing/2014/main" id="{CF42231F-C781-F1AB-5130-F6FD5FA84768}"/>
                  </a:ext>
                </a:extLst>
              </p:cNvPr>
              <p:cNvPicPr>
                <a:picLocks noChangeAspect="1"/>
              </p:cNvPicPr>
              <p:nvPr/>
            </p:nvPicPr>
            <p:blipFill>
              <a:blip r:embed="rId5"/>
              <a:stretch>
                <a:fillRect/>
              </a:stretch>
            </p:blipFill>
            <p:spPr>
              <a:xfrm rot="5400000" flipH="1">
                <a:off x="10164031" y="2487556"/>
                <a:ext cx="734411" cy="180000"/>
              </a:xfrm>
              <a:prstGeom prst="rect">
                <a:avLst/>
              </a:prstGeom>
            </p:spPr>
          </p:pic>
          <p:pic>
            <p:nvPicPr>
              <p:cNvPr id="120" name="그림 119">
                <a:extLst>
                  <a:ext uri="{FF2B5EF4-FFF2-40B4-BE49-F238E27FC236}">
                    <a16:creationId xmlns:a16="http://schemas.microsoft.com/office/drawing/2014/main" id="{2668453D-FD2F-73BE-B47C-0CE84F9B91DD}"/>
                  </a:ext>
                </a:extLst>
              </p:cNvPr>
              <p:cNvPicPr>
                <a:picLocks noChangeAspect="1"/>
              </p:cNvPicPr>
              <p:nvPr/>
            </p:nvPicPr>
            <p:blipFill>
              <a:blip r:embed="rId5"/>
              <a:stretch>
                <a:fillRect/>
              </a:stretch>
            </p:blipFill>
            <p:spPr>
              <a:xfrm rot="5400000" flipH="1">
                <a:off x="10163662" y="3217989"/>
                <a:ext cx="734411" cy="180000"/>
              </a:xfrm>
              <a:prstGeom prst="rect">
                <a:avLst/>
              </a:prstGeom>
            </p:spPr>
          </p:pic>
          <p:pic>
            <p:nvPicPr>
              <p:cNvPr id="121" name="그림 120">
                <a:extLst>
                  <a:ext uri="{FF2B5EF4-FFF2-40B4-BE49-F238E27FC236}">
                    <a16:creationId xmlns:a16="http://schemas.microsoft.com/office/drawing/2014/main" id="{613BEB1B-6911-200D-02D6-DD89CF1D01AD}"/>
                  </a:ext>
                </a:extLst>
              </p:cNvPr>
              <p:cNvPicPr>
                <a:picLocks noChangeAspect="1"/>
              </p:cNvPicPr>
              <p:nvPr/>
            </p:nvPicPr>
            <p:blipFill>
              <a:blip r:embed="rId5"/>
              <a:stretch>
                <a:fillRect/>
              </a:stretch>
            </p:blipFill>
            <p:spPr>
              <a:xfrm rot="5400000" flipH="1">
                <a:off x="10160056" y="3952400"/>
                <a:ext cx="734411" cy="180000"/>
              </a:xfrm>
              <a:prstGeom prst="rect">
                <a:avLst/>
              </a:prstGeom>
            </p:spPr>
          </p:pic>
        </p:grpSp>
        <p:grpSp>
          <p:nvGrpSpPr>
            <p:cNvPr id="122" name="그룹 121">
              <a:extLst>
                <a:ext uri="{FF2B5EF4-FFF2-40B4-BE49-F238E27FC236}">
                  <a16:creationId xmlns:a16="http://schemas.microsoft.com/office/drawing/2014/main" id="{80C6CE12-0B9F-A21D-EB7B-D6D28BB56C18}"/>
                </a:ext>
              </a:extLst>
            </p:cNvPr>
            <p:cNvGrpSpPr/>
            <p:nvPr/>
          </p:nvGrpSpPr>
          <p:grpSpPr>
            <a:xfrm rot="16200000">
              <a:off x="7097117" y="3868193"/>
              <a:ext cx="183975" cy="3744000"/>
              <a:chOff x="10437262" y="1478041"/>
              <a:chExt cx="183975" cy="2931564"/>
            </a:xfrm>
          </p:grpSpPr>
          <p:pic>
            <p:nvPicPr>
              <p:cNvPr id="123" name="그림 122">
                <a:extLst>
                  <a:ext uri="{FF2B5EF4-FFF2-40B4-BE49-F238E27FC236}">
                    <a16:creationId xmlns:a16="http://schemas.microsoft.com/office/drawing/2014/main" id="{3373B6E8-FFFC-CCE9-B0A8-B028D9BDB141}"/>
                  </a:ext>
                </a:extLst>
              </p:cNvPr>
              <p:cNvPicPr>
                <a:picLocks noChangeAspect="1"/>
              </p:cNvPicPr>
              <p:nvPr/>
            </p:nvPicPr>
            <p:blipFill>
              <a:blip r:embed="rId5"/>
              <a:stretch>
                <a:fillRect/>
              </a:stretch>
            </p:blipFill>
            <p:spPr>
              <a:xfrm rot="5400000" flipH="1">
                <a:off x="10163662" y="1755247"/>
                <a:ext cx="734411" cy="180000"/>
              </a:xfrm>
              <a:prstGeom prst="rect">
                <a:avLst/>
              </a:prstGeom>
            </p:spPr>
          </p:pic>
          <p:pic>
            <p:nvPicPr>
              <p:cNvPr id="124" name="그림 123">
                <a:extLst>
                  <a:ext uri="{FF2B5EF4-FFF2-40B4-BE49-F238E27FC236}">
                    <a16:creationId xmlns:a16="http://schemas.microsoft.com/office/drawing/2014/main" id="{8E1162F1-CE7B-F412-35FC-71069920373E}"/>
                  </a:ext>
                </a:extLst>
              </p:cNvPr>
              <p:cNvPicPr>
                <a:picLocks noChangeAspect="1"/>
              </p:cNvPicPr>
              <p:nvPr/>
            </p:nvPicPr>
            <p:blipFill>
              <a:blip r:embed="rId5"/>
              <a:stretch>
                <a:fillRect/>
              </a:stretch>
            </p:blipFill>
            <p:spPr>
              <a:xfrm rot="5400000" flipH="1">
                <a:off x="10164031" y="2487556"/>
                <a:ext cx="734411" cy="180000"/>
              </a:xfrm>
              <a:prstGeom prst="rect">
                <a:avLst/>
              </a:prstGeom>
            </p:spPr>
          </p:pic>
          <p:pic>
            <p:nvPicPr>
              <p:cNvPr id="125" name="그림 124">
                <a:extLst>
                  <a:ext uri="{FF2B5EF4-FFF2-40B4-BE49-F238E27FC236}">
                    <a16:creationId xmlns:a16="http://schemas.microsoft.com/office/drawing/2014/main" id="{F59CF7A4-78CB-7AC5-2094-64DF2762C106}"/>
                  </a:ext>
                </a:extLst>
              </p:cNvPr>
              <p:cNvPicPr>
                <a:picLocks noChangeAspect="1"/>
              </p:cNvPicPr>
              <p:nvPr/>
            </p:nvPicPr>
            <p:blipFill>
              <a:blip r:embed="rId5"/>
              <a:stretch>
                <a:fillRect/>
              </a:stretch>
            </p:blipFill>
            <p:spPr>
              <a:xfrm rot="5400000" flipH="1">
                <a:off x="10163662" y="3217989"/>
                <a:ext cx="734411" cy="180000"/>
              </a:xfrm>
              <a:prstGeom prst="rect">
                <a:avLst/>
              </a:prstGeom>
            </p:spPr>
          </p:pic>
          <p:pic>
            <p:nvPicPr>
              <p:cNvPr id="126" name="그림 125">
                <a:extLst>
                  <a:ext uri="{FF2B5EF4-FFF2-40B4-BE49-F238E27FC236}">
                    <a16:creationId xmlns:a16="http://schemas.microsoft.com/office/drawing/2014/main" id="{21BFDC02-3EB7-FEA2-2C21-18315349BC46}"/>
                  </a:ext>
                </a:extLst>
              </p:cNvPr>
              <p:cNvPicPr>
                <a:picLocks noChangeAspect="1"/>
              </p:cNvPicPr>
              <p:nvPr/>
            </p:nvPicPr>
            <p:blipFill>
              <a:blip r:embed="rId5"/>
              <a:stretch>
                <a:fillRect/>
              </a:stretch>
            </p:blipFill>
            <p:spPr>
              <a:xfrm rot="5400000" flipH="1">
                <a:off x="10160056" y="3952400"/>
                <a:ext cx="734411" cy="180000"/>
              </a:xfrm>
              <a:prstGeom prst="rect">
                <a:avLst/>
              </a:prstGeom>
            </p:spPr>
          </p:pic>
        </p:grpSp>
      </p:grpSp>
      <p:sp>
        <p:nvSpPr>
          <p:cNvPr id="163" name="TextBox 162">
            <a:extLst>
              <a:ext uri="{FF2B5EF4-FFF2-40B4-BE49-F238E27FC236}">
                <a16:creationId xmlns:a16="http://schemas.microsoft.com/office/drawing/2014/main" id="{CE529E05-C916-82C3-3A7C-9ED700E8AB33}"/>
              </a:ext>
            </a:extLst>
          </p:cNvPr>
          <p:cNvSpPr txBox="1"/>
          <p:nvPr/>
        </p:nvSpPr>
        <p:spPr>
          <a:xfrm>
            <a:off x="1943357" y="5310138"/>
            <a:ext cx="2693366" cy="707886"/>
          </a:xfrm>
          <a:prstGeom prst="rect">
            <a:avLst/>
          </a:prstGeom>
          <a:noFill/>
        </p:spPr>
        <p:txBody>
          <a:bodyPr wrap="none" rtlCol="0">
            <a:spAutoFit/>
          </a:bodyPr>
          <a:lstStyle/>
          <a:p>
            <a:pPr algn="ct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맨홀 배수구 의 </a:t>
            </a:r>
            <a:endParaRPr lang="en-US" altLang="ko-KR"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endParaRPr>
          </a:p>
          <a:p>
            <a:pPr algn="ct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일정 수위 이상 감지 됐을 때</a:t>
            </a:r>
          </a:p>
        </p:txBody>
      </p:sp>
      <p:sp>
        <p:nvSpPr>
          <p:cNvPr id="164" name="TextBox 163">
            <a:extLst>
              <a:ext uri="{FF2B5EF4-FFF2-40B4-BE49-F238E27FC236}">
                <a16:creationId xmlns:a16="http://schemas.microsoft.com/office/drawing/2014/main" id="{764AD15B-28B4-731F-D90E-D881A4DA74B5}"/>
              </a:ext>
            </a:extLst>
          </p:cNvPr>
          <p:cNvSpPr txBox="1"/>
          <p:nvPr/>
        </p:nvSpPr>
        <p:spPr>
          <a:xfrm>
            <a:off x="7682330" y="5427163"/>
            <a:ext cx="2650084" cy="400110"/>
          </a:xfrm>
          <a:prstGeom prst="rect">
            <a:avLst/>
          </a:prstGeom>
          <a:noFill/>
        </p:spPr>
        <p:txBody>
          <a:bodyPr wrap="none" rtlCol="0">
            <a:spAutoFit/>
          </a:bodyPr>
          <a:lstStyle/>
          <a:p>
            <a:pPr algn="ct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맨홀 뚜껑이 소실 되었을 때</a:t>
            </a:r>
          </a:p>
        </p:txBody>
      </p:sp>
      <p:sp>
        <p:nvSpPr>
          <p:cNvPr id="165" name="직사각형 164">
            <a:extLst>
              <a:ext uri="{FF2B5EF4-FFF2-40B4-BE49-F238E27FC236}">
                <a16:creationId xmlns:a16="http://schemas.microsoft.com/office/drawing/2014/main" id="{D00EE01D-DCBD-6581-5E04-FA8D07540421}"/>
              </a:ext>
            </a:extLst>
          </p:cNvPr>
          <p:cNvSpPr/>
          <p:nvPr/>
        </p:nvSpPr>
        <p:spPr>
          <a:xfrm>
            <a:off x="7310807" y="1593074"/>
            <a:ext cx="3376711" cy="337649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5" name="그림 4">
            <a:extLst>
              <a:ext uri="{FF2B5EF4-FFF2-40B4-BE49-F238E27FC236}">
                <a16:creationId xmlns:a16="http://schemas.microsoft.com/office/drawing/2014/main" id="{A7E272A4-2173-D414-08B0-3E8C2716B49E}"/>
              </a:ext>
            </a:extLst>
          </p:cNvPr>
          <p:cNvPicPr>
            <a:picLocks noChangeAspect="1"/>
          </p:cNvPicPr>
          <p:nvPr/>
        </p:nvPicPr>
        <p:blipFill>
          <a:blip r:embed="rId6"/>
          <a:stretch>
            <a:fillRect/>
          </a:stretch>
        </p:blipFill>
        <p:spPr>
          <a:xfrm>
            <a:off x="9897634" y="6590287"/>
            <a:ext cx="2219341" cy="228602"/>
          </a:xfrm>
          <a:prstGeom prst="rect">
            <a:avLst/>
          </a:prstGeom>
        </p:spPr>
      </p:pic>
    </p:spTree>
    <p:extLst>
      <p:ext uri="{BB962C8B-B14F-4D97-AF65-F5344CB8AC3E}">
        <p14:creationId xmlns:p14="http://schemas.microsoft.com/office/powerpoint/2010/main" val="626058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9A82F8B-5FFE-9AEE-6BBB-C75C4B651997}"/>
              </a:ext>
            </a:extLst>
          </p:cNvPr>
          <p:cNvSpPr/>
          <p:nvPr/>
        </p:nvSpPr>
        <p:spPr>
          <a:xfrm>
            <a:off x="1113664" y="912459"/>
            <a:ext cx="5626678" cy="579113"/>
          </a:xfrm>
          <a:prstGeom prst="rect">
            <a:avLst/>
          </a:prstGeom>
          <a:solidFill>
            <a:srgbClr val="F9EA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2" name="직사각형 1">
            <a:extLst>
              <a:ext uri="{FF2B5EF4-FFF2-40B4-BE49-F238E27FC236}">
                <a16:creationId xmlns:a16="http://schemas.microsoft.com/office/drawing/2014/main" id="{86CB7179-2CED-698E-7489-BBBF08E1F63C}"/>
              </a:ext>
            </a:extLst>
          </p:cNvPr>
          <p:cNvSpPr/>
          <p:nvPr/>
        </p:nvSpPr>
        <p:spPr>
          <a:xfrm>
            <a:off x="272715" y="0"/>
            <a:ext cx="802105" cy="7527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21" name="직사각형 20">
            <a:extLst>
              <a:ext uri="{FF2B5EF4-FFF2-40B4-BE49-F238E27FC236}">
                <a16:creationId xmlns:a16="http://schemas.microsoft.com/office/drawing/2014/main" id="{746D45CB-D401-A843-B3AB-354C833BB0EF}"/>
              </a:ext>
            </a:extLst>
          </p:cNvPr>
          <p:cNvSpPr/>
          <p:nvPr/>
        </p:nvSpPr>
        <p:spPr>
          <a:xfrm>
            <a:off x="1074820" y="1758291"/>
            <a:ext cx="7018709" cy="4670062"/>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cxnSp>
        <p:nvCxnSpPr>
          <p:cNvPr id="32" name="직선 화살표 연결선 31">
            <a:extLst>
              <a:ext uri="{FF2B5EF4-FFF2-40B4-BE49-F238E27FC236}">
                <a16:creationId xmlns:a16="http://schemas.microsoft.com/office/drawing/2014/main" id="{42465936-B010-5570-9FA4-26ADCC829203}"/>
              </a:ext>
            </a:extLst>
          </p:cNvPr>
          <p:cNvCxnSpPr>
            <a:cxnSpLocks/>
          </p:cNvCxnSpPr>
          <p:nvPr/>
        </p:nvCxnSpPr>
        <p:spPr>
          <a:xfrm>
            <a:off x="1408890" y="3799294"/>
            <a:ext cx="7695585" cy="0"/>
          </a:xfrm>
          <a:prstGeom prst="straightConnector1">
            <a:avLst/>
          </a:prstGeom>
          <a:ln w="762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3" name="직사각형 32">
            <a:extLst>
              <a:ext uri="{FF2B5EF4-FFF2-40B4-BE49-F238E27FC236}">
                <a16:creationId xmlns:a16="http://schemas.microsoft.com/office/drawing/2014/main" id="{BC6D8478-A557-4279-402D-D2044FEA702B}"/>
              </a:ext>
            </a:extLst>
          </p:cNvPr>
          <p:cNvSpPr/>
          <p:nvPr/>
        </p:nvSpPr>
        <p:spPr>
          <a:xfrm>
            <a:off x="9148082" y="1741715"/>
            <a:ext cx="2258127" cy="4670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34" name="사각형: 둥근 모서리 33">
            <a:extLst>
              <a:ext uri="{FF2B5EF4-FFF2-40B4-BE49-F238E27FC236}">
                <a16:creationId xmlns:a16="http://schemas.microsoft.com/office/drawing/2014/main" id="{68CD2E26-F6C6-E71F-7EA9-9E9FDFB19F89}"/>
              </a:ext>
            </a:extLst>
          </p:cNvPr>
          <p:cNvSpPr/>
          <p:nvPr/>
        </p:nvSpPr>
        <p:spPr>
          <a:xfrm>
            <a:off x="1408891" y="1955330"/>
            <a:ext cx="1678636" cy="4219020"/>
          </a:xfrm>
          <a:prstGeom prst="roundRect">
            <a:avLst>
              <a:gd name="adj" fmla="val 2238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35" name="사각형: 둥근 모서리 34">
            <a:extLst>
              <a:ext uri="{FF2B5EF4-FFF2-40B4-BE49-F238E27FC236}">
                <a16:creationId xmlns:a16="http://schemas.microsoft.com/office/drawing/2014/main" id="{4801E6EB-E013-FEA8-5394-96F94C8446CE}"/>
              </a:ext>
            </a:extLst>
          </p:cNvPr>
          <p:cNvSpPr/>
          <p:nvPr/>
        </p:nvSpPr>
        <p:spPr>
          <a:xfrm>
            <a:off x="3752831" y="1955330"/>
            <a:ext cx="1678636" cy="4219020"/>
          </a:xfrm>
          <a:prstGeom prst="roundRect">
            <a:avLst>
              <a:gd name="adj" fmla="val 2238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36" name="사각형: 둥근 모서리 35">
            <a:extLst>
              <a:ext uri="{FF2B5EF4-FFF2-40B4-BE49-F238E27FC236}">
                <a16:creationId xmlns:a16="http://schemas.microsoft.com/office/drawing/2014/main" id="{C5AC8444-F33A-6B35-FDE7-161C8A3CA99B}"/>
              </a:ext>
            </a:extLst>
          </p:cNvPr>
          <p:cNvSpPr/>
          <p:nvPr/>
        </p:nvSpPr>
        <p:spPr>
          <a:xfrm>
            <a:off x="6096772" y="1955330"/>
            <a:ext cx="1678636" cy="4219020"/>
          </a:xfrm>
          <a:prstGeom prst="roundRect">
            <a:avLst>
              <a:gd name="adj" fmla="val 2238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37" name="TextBox 36">
            <a:extLst>
              <a:ext uri="{FF2B5EF4-FFF2-40B4-BE49-F238E27FC236}">
                <a16:creationId xmlns:a16="http://schemas.microsoft.com/office/drawing/2014/main" id="{409403E0-5609-EC52-54DB-22D75F55EF9D}"/>
              </a:ext>
            </a:extLst>
          </p:cNvPr>
          <p:cNvSpPr txBox="1"/>
          <p:nvPr/>
        </p:nvSpPr>
        <p:spPr>
          <a:xfrm>
            <a:off x="1290607" y="2871779"/>
            <a:ext cx="1915204" cy="1891352"/>
          </a:xfrm>
          <a:prstGeom prst="rect">
            <a:avLst/>
          </a:prstGeom>
          <a:noFill/>
        </p:spPr>
        <p:txBody>
          <a:bodyPr wrap="square" rtlCol="0">
            <a:spAutoFit/>
          </a:bodyPr>
          <a:lstStyle/>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스마트 맨홀의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파란색 경고등은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일정 수위가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감지되었을 때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작동</a:t>
            </a:r>
          </a:p>
        </p:txBody>
      </p:sp>
      <p:sp>
        <p:nvSpPr>
          <p:cNvPr id="38" name="TextBox 37">
            <a:extLst>
              <a:ext uri="{FF2B5EF4-FFF2-40B4-BE49-F238E27FC236}">
                <a16:creationId xmlns:a16="http://schemas.microsoft.com/office/drawing/2014/main" id="{12FE02F4-B623-50D2-FA89-9A25F04EB8D1}"/>
              </a:ext>
            </a:extLst>
          </p:cNvPr>
          <p:cNvSpPr txBox="1"/>
          <p:nvPr/>
        </p:nvSpPr>
        <p:spPr>
          <a:xfrm>
            <a:off x="3654292" y="2871779"/>
            <a:ext cx="1915204" cy="2260683"/>
          </a:xfrm>
          <a:prstGeom prst="rect">
            <a:avLst/>
          </a:prstGeom>
          <a:noFill/>
        </p:spPr>
        <p:txBody>
          <a:bodyPr wrap="square" rtlCol="0">
            <a:spAutoFit/>
          </a:bodyPr>
          <a:lstStyle/>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파란색 경고등이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켜진 스마트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맨홀들의 비율이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높다는 것은 곧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침수 위험도가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있다는 뜻</a:t>
            </a:r>
          </a:p>
        </p:txBody>
      </p:sp>
      <p:sp>
        <p:nvSpPr>
          <p:cNvPr id="39" name="TextBox 38">
            <a:extLst>
              <a:ext uri="{FF2B5EF4-FFF2-40B4-BE49-F238E27FC236}">
                <a16:creationId xmlns:a16="http://schemas.microsoft.com/office/drawing/2014/main" id="{DABB50C3-F5D8-2021-3FBD-560B5CE6B701}"/>
              </a:ext>
            </a:extLst>
          </p:cNvPr>
          <p:cNvSpPr txBox="1"/>
          <p:nvPr/>
        </p:nvSpPr>
        <p:spPr>
          <a:xfrm>
            <a:off x="6035234" y="3137574"/>
            <a:ext cx="1722070" cy="1891352"/>
          </a:xfrm>
          <a:prstGeom prst="rect">
            <a:avLst/>
          </a:prstGeom>
          <a:noFill/>
        </p:spPr>
        <p:txBody>
          <a:bodyPr wrap="square" rtlCol="0">
            <a:spAutoFit/>
          </a:bodyPr>
          <a:lstStyle/>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강남역 주변의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파란색 경고등이 켜진 비율에 </a:t>
            </a:r>
            <a:endParaRPr lang="en-US" altLang="ko-KR" sz="1600" dirty="0">
              <a:latin typeface="배달의민족 도현" panose="020B0600000101010101" pitchFamily="50" charset="-127"/>
              <a:ea typeface="배달의민족 도현" panose="020B0600000101010101" pitchFamily="50" charset="-127"/>
            </a:endParaRPr>
          </a:p>
          <a:p>
            <a:pPr algn="ctr">
              <a:lnSpc>
                <a:spcPct val="150000"/>
              </a:lnSpc>
            </a:pPr>
            <a:r>
              <a:rPr lang="ko-KR" altLang="en-US" sz="1600" dirty="0">
                <a:latin typeface="배달의민족 도현" panose="020B0600000101010101" pitchFamily="50" charset="-127"/>
                <a:ea typeface="배달의민족 도현" panose="020B0600000101010101" pitchFamily="50" charset="-127"/>
              </a:rPr>
              <a:t>따라 침수 위험 정도를 구분</a:t>
            </a:r>
          </a:p>
        </p:txBody>
      </p:sp>
      <p:sp>
        <p:nvSpPr>
          <p:cNvPr id="40" name="TextBox 39">
            <a:extLst>
              <a:ext uri="{FF2B5EF4-FFF2-40B4-BE49-F238E27FC236}">
                <a16:creationId xmlns:a16="http://schemas.microsoft.com/office/drawing/2014/main" id="{72F59E96-D1F4-58E4-AA1E-B91E07CBF34B}"/>
              </a:ext>
            </a:extLst>
          </p:cNvPr>
          <p:cNvSpPr txBox="1"/>
          <p:nvPr/>
        </p:nvSpPr>
        <p:spPr>
          <a:xfrm>
            <a:off x="9063239" y="2794532"/>
            <a:ext cx="2427811" cy="2262158"/>
          </a:xfrm>
          <a:prstGeom prst="rect">
            <a:avLst/>
          </a:prstGeom>
          <a:noFill/>
        </p:spPr>
        <p:txBody>
          <a:bodyPr wrap="square" rtlCol="0">
            <a:spAutoFit/>
          </a:bodyPr>
          <a:lstStyle/>
          <a:p>
            <a:pPr algn="ctr">
              <a:lnSpc>
                <a:spcPct val="150000"/>
              </a:lnSpc>
            </a:pPr>
            <a:r>
              <a:rPr lang="ko-KR" altLang="en-US" sz="2400" b="1" dirty="0">
                <a:solidFill>
                  <a:schemeClr val="bg1"/>
                </a:solidFill>
                <a:latin typeface="배달의민족 도현" panose="020B0600000101010101" pitchFamily="50" charset="-127"/>
                <a:ea typeface="배달의민족 도현" panose="020B0600000101010101" pitchFamily="50" charset="-127"/>
              </a:rPr>
              <a:t>어플리케이션을 통해 </a:t>
            </a:r>
            <a:endParaRPr lang="en-US" altLang="ko-KR" sz="2400" b="1" dirty="0">
              <a:solidFill>
                <a:schemeClr val="bg1"/>
              </a:solidFill>
              <a:latin typeface="배달의민족 도현" panose="020B0600000101010101" pitchFamily="50" charset="-127"/>
              <a:ea typeface="배달의민족 도현" panose="020B0600000101010101" pitchFamily="50" charset="-127"/>
            </a:endParaRPr>
          </a:p>
          <a:p>
            <a:pPr algn="ctr">
              <a:lnSpc>
                <a:spcPct val="150000"/>
              </a:lnSpc>
            </a:pPr>
            <a:r>
              <a:rPr lang="ko-KR" altLang="en-US" sz="2400" b="1" dirty="0">
                <a:solidFill>
                  <a:schemeClr val="bg1"/>
                </a:solidFill>
                <a:latin typeface="배달의민족 도현" panose="020B0600000101010101" pitchFamily="50" charset="-127"/>
                <a:ea typeface="배달의민족 도현" panose="020B0600000101010101" pitchFamily="50" charset="-127"/>
              </a:rPr>
              <a:t>침수 위험도 </a:t>
            </a:r>
            <a:endParaRPr lang="en-US" altLang="ko-KR" sz="2400" b="1" dirty="0">
              <a:solidFill>
                <a:schemeClr val="bg1"/>
              </a:solidFill>
              <a:latin typeface="배달의민족 도현" panose="020B0600000101010101" pitchFamily="50" charset="-127"/>
              <a:ea typeface="배달의민족 도현" panose="020B0600000101010101" pitchFamily="50" charset="-127"/>
            </a:endParaRPr>
          </a:p>
          <a:p>
            <a:pPr algn="ctr">
              <a:lnSpc>
                <a:spcPct val="150000"/>
              </a:lnSpc>
            </a:pPr>
            <a:r>
              <a:rPr lang="ko-KR" altLang="en-US" sz="2400" b="1" dirty="0">
                <a:solidFill>
                  <a:schemeClr val="bg1"/>
                </a:solidFill>
                <a:latin typeface="배달의민족 도현" panose="020B0600000101010101" pitchFamily="50" charset="-127"/>
                <a:ea typeface="배달의민족 도현" panose="020B0600000101010101" pitchFamily="50" charset="-127"/>
              </a:rPr>
              <a:t>제공</a:t>
            </a:r>
          </a:p>
        </p:txBody>
      </p:sp>
      <p:sp>
        <p:nvSpPr>
          <p:cNvPr id="6" name="TextBox 5">
            <a:extLst>
              <a:ext uri="{FF2B5EF4-FFF2-40B4-BE49-F238E27FC236}">
                <a16:creationId xmlns:a16="http://schemas.microsoft.com/office/drawing/2014/main" id="{C77ADF49-664D-8982-2DB7-6220F61713D6}"/>
              </a:ext>
            </a:extLst>
          </p:cNvPr>
          <p:cNvSpPr txBox="1"/>
          <p:nvPr/>
        </p:nvSpPr>
        <p:spPr>
          <a:xfrm>
            <a:off x="-107587" y="1015937"/>
            <a:ext cx="8069180" cy="400110"/>
          </a:xfrm>
          <a:prstGeom prst="rect">
            <a:avLst/>
          </a:prstGeom>
          <a:noFill/>
        </p:spPr>
        <p:txBody>
          <a:bodyPr wrap="square">
            <a:spAutoFit/>
          </a:bodyPr>
          <a:lstStyle/>
          <a:p>
            <a:pPr algn="ct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주요 기능 </a:t>
            </a:r>
            <a:r>
              <a:rPr lang="en-US" altLang="ko-KR"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2 : </a:t>
            </a: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어플리케이션을  통한 실시간 침수  위험도   제공</a:t>
            </a:r>
          </a:p>
        </p:txBody>
      </p:sp>
      <p:sp>
        <p:nvSpPr>
          <p:cNvPr id="8" name="TextBox 7">
            <a:extLst>
              <a:ext uri="{FF2B5EF4-FFF2-40B4-BE49-F238E27FC236}">
                <a16:creationId xmlns:a16="http://schemas.microsoft.com/office/drawing/2014/main" id="{E01C521E-9651-E61D-C2D1-8E6018ACE13F}"/>
              </a:ext>
            </a:extLst>
          </p:cNvPr>
          <p:cNvSpPr txBox="1"/>
          <p:nvPr/>
        </p:nvSpPr>
        <p:spPr>
          <a:xfrm>
            <a:off x="1176688" y="397948"/>
            <a:ext cx="3602268"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1.2 Solution &amp; Product</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pic>
        <p:nvPicPr>
          <p:cNvPr id="5" name="그림 4">
            <a:extLst>
              <a:ext uri="{FF2B5EF4-FFF2-40B4-BE49-F238E27FC236}">
                <a16:creationId xmlns:a16="http://schemas.microsoft.com/office/drawing/2014/main" id="{FF854F1E-C371-AB45-D552-02C6E30A9571}"/>
              </a:ext>
            </a:extLst>
          </p:cNvPr>
          <p:cNvPicPr>
            <a:picLocks noChangeAspect="1"/>
          </p:cNvPicPr>
          <p:nvPr/>
        </p:nvPicPr>
        <p:blipFill>
          <a:blip r:embed="rId3"/>
          <a:stretch>
            <a:fillRect/>
          </a:stretch>
        </p:blipFill>
        <p:spPr>
          <a:xfrm>
            <a:off x="9874631" y="6586986"/>
            <a:ext cx="2219341" cy="228602"/>
          </a:xfrm>
          <a:prstGeom prst="rect">
            <a:avLst/>
          </a:prstGeom>
        </p:spPr>
      </p:pic>
    </p:spTree>
    <p:extLst>
      <p:ext uri="{BB962C8B-B14F-4D97-AF65-F5344CB8AC3E}">
        <p14:creationId xmlns:p14="http://schemas.microsoft.com/office/powerpoint/2010/main" val="4212509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86CB7179-2CED-698E-7489-BBBF08E1F63C}"/>
              </a:ext>
            </a:extLst>
          </p:cNvPr>
          <p:cNvSpPr/>
          <p:nvPr/>
        </p:nvSpPr>
        <p:spPr>
          <a:xfrm>
            <a:off x="272715" y="0"/>
            <a:ext cx="802105" cy="7527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4" name="TextBox 3">
            <a:extLst>
              <a:ext uri="{FF2B5EF4-FFF2-40B4-BE49-F238E27FC236}">
                <a16:creationId xmlns:a16="http://schemas.microsoft.com/office/drawing/2014/main" id="{9EFEF442-2E39-E8A3-0720-B4AF147BC24A}"/>
              </a:ext>
            </a:extLst>
          </p:cNvPr>
          <p:cNvSpPr txBox="1"/>
          <p:nvPr/>
        </p:nvSpPr>
        <p:spPr>
          <a:xfrm>
            <a:off x="1176688" y="383381"/>
            <a:ext cx="3602268"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1.2 Solution &amp; Product</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pic>
        <p:nvPicPr>
          <p:cNvPr id="8" name="그림 7">
            <a:extLst>
              <a:ext uri="{FF2B5EF4-FFF2-40B4-BE49-F238E27FC236}">
                <a16:creationId xmlns:a16="http://schemas.microsoft.com/office/drawing/2014/main" id="{89313C26-686C-F60E-C790-919D1AF242A2}"/>
              </a:ext>
            </a:extLst>
          </p:cNvPr>
          <p:cNvPicPr>
            <a:picLocks noChangeAspect="1"/>
          </p:cNvPicPr>
          <p:nvPr/>
        </p:nvPicPr>
        <p:blipFill>
          <a:blip r:embed="rId3"/>
          <a:stretch>
            <a:fillRect/>
          </a:stretch>
        </p:blipFill>
        <p:spPr>
          <a:xfrm>
            <a:off x="8540874" y="1275057"/>
            <a:ext cx="2640893" cy="3600000"/>
          </a:xfrm>
          <a:prstGeom prst="rect">
            <a:avLst/>
          </a:prstGeom>
          <a:ln>
            <a:solidFill>
              <a:schemeClr val="tx1"/>
            </a:solidFill>
          </a:ln>
        </p:spPr>
      </p:pic>
      <p:pic>
        <p:nvPicPr>
          <p:cNvPr id="10" name="그림 9">
            <a:extLst>
              <a:ext uri="{FF2B5EF4-FFF2-40B4-BE49-F238E27FC236}">
                <a16:creationId xmlns:a16="http://schemas.microsoft.com/office/drawing/2014/main" id="{8BEEB789-0BFE-EE07-6F64-BE32B1F27951}"/>
              </a:ext>
            </a:extLst>
          </p:cNvPr>
          <p:cNvPicPr>
            <a:picLocks noChangeAspect="1"/>
          </p:cNvPicPr>
          <p:nvPr/>
        </p:nvPicPr>
        <p:blipFill>
          <a:blip r:embed="rId4"/>
          <a:stretch>
            <a:fillRect/>
          </a:stretch>
        </p:blipFill>
        <p:spPr>
          <a:xfrm>
            <a:off x="4900544" y="1275057"/>
            <a:ext cx="2555529" cy="3600000"/>
          </a:xfrm>
          <a:prstGeom prst="rect">
            <a:avLst/>
          </a:prstGeom>
          <a:ln>
            <a:solidFill>
              <a:schemeClr val="tx1"/>
            </a:solidFill>
          </a:ln>
        </p:spPr>
      </p:pic>
      <p:pic>
        <p:nvPicPr>
          <p:cNvPr id="14" name="그림 13">
            <a:extLst>
              <a:ext uri="{FF2B5EF4-FFF2-40B4-BE49-F238E27FC236}">
                <a16:creationId xmlns:a16="http://schemas.microsoft.com/office/drawing/2014/main" id="{6895885C-59D9-4704-5583-043AD1F507D7}"/>
              </a:ext>
            </a:extLst>
          </p:cNvPr>
          <p:cNvPicPr>
            <a:picLocks noChangeAspect="1"/>
          </p:cNvPicPr>
          <p:nvPr/>
        </p:nvPicPr>
        <p:blipFill>
          <a:blip r:embed="rId5"/>
          <a:stretch>
            <a:fillRect/>
          </a:stretch>
        </p:blipFill>
        <p:spPr>
          <a:xfrm>
            <a:off x="1271800" y="1275057"/>
            <a:ext cx="2543943" cy="3600000"/>
          </a:xfrm>
          <a:prstGeom prst="rect">
            <a:avLst/>
          </a:prstGeom>
          <a:ln>
            <a:solidFill>
              <a:schemeClr val="tx1"/>
            </a:solidFill>
          </a:ln>
        </p:spPr>
      </p:pic>
      <p:sp>
        <p:nvSpPr>
          <p:cNvPr id="16" name="TextBox 15">
            <a:extLst>
              <a:ext uri="{FF2B5EF4-FFF2-40B4-BE49-F238E27FC236}">
                <a16:creationId xmlns:a16="http://schemas.microsoft.com/office/drawing/2014/main" id="{A978B36D-FCF2-AD64-75EA-E0E2575B4B3F}"/>
              </a:ext>
            </a:extLst>
          </p:cNvPr>
          <p:cNvSpPr txBox="1"/>
          <p:nvPr/>
        </p:nvSpPr>
        <p:spPr>
          <a:xfrm>
            <a:off x="1505666" y="5126590"/>
            <a:ext cx="2076209" cy="400110"/>
          </a:xfrm>
          <a:prstGeom prst="rect">
            <a:avLst/>
          </a:prstGeom>
          <a:noFill/>
        </p:spPr>
        <p:txBody>
          <a:bodyPr wrap="none" rtlCol="0">
            <a:spAutoFit/>
          </a:bodyPr>
          <a:lstStyle/>
          <a:p>
            <a:r>
              <a:rPr lang="ko-KR" altLang="en-US" sz="2000" dirty="0">
                <a:latin typeface="배달의민족 도현" panose="020B0600000101010101" pitchFamily="50" charset="-127"/>
                <a:ea typeface="배달의민족 도현" panose="020B0600000101010101" pitchFamily="50" charset="-127"/>
              </a:rPr>
              <a:t>침수 위험도 양호</a:t>
            </a:r>
          </a:p>
        </p:txBody>
      </p:sp>
      <p:sp>
        <p:nvSpPr>
          <p:cNvPr id="17" name="TextBox 16">
            <a:extLst>
              <a:ext uri="{FF2B5EF4-FFF2-40B4-BE49-F238E27FC236}">
                <a16:creationId xmlns:a16="http://schemas.microsoft.com/office/drawing/2014/main" id="{A323E273-50B9-980E-516E-9C7A4DE6AAA0}"/>
              </a:ext>
            </a:extLst>
          </p:cNvPr>
          <p:cNvSpPr txBox="1"/>
          <p:nvPr/>
        </p:nvSpPr>
        <p:spPr>
          <a:xfrm>
            <a:off x="5140203" y="5126590"/>
            <a:ext cx="2076209" cy="400110"/>
          </a:xfrm>
          <a:prstGeom prst="rect">
            <a:avLst/>
          </a:prstGeom>
          <a:noFill/>
        </p:spPr>
        <p:txBody>
          <a:bodyPr wrap="none" rtlCol="0">
            <a:spAutoFit/>
          </a:bodyPr>
          <a:lstStyle/>
          <a:p>
            <a:r>
              <a:rPr lang="ko-KR" altLang="en-US" sz="2000" dirty="0">
                <a:latin typeface="배달의민족 도현" panose="020B0600000101010101" pitchFamily="50" charset="-127"/>
                <a:ea typeface="배달의민족 도현" panose="020B0600000101010101" pitchFamily="50" charset="-127"/>
              </a:rPr>
              <a:t>침수 위험도 경고</a:t>
            </a:r>
          </a:p>
        </p:txBody>
      </p:sp>
      <p:sp>
        <p:nvSpPr>
          <p:cNvPr id="18" name="TextBox 17">
            <a:extLst>
              <a:ext uri="{FF2B5EF4-FFF2-40B4-BE49-F238E27FC236}">
                <a16:creationId xmlns:a16="http://schemas.microsoft.com/office/drawing/2014/main" id="{E3FF3A0F-0189-CFB7-E269-AA561C19A48A}"/>
              </a:ext>
            </a:extLst>
          </p:cNvPr>
          <p:cNvSpPr txBox="1"/>
          <p:nvPr/>
        </p:nvSpPr>
        <p:spPr>
          <a:xfrm>
            <a:off x="8823215" y="5126590"/>
            <a:ext cx="2076209" cy="400110"/>
          </a:xfrm>
          <a:prstGeom prst="rect">
            <a:avLst/>
          </a:prstGeom>
          <a:noFill/>
        </p:spPr>
        <p:txBody>
          <a:bodyPr wrap="none" rtlCol="0">
            <a:spAutoFit/>
          </a:bodyPr>
          <a:lstStyle/>
          <a:p>
            <a:r>
              <a:rPr lang="ko-KR" altLang="en-US" sz="2000" dirty="0">
                <a:latin typeface="배달의민족 도현" panose="020B0600000101010101" pitchFamily="50" charset="-127"/>
                <a:ea typeface="배달의민족 도현" panose="020B0600000101010101" pitchFamily="50" charset="-127"/>
              </a:rPr>
              <a:t>침수 위험도 위험</a:t>
            </a:r>
          </a:p>
        </p:txBody>
      </p:sp>
      <p:sp>
        <p:nvSpPr>
          <p:cNvPr id="20" name="TextBox 19">
            <a:extLst>
              <a:ext uri="{FF2B5EF4-FFF2-40B4-BE49-F238E27FC236}">
                <a16:creationId xmlns:a16="http://schemas.microsoft.com/office/drawing/2014/main" id="{4AFBF35D-0284-6D85-3B08-E3CB1D93EBCB}"/>
              </a:ext>
            </a:extLst>
          </p:cNvPr>
          <p:cNvSpPr txBox="1"/>
          <p:nvPr/>
        </p:nvSpPr>
        <p:spPr>
          <a:xfrm>
            <a:off x="1002008" y="5712918"/>
            <a:ext cx="3083523" cy="523220"/>
          </a:xfrm>
          <a:prstGeom prst="rect">
            <a:avLst/>
          </a:prstGeom>
          <a:noFill/>
        </p:spPr>
        <p:txBody>
          <a:bodyPr wrap="square" rtlCol="0">
            <a:spAutoFit/>
          </a:bodyPr>
          <a:lstStyle/>
          <a:p>
            <a:pPr algn="just"/>
            <a:r>
              <a:rPr lang="ko-KR" altLang="en-US" sz="1400" dirty="0">
                <a:latin typeface="배달의민족 도현" panose="020B0600000101010101" pitchFamily="50" charset="-127"/>
                <a:ea typeface="배달의민족 도현" panose="020B0600000101010101" pitchFamily="50" charset="-127"/>
              </a:rPr>
              <a:t>파란색 경고등 켜진 스마트 맨홀 비율 </a:t>
            </a:r>
            <a:endParaRPr lang="en-US" altLang="ko-KR" sz="1400" dirty="0">
              <a:latin typeface="배달의민족 도현" panose="020B0600000101010101" pitchFamily="50" charset="-127"/>
              <a:ea typeface="배달의민족 도현" panose="020B0600000101010101" pitchFamily="50" charset="-127"/>
            </a:endParaRPr>
          </a:p>
          <a:p>
            <a:pPr algn="ctr"/>
            <a:r>
              <a:rPr lang="en-US" altLang="ko-KR" sz="1400" dirty="0">
                <a:latin typeface="배달의민족 도현" panose="020B0600000101010101" pitchFamily="50" charset="-127"/>
                <a:ea typeface="배달의민족 도현" panose="020B0600000101010101" pitchFamily="50" charset="-127"/>
              </a:rPr>
              <a:t>30% </a:t>
            </a:r>
            <a:r>
              <a:rPr lang="ko-KR" altLang="en-US" sz="1400" dirty="0">
                <a:latin typeface="배달의민족 도현" panose="020B0600000101010101" pitchFamily="50" charset="-127"/>
                <a:ea typeface="배달의민족 도현" panose="020B0600000101010101" pitchFamily="50" charset="-127"/>
              </a:rPr>
              <a:t>미만</a:t>
            </a:r>
          </a:p>
        </p:txBody>
      </p:sp>
      <p:sp>
        <p:nvSpPr>
          <p:cNvPr id="21" name="TextBox 20">
            <a:extLst>
              <a:ext uri="{FF2B5EF4-FFF2-40B4-BE49-F238E27FC236}">
                <a16:creationId xmlns:a16="http://schemas.microsoft.com/office/drawing/2014/main" id="{2F673011-A070-4906-DFDE-131B1E34B90A}"/>
              </a:ext>
            </a:extLst>
          </p:cNvPr>
          <p:cNvSpPr txBox="1"/>
          <p:nvPr/>
        </p:nvSpPr>
        <p:spPr>
          <a:xfrm>
            <a:off x="4675936" y="5712918"/>
            <a:ext cx="3083523" cy="523220"/>
          </a:xfrm>
          <a:prstGeom prst="rect">
            <a:avLst/>
          </a:prstGeom>
          <a:noFill/>
        </p:spPr>
        <p:txBody>
          <a:bodyPr wrap="square" rtlCol="0">
            <a:spAutoFit/>
          </a:bodyPr>
          <a:lstStyle/>
          <a:p>
            <a:pPr algn="just"/>
            <a:r>
              <a:rPr lang="ko-KR" altLang="en-US" sz="1400" dirty="0">
                <a:latin typeface="배달의민족 도현" panose="020B0600000101010101" pitchFamily="50" charset="-127"/>
                <a:ea typeface="배달의민족 도현" panose="020B0600000101010101" pitchFamily="50" charset="-127"/>
              </a:rPr>
              <a:t>파란색 경고등 켜진 스마트 맨홀 비율 </a:t>
            </a:r>
            <a:endParaRPr lang="en-US" altLang="ko-KR" sz="1400" dirty="0">
              <a:latin typeface="배달의민족 도현" panose="020B0600000101010101" pitchFamily="50" charset="-127"/>
              <a:ea typeface="배달의민족 도현" panose="020B0600000101010101" pitchFamily="50" charset="-127"/>
            </a:endParaRPr>
          </a:p>
          <a:p>
            <a:pPr algn="ctr"/>
            <a:r>
              <a:rPr lang="en-US" altLang="ko-KR" sz="1400" dirty="0">
                <a:latin typeface="배달의민족 도현" panose="020B0600000101010101" pitchFamily="50" charset="-127"/>
                <a:ea typeface="배달의민족 도현" panose="020B0600000101010101" pitchFamily="50" charset="-127"/>
              </a:rPr>
              <a:t>30% </a:t>
            </a:r>
            <a:r>
              <a:rPr lang="ko-KR" altLang="en-US" sz="1400" dirty="0">
                <a:latin typeface="배달의민족 도현" panose="020B0600000101010101" pitchFamily="50" charset="-127"/>
                <a:ea typeface="배달의민족 도현" panose="020B0600000101010101" pitchFamily="50" charset="-127"/>
              </a:rPr>
              <a:t>이상 </a:t>
            </a:r>
            <a:r>
              <a:rPr lang="en-US" altLang="ko-KR" sz="1400" dirty="0">
                <a:latin typeface="배달의민족 도현" panose="020B0600000101010101" pitchFamily="50" charset="-127"/>
                <a:ea typeface="배달의민족 도현" panose="020B0600000101010101" pitchFamily="50" charset="-127"/>
              </a:rPr>
              <a:t>70%</a:t>
            </a:r>
            <a:r>
              <a:rPr lang="ko-KR" altLang="en-US" sz="1400" dirty="0">
                <a:latin typeface="배달의민족 도현" panose="020B0600000101010101" pitchFamily="50" charset="-127"/>
                <a:ea typeface="배달의민족 도현" panose="020B0600000101010101" pitchFamily="50" charset="-127"/>
              </a:rPr>
              <a:t>미만</a:t>
            </a:r>
          </a:p>
        </p:txBody>
      </p:sp>
      <p:sp>
        <p:nvSpPr>
          <p:cNvPr id="22" name="TextBox 21">
            <a:extLst>
              <a:ext uri="{FF2B5EF4-FFF2-40B4-BE49-F238E27FC236}">
                <a16:creationId xmlns:a16="http://schemas.microsoft.com/office/drawing/2014/main" id="{640BCE67-83E0-B0AD-B1A8-F31CC62FC06D}"/>
              </a:ext>
            </a:extLst>
          </p:cNvPr>
          <p:cNvSpPr txBox="1"/>
          <p:nvPr/>
        </p:nvSpPr>
        <p:spPr>
          <a:xfrm>
            <a:off x="8349864" y="5734474"/>
            <a:ext cx="3083523" cy="523220"/>
          </a:xfrm>
          <a:prstGeom prst="rect">
            <a:avLst/>
          </a:prstGeom>
          <a:noFill/>
        </p:spPr>
        <p:txBody>
          <a:bodyPr wrap="square" rtlCol="0">
            <a:spAutoFit/>
          </a:bodyPr>
          <a:lstStyle/>
          <a:p>
            <a:pPr algn="just"/>
            <a:r>
              <a:rPr lang="ko-KR" altLang="en-US" sz="1400" dirty="0">
                <a:latin typeface="배달의민족 도현" panose="020B0600000101010101" pitchFamily="50" charset="-127"/>
                <a:ea typeface="배달의민족 도현" panose="020B0600000101010101" pitchFamily="50" charset="-127"/>
              </a:rPr>
              <a:t>파란색 경고등 켜진 스마트 맨홀 비율 </a:t>
            </a:r>
            <a:endParaRPr lang="en-US" altLang="ko-KR" sz="1400" dirty="0">
              <a:latin typeface="배달의민족 도현" panose="020B0600000101010101" pitchFamily="50" charset="-127"/>
              <a:ea typeface="배달의민족 도현" panose="020B0600000101010101" pitchFamily="50" charset="-127"/>
            </a:endParaRPr>
          </a:p>
          <a:p>
            <a:pPr algn="ctr"/>
            <a:r>
              <a:rPr lang="en-US" altLang="ko-KR" sz="1400" dirty="0">
                <a:latin typeface="배달의민족 도현" panose="020B0600000101010101" pitchFamily="50" charset="-127"/>
                <a:ea typeface="배달의민족 도현" panose="020B0600000101010101" pitchFamily="50" charset="-127"/>
              </a:rPr>
              <a:t>70%</a:t>
            </a:r>
            <a:r>
              <a:rPr lang="ko-KR" altLang="en-US" sz="1400" dirty="0">
                <a:latin typeface="배달의민족 도현" panose="020B0600000101010101" pitchFamily="50" charset="-127"/>
                <a:ea typeface="배달의민족 도현" panose="020B0600000101010101" pitchFamily="50" charset="-127"/>
              </a:rPr>
              <a:t>이상</a:t>
            </a:r>
          </a:p>
        </p:txBody>
      </p:sp>
      <p:pic>
        <p:nvPicPr>
          <p:cNvPr id="5" name="그림 4">
            <a:extLst>
              <a:ext uri="{FF2B5EF4-FFF2-40B4-BE49-F238E27FC236}">
                <a16:creationId xmlns:a16="http://schemas.microsoft.com/office/drawing/2014/main" id="{4887EB5B-42AA-A156-5849-624EC20C5EA5}"/>
              </a:ext>
            </a:extLst>
          </p:cNvPr>
          <p:cNvPicPr>
            <a:picLocks noChangeAspect="1"/>
          </p:cNvPicPr>
          <p:nvPr/>
        </p:nvPicPr>
        <p:blipFill>
          <a:blip r:embed="rId6"/>
          <a:stretch>
            <a:fillRect/>
          </a:stretch>
        </p:blipFill>
        <p:spPr>
          <a:xfrm>
            <a:off x="9932140" y="6629398"/>
            <a:ext cx="2219341" cy="228602"/>
          </a:xfrm>
          <a:prstGeom prst="rect">
            <a:avLst/>
          </a:prstGeom>
        </p:spPr>
      </p:pic>
    </p:spTree>
    <p:extLst>
      <p:ext uri="{BB962C8B-B14F-4D97-AF65-F5344CB8AC3E}">
        <p14:creationId xmlns:p14="http://schemas.microsoft.com/office/powerpoint/2010/main" val="1899594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86CB7179-2CED-698E-7489-BBBF08E1F63C}"/>
              </a:ext>
            </a:extLst>
          </p:cNvPr>
          <p:cNvSpPr/>
          <p:nvPr/>
        </p:nvSpPr>
        <p:spPr>
          <a:xfrm>
            <a:off x="272715" y="0"/>
            <a:ext cx="802105" cy="7527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배달의민족 도현" panose="020B0600000101010101" pitchFamily="50" charset="-127"/>
              <a:ea typeface="배달의민족 도현" panose="020B0600000101010101" pitchFamily="50" charset="-127"/>
            </a:endParaRPr>
          </a:p>
        </p:txBody>
      </p:sp>
      <p:sp>
        <p:nvSpPr>
          <p:cNvPr id="4" name="TextBox 3">
            <a:extLst>
              <a:ext uri="{FF2B5EF4-FFF2-40B4-BE49-F238E27FC236}">
                <a16:creationId xmlns:a16="http://schemas.microsoft.com/office/drawing/2014/main" id="{9EFEF442-2E39-E8A3-0720-B4AF147BC24A}"/>
              </a:ext>
            </a:extLst>
          </p:cNvPr>
          <p:cNvSpPr txBox="1"/>
          <p:nvPr/>
        </p:nvSpPr>
        <p:spPr>
          <a:xfrm>
            <a:off x="1176688" y="383381"/>
            <a:ext cx="3602268"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1.2 Solution &amp; Product</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sp>
        <p:nvSpPr>
          <p:cNvPr id="7" name="TextBox 6">
            <a:extLst>
              <a:ext uri="{FF2B5EF4-FFF2-40B4-BE49-F238E27FC236}">
                <a16:creationId xmlns:a16="http://schemas.microsoft.com/office/drawing/2014/main" id="{D428D636-6DD2-021F-F597-E4839CD5AA44}"/>
              </a:ext>
            </a:extLst>
          </p:cNvPr>
          <p:cNvSpPr txBox="1"/>
          <p:nvPr/>
        </p:nvSpPr>
        <p:spPr>
          <a:xfrm>
            <a:off x="358455" y="1088573"/>
            <a:ext cx="5018057" cy="400110"/>
          </a:xfrm>
          <a:prstGeom prst="rect">
            <a:avLst/>
          </a:prstGeom>
          <a:noFill/>
        </p:spPr>
        <p:txBody>
          <a:bodyPr wrap="square" rtlCol="0">
            <a:spAutoFit/>
          </a:bodyPr>
          <a:lstStyle/>
          <a:p>
            <a:pPr algn="ct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강남역  맨홀 현황을 보여 주는 </a:t>
            </a:r>
            <a:r>
              <a:rPr lang="en-US" altLang="ko-KR"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frame</a:t>
            </a:r>
            <a:r>
              <a:rPr lang="ko-KR" altLang="en-US" sz="20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 </a:t>
            </a:r>
          </a:p>
        </p:txBody>
      </p:sp>
      <p:sp>
        <p:nvSpPr>
          <p:cNvPr id="9" name="직사각형 8">
            <a:extLst>
              <a:ext uri="{FF2B5EF4-FFF2-40B4-BE49-F238E27FC236}">
                <a16:creationId xmlns:a16="http://schemas.microsoft.com/office/drawing/2014/main" id="{A96DF938-BB31-7E22-E51F-31A1B18B7C64}"/>
              </a:ext>
            </a:extLst>
          </p:cNvPr>
          <p:cNvSpPr/>
          <p:nvPr/>
        </p:nvSpPr>
        <p:spPr>
          <a:xfrm>
            <a:off x="5812136" y="2495090"/>
            <a:ext cx="5534812" cy="14172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C2B64C7-AFD2-8E66-F020-9DABCEB1630E}"/>
              </a:ext>
            </a:extLst>
          </p:cNvPr>
          <p:cNvSpPr/>
          <p:nvPr/>
        </p:nvSpPr>
        <p:spPr>
          <a:xfrm>
            <a:off x="5820434" y="4189040"/>
            <a:ext cx="5534812" cy="14172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2E1A2CC5-FEB3-1711-4DE5-FF84708FFA62}"/>
              </a:ext>
            </a:extLst>
          </p:cNvPr>
          <p:cNvSpPr/>
          <p:nvPr/>
        </p:nvSpPr>
        <p:spPr>
          <a:xfrm>
            <a:off x="5812134" y="2495090"/>
            <a:ext cx="1003659" cy="14172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99A7BF53-B577-7304-2CAA-AF639C44F6A4}"/>
              </a:ext>
            </a:extLst>
          </p:cNvPr>
          <p:cNvSpPr/>
          <p:nvPr/>
        </p:nvSpPr>
        <p:spPr>
          <a:xfrm>
            <a:off x="5812134" y="4189040"/>
            <a:ext cx="1003659" cy="14172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D684F8C4-159D-8E12-4E4D-D1F86C90D3AE}"/>
              </a:ext>
            </a:extLst>
          </p:cNvPr>
          <p:cNvSpPr txBox="1"/>
          <p:nvPr/>
        </p:nvSpPr>
        <p:spPr>
          <a:xfrm>
            <a:off x="6909003" y="2958527"/>
            <a:ext cx="4216718" cy="646331"/>
          </a:xfrm>
          <a:prstGeom prst="rect">
            <a:avLst/>
          </a:prstGeom>
          <a:noFill/>
        </p:spPr>
        <p:txBody>
          <a:bodyPr wrap="square" rtlCol="0">
            <a:spAutoFit/>
          </a:bodyPr>
          <a:lstStyle/>
          <a:p>
            <a:pPr algn="ctr"/>
            <a:r>
              <a:rPr lang="ko-KR" altLang="en-US"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맨홀 배수구 의 </a:t>
            </a:r>
            <a:endParaRPr lang="en-US" altLang="ko-KR"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endParaRPr>
          </a:p>
          <a:p>
            <a:pPr algn="ctr"/>
            <a:r>
              <a:rPr lang="ko-KR" altLang="en-US"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일정 수위 이상 감지 된 맨홀</a:t>
            </a:r>
          </a:p>
        </p:txBody>
      </p:sp>
      <p:pic>
        <p:nvPicPr>
          <p:cNvPr id="18" name="그림 17" descr="하트이(가) 표시된 사진&#10;&#10;자동 생성된 설명">
            <a:extLst>
              <a:ext uri="{FF2B5EF4-FFF2-40B4-BE49-F238E27FC236}">
                <a16:creationId xmlns:a16="http://schemas.microsoft.com/office/drawing/2014/main" id="{AC760A1F-785E-D21F-8C03-9DBD466C4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5141" y="4552802"/>
            <a:ext cx="557644" cy="689718"/>
          </a:xfrm>
          <a:prstGeom prst="rect">
            <a:avLst/>
          </a:prstGeom>
        </p:spPr>
      </p:pic>
      <p:pic>
        <p:nvPicPr>
          <p:cNvPr id="20" name="그림 19" descr="원, 병따개이(가) 표시된 사진&#10;&#10;자동 생성된 설명">
            <a:extLst>
              <a:ext uri="{FF2B5EF4-FFF2-40B4-BE49-F238E27FC236}">
                <a16:creationId xmlns:a16="http://schemas.microsoft.com/office/drawing/2014/main" id="{099B51C2-2816-471A-6DF2-9A70E583F4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5141" y="2864120"/>
            <a:ext cx="557644" cy="679182"/>
          </a:xfrm>
          <a:prstGeom prst="rect">
            <a:avLst/>
          </a:prstGeom>
        </p:spPr>
      </p:pic>
      <p:sp>
        <p:nvSpPr>
          <p:cNvPr id="21" name="TextBox 20">
            <a:extLst>
              <a:ext uri="{FF2B5EF4-FFF2-40B4-BE49-F238E27FC236}">
                <a16:creationId xmlns:a16="http://schemas.microsoft.com/office/drawing/2014/main" id="{0411EFBC-C29D-AE40-A849-06C0849A462F}"/>
              </a:ext>
            </a:extLst>
          </p:cNvPr>
          <p:cNvSpPr txBox="1"/>
          <p:nvPr/>
        </p:nvSpPr>
        <p:spPr>
          <a:xfrm>
            <a:off x="6909003" y="4770999"/>
            <a:ext cx="4216718" cy="646331"/>
          </a:xfrm>
          <a:prstGeom prst="rect">
            <a:avLst/>
          </a:prstGeom>
          <a:noFill/>
        </p:spPr>
        <p:txBody>
          <a:bodyPr wrap="square" rtlCol="0">
            <a:spAutoFit/>
          </a:bodyPr>
          <a:lstStyle/>
          <a:p>
            <a:pPr algn="ctr"/>
            <a:r>
              <a:rPr lang="ko-KR" altLang="en-US" sz="1800"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rPr>
              <a:t>맨홀 뚜껑이 소실 된  맨홀</a:t>
            </a:r>
          </a:p>
          <a:p>
            <a:pPr algn="ctr"/>
            <a:endParaRPr lang="ko-KR" altLang="en-US" b="1" spc="-300" dirty="0">
              <a:solidFill>
                <a:schemeClr val="tx1">
                  <a:lumMod val="75000"/>
                  <a:lumOff val="25000"/>
                </a:schemeClr>
              </a:solidFill>
              <a:latin typeface="배달의민족 도현" panose="020B0600000101010101" pitchFamily="50" charset="-127"/>
              <a:ea typeface="배달의민족 도현" panose="020B0600000101010101" pitchFamily="50" charset="-127"/>
            </a:endParaRPr>
          </a:p>
        </p:txBody>
      </p:sp>
      <p:pic>
        <p:nvPicPr>
          <p:cNvPr id="6" name="그림 5">
            <a:extLst>
              <a:ext uri="{FF2B5EF4-FFF2-40B4-BE49-F238E27FC236}">
                <a16:creationId xmlns:a16="http://schemas.microsoft.com/office/drawing/2014/main" id="{BBF0DFD6-538D-C877-86D5-5A9BA4BE4511}"/>
              </a:ext>
            </a:extLst>
          </p:cNvPr>
          <p:cNvPicPr>
            <a:picLocks noChangeAspect="1"/>
          </p:cNvPicPr>
          <p:nvPr/>
        </p:nvPicPr>
        <p:blipFill rotWithShape="1">
          <a:blip r:embed="rId5"/>
          <a:srcRect b="28302"/>
          <a:stretch/>
        </p:blipFill>
        <p:spPr>
          <a:xfrm>
            <a:off x="1176688" y="1557562"/>
            <a:ext cx="3968515" cy="4917057"/>
          </a:xfrm>
          <a:prstGeom prst="rect">
            <a:avLst/>
          </a:prstGeom>
          <a:ln>
            <a:solidFill>
              <a:schemeClr val="tx1"/>
            </a:solidFill>
          </a:ln>
        </p:spPr>
      </p:pic>
      <p:pic>
        <p:nvPicPr>
          <p:cNvPr id="5" name="그림 4">
            <a:extLst>
              <a:ext uri="{FF2B5EF4-FFF2-40B4-BE49-F238E27FC236}">
                <a16:creationId xmlns:a16="http://schemas.microsoft.com/office/drawing/2014/main" id="{EFDFC990-82B6-2F58-651E-CA37C57E7847}"/>
              </a:ext>
            </a:extLst>
          </p:cNvPr>
          <p:cNvPicPr>
            <a:picLocks noChangeAspect="1"/>
          </p:cNvPicPr>
          <p:nvPr/>
        </p:nvPicPr>
        <p:blipFill>
          <a:blip r:embed="rId6"/>
          <a:stretch>
            <a:fillRect/>
          </a:stretch>
        </p:blipFill>
        <p:spPr>
          <a:xfrm>
            <a:off x="9972659" y="6563982"/>
            <a:ext cx="2219341" cy="228602"/>
          </a:xfrm>
          <a:prstGeom prst="rect">
            <a:avLst/>
          </a:prstGeom>
        </p:spPr>
      </p:pic>
      <p:sp>
        <p:nvSpPr>
          <p:cNvPr id="16" name="TextBox 15">
            <a:extLst>
              <a:ext uri="{FF2B5EF4-FFF2-40B4-BE49-F238E27FC236}">
                <a16:creationId xmlns:a16="http://schemas.microsoft.com/office/drawing/2014/main" id="{87034ECF-FA46-77E0-57F2-1088A4A6F730}"/>
              </a:ext>
            </a:extLst>
          </p:cNvPr>
          <p:cNvSpPr txBox="1"/>
          <p:nvPr/>
        </p:nvSpPr>
        <p:spPr>
          <a:xfrm>
            <a:off x="3048000" y="3245771"/>
            <a:ext cx="6096000" cy="369332"/>
          </a:xfrm>
          <a:prstGeom prst="rect">
            <a:avLst/>
          </a:prstGeom>
          <a:noFill/>
        </p:spPr>
        <p:txBody>
          <a:bodyPr wrap="square">
            <a:spAutoFit/>
          </a:bodyPr>
          <a:lstStyle/>
          <a:p>
            <a:r>
              <a:rPr lang="ko-KR" altLang="en-US" b="0" dirty="0">
                <a:effectLst/>
              </a:rPr>
              <a:t> </a:t>
            </a:r>
            <a:endParaRPr lang="ko-KR" altLang="en-US" dirty="0"/>
          </a:p>
        </p:txBody>
      </p:sp>
    </p:spTree>
    <p:extLst>
      <p:ext uri="{BB962C8B-B14F-4D97-AF65-F5344CB8AC3E}">
        <p14:creationId xmlns:p14="http://schemas.microsoft.com/office/powerpoint/2010/main" val="2279955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4"/>
          <p:cNvSpPr/>
          <p:nvPr/>
        </p:nvSpPr>
        <p:spPr>
          <a:xfrm>
            <a:off x="272715" y="0"/>
            <a:ext cx="802105" cy="75271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3" name="Google Shape;293;p24"/>
          <p:cNvSpPr/>
          <p:nvPr/>
        </p:nvSpPr>
        <p:spPr>
          <a:xfrm>
            <a:off x="825500" y="1333500"/>
            <a:ext cx="5270400" cy="4813200"/>
          </a:xfrm>
          <a:prstGeom prst="rect">
            <a:avLst/>
          </a:prstGeom>
          <a:solidFill>
            <a:srgbClr val="E0EA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294" name="Google Shape;294;p24"/>
          <p:cNvSpPr/>
          <p:nvPr/>
        </p:nvSpPr>
        <p:spPr>
          <a:xfrm>
            <a:off x="1193800" y="4635502"/>
            <a:ext cx="4533900" cy="1193700"/>
          </a:xfrm>
          <a:prstGeom prst="roundRect">
            <a:avLst>
              <a:gd name="adj" fmla="val 24114"/>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295" name="Google Shape;295;p24"/>
          <p:cNvSpPr/>
          <p:nvPr/>
        </p:nvSpPr>
        <p:spPr>
          <a:xfrm>
            <a:off x="2978150" y="2087888"/>
            <a:ext cx="965100" cy="9651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grpSp>
        <p:nvGrpSpPr>
          <p:cNvPr id="296" name="Google Shape;296;p24"/>
          <p:cNvGrpSpPr/>
          <p:nvPr/>
        </p:nvGrpSpPr>
        <p:grpSpPr>
          <a:xfrm>
            <a:off x="3106600" y="3392517"/>
            <a:ext cx="708300" cy="1015422"/>
            <a:chOff x="1220718" y="1663700"/>
            <a:chExt cx="708300" cy="4483100"/>
          </a:xfrm>
        </p:grpSpPr>
        <p:sp>
          <p:nvSpPr>
            <p:cNvPr id="297" name="Google Shape;297;p24"/>
            <p:cNvSpPr/>
            <p:nvPr/>
          </p:nvSpPr>
          <p:spPr>
            <a:xfrm>
              <a:off x="1393963" y="1663700"/>
              <a:ext cx="345900" cy="4165500"/>
            </a:xfrm>
            <a:prstGeom prst="rect">
              <a:avLst/>
            </a:prstGeom>
            <a:solidFill>
              <a:srgbClr val="9DA6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298" name="Google Shape;298;p24"/>
            <p:cNvSpPr/>
            <p:nvPr/>
          </p:nvSpPr>
          <p:spPr>
            <a:xfrm rot="10800000" flipH="1">
              <a:off x="1220718" y="5829400"/>
              <a:ext cx="708300" cy="317400"/>
            </a:xfrm>
            <a:prstGeom prst="triangle">
              <a:avLst>
                <a:gd name="adj" fmla="val 50000"/>
              </a:avLst>
            </a:prstGeom>
            <a:solidFill>
              <a:srgbClr val="9DA6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grpSp>
      <p:sp>
        <p:nvSpPr>
          <p:cNvPr id="299" name="Google Shape;299;p24"/>
          <p:cNvSpPr/>
          <p:nvPr/>
        </p:nvSpPr>
        <p:spPr>
          <a:xfrm>
            <a:off x="1193800" y="1973600"/>
            <a:ext cx="4533900" cy="1193700"/>
          </a:xfrm>
          <a:prstGeom prst="roundRect">
            <a:avLst>
              <a:gd name="adj" fmla="val 24114"/>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300" name="Google Shape;300;p24"/>
          <p:cNvSpPr/>
          <p:nvPr/>
        </p:nvSpPr>
        <p:spPr>
          <a:xfrm>
            <a:off x="1535364" y="4749800"/>
            <a:ext cx="965100" cy="965100"/>
          </a:xfrm>
          <a:prstGeom prst="ellipse">
            <a:avLst/>
          </a:prstGeom>
          <a:solidFill>
            <a:srgbClr val="D2E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err="1">
                <a:solidFill>
                  <a:schemeClr val="dk1"/>
                </a:solidFill>
                <a:latin typeface="배달의민족 도현" panose="020B0600000101010101" pitchFamily="50" charset="-127"/>
                <a:ea typeface="배달의민족 도현" panose="020B0600000101010101" pitchFamily="50" charset="-127"/>
              </a:rPr>
              <a:t>맨홀</a:t>
            </a:r>
            <a:r>
              <a:rPr lang="en-US" sz="1000" dirty="0">
                <a:solidFill>
                  <a:schemeClr val="dk1"/>
                </a:solidFill>
                <a:latin typeface="배달의민족 도현" panose="020B0600000101010101" pitchFamily="50" charset="-127"/>
                <a:ea typeface="배달의민족 도현" panose="020B0600000101010101" pitchFamily="50" charset="-127"/>
              </a:rPr>
              <a:t> : </a:t>
            </a:r>
          </a:p>
          <a:p>
            <a:pPr marL="0" marR="0" lvl="0" indent="0" algn="ctr" rtl="0">
              <a:spcBef>
                <a:spcPts val="0"/>
              </a:spcBef>
              <a:spcAft>
                <a:spcPts val="0"/>
              </a:spcAft>
              <a:buNone/>
            </a:pPr>
            <a:r>
              <a:rPr lang="en-US" sz="1000" dirty="0">
                <a:solidFill>
                  <a:schemeClr val="dk1"/>
                </a:solidFill>
                <a:latin typeface="배달의민족 도현" panose="020B0600000101010101" pitchFamily="50" charset="-127"/>
                <a:ea typeface="배달의민족 도현" panose="020B0600000101010101" pitchFamily="50" charset="-127"/>
              </a:rPr>
              <a:t>67만개</a:t>
            </a:r>
          </a:p>
          <a:p>
            <a:pPr marL="0" marR="0" lvl="0" indent="0" algn="ctr" rtl="0">
              <a:spcBef>
                <a:spcPts val="0"/>
              </a:spcBef>
              <a:spcAft>
                <a:spcPts val="0"/>
              </a:spcAft>
              <a:buNone/>
            </a:pPr>
            <a:r>
              <a:rPr lang="en-US" sz="1000" dirty="0">
                <a:solidFill>
                  <a:schemeClr val="dk1"/>
                </a:solidFill>
                <a:latin typeface="배달의민족 도현" panose="020B0600000101010101" pitchFamily="50" charset="-127"/>
                <a:ea typeface="배달의민족 도현" panose="020B0600000101010101" pitchFamily="50" charset="-127"/>
              </a:rPr>
              <a:t> (</a:t>
            </a:r>
            <a:r>
              <a:rPr lang="en-US" sz="1000" dirty="0" err="1">
                <a:solidFill>
                  <a:schemeClr val="dk1"/>
                </a:solidFill>
                <a:latin typeface="배달의민족 도현" panose="020B0600000101010101" pitchFamily="50" charset="-127"/>
                <a:ea typeface="배달의민족 도현" panose="020B0600000101010101" pitchFamily="50" charset="-127"/>
              </a:rPr>
              <a:t>서울시</a:t>
            </a:r>
            <a:r>
              <a:rPr lang="en-US" sz="1000" dirty="0">
                <a:solidFill>
                  <a:schemeClr val="dk1"/>
                </a:solidFill>
                <a:latin typeface="배달의민족 도현" panose="020B0600000101010101" pitchFamily="50" charset="-127"/>
                <a:ea typeface="배달의민족 도현" panose="020B0600000101010101" pitchFamily="50" charset="-127"/>
              </a:rPr>
              <a:t>)</a:t>
            </a:r>
            <a:endParaRPr sz="1000" dirty="0">
              <a:solidFill>
                <a:schemeClr val="dk1"/>
              </a:solidFill>
              <a:latin typeface="배달의민족 도현" panose="020B0600000101010101" pitchFamily="50" charset="-127"/>
              <a:ea typeface="배달의민족 도현" panose="020B0600000101010101" pitchFamily="50" charset="-127"/>
              <a:cs typeface="Arial"/>
              <a:sym typeface="Arial"/>
            </a:endParaRPr>
          </a:p>
        </p:txBody>
      </p:sp>
      <p:sp>
        <p:nvSpPr>
          <p:cNvPr id="301" name="Google Shape;301;p24"/>
          <p:cNvSpPr/>
          <p:nvPr/>
        </p:nvSpPr>
        <p:spPr>
          <a:xfrm>
            <a:off x="2627725" y="4747475"/>
            <a:ext cx="965100" cy="965100"/>
          </a:xfrm>
          <a:prstGeom prst="ellipse">
            <a:avLst/>
          </a:prstGeom>
          <a:solidFill>
            <a:srgbClr val="D2E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err="1">
                <a:solidFill>
                  <a:schemeClr val="dk1"/>
                </a:solidFill>
                <a:latin typeface="배달의민족 도현" panose="020B0600000101010101" pitchFamily="50" charset="-127"/>
                <a:ea typeface="배달의민족 도현" panose="020B0600000101010101" pitchFamily="50" charset="-127"/>
              </a:rPr>
              <a:t>관리주체</a:t>
            </a:r>
            <a:r>
              <a:rPr lang="en-US" sz="1000" dirty="0">
                <a:solidFill>
                  <a:schemeClr val="dk1"/>
                </a:solidFill>
                <a:latin typeface="배달의민족 도현" panose="020B0600000101010101" pitchFamily="50" charset="-127"/>
                <a:ea typeface="배달의민족 도현" panose="020B0600000101010101" pitchFamily="50" charset="-127"/>
              </a:rPr>
              <a:t> : 27곳</a:t>
            </a:r>
            <a:endParaRPr sz="1000" dirty="0">
              <a:solidFill>
                <a:schemeClr val="dk1"/>
              </a:solidFill>
              <a:latin typeface="배달의민족 도현" panose="020B0600000101010101" pitchFamily="50" charset="-127"/>
              <a:ea typeface="배달의민족 도현" panose="020B0600000101010101" pitchFamily="50" charset="-127"/>
              <a:cs typeface="Arial"/>
              <a:sym typeface="Arial"/>
            </a:endParaRPr>
          </a:p>
        </p:txBody>
      </p:sp>
      <p:sp>
        <p:nvSpPr>
          <p:cNvPr id="302" name="Google Shape;302;p24"/>
          <p:cNvSpPr/>
          <p:nvPr/>
        </p:nvSpPr>
        <p:spPr>
          <a:xfrm>
            <a:off x="4486511" y="4747475"/>
            <a:ext cx="965100" cy="965100"/>
          </a:xfrm>
          <a:prstGeom prst="ellipse">
            <a:avLst/>
          </a:prstGeom>
          <a:solidFill>
            <a:srgbClr val="D2E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err="1">
                <a:solidFill>
                  <a:schemeClr val="dk1"/>
                </a:solidFill>
                <a:latin typeface="배달의민족 도현" panose="020B0600000101010101" pitchFamily="50" charset="-127"/>
                <a:ea typeface="배달의민족 도현" panose="020B0600000101010101" pitchFamily="50" charset="-127"/>
              </a:rPr>
              <a:t>다양한</a:t>
            </a:r>
            <a:r>
              <a:rPr lang="en-US" sz="1000" dirty="0">
                <a:solidFill>
                  <a:schemeClr val="dk1"/>
                </a:solidFill>
                <a:latin typeface="배달의민족 도현" panose="020B0600000101010101" pitchFamily="50" charset="-127"/>
                <a:ea typeface="배달의민족 도현" panose="020B0600000101010101" pitchFamily="50" charset="-127"/>
              </a:rPr>
              <a:t> </a:t>
            </a:r>
            <a:r>
              <a:rPr lang="en-US" sz="1000" dirty="0" err="1">
                <a:solidFill>
                  <a:schemeClr val="dk1"/>
                </a:solidFill>
                <a:latin typeface="배달의민족 도현" panose="020B0600000101010101" pitchFamily="50" charset="-127"/>
                <a:ea typeface="배달의민족 도현" panose="020B0600000101010101" pitchFamily="50" charset="-127"/>
              </a:rPr>
              <a:t>관리</a:t>
            </a:r>
            <a:r>
              <a:rPr lang="en-US" sz="1000" dirty="0">
                <a:solidFill>
                  <a:schemeClr val="dk1"/>
                </a:solidFill>
                <a:latin typeface="배달의민족 도현" panose="020B0600000101010101" pitchFamily="50" charset="-127"/>
                <a:ea typeface="배달의민족 도현" panose="020B0600000101010101" pitchFamily="50" charset="-127"/>
              </a:rPr>
              <a:t> </a:t>
            </a:r>
          </a:p>
          <a:p>
            <a:pPr marL="0" marR="0" lvl="0" indent="0" algn="ctr" rtl="0">
              <a:spcBef>
                <a:spcPts val="0"/>
              </a:spcBef>
              <a:spcAft>
                <a:spcPts val="0"/>
              </a:spcAft>
              <a:buNone/>
            </a:pPr>
            <a:r>
              <a:rPr lang="en-US" sz="1000" dirty="0" err="1">
                <a:solidFill>
                  <a:schemeClr val="dk1"/>
                </a:solidFill>
                <a:latin typeface="배달의민족 도현" panose="020B0600000101010101" pitchFamily="50" charset="-127"/>
                <a:ea typeface="배달의민족 도현" panose="020B0600000101010101" pitchFamily="50" charset="-127"/>
              </a:rPr>
              <a:t>주체로</a:t>
            </a:r>
            <a:r>
              <a:rPr lang="en-US" sz="1000" dirty="0">
                <a:solidFill>
                  <a:schemeClr val="dk1"/>
                </a:solidFill>
                <a:latin typeface="배달의민족 도현" panose="020B0600000101010101" pitchFamily="50" charset="-127"/>
                <a:ea typeface="배달의민족 도현" panose="020B0600000101010101" pitchFamily="50" charset="-127"/>
              </a:rPr>
              <a:t> </a:t>
            </a:r>
            <a:r>
              <a:rPr lang="en-US" sz="1000" dirty="0" err="1">
                <a:solidFill>
                  <a:schemeClr val="dk1"/>
                </a:solidFill>
                <a:latin typeface="배달의민족 도현" panose="020B0600000101010101" pitchFamily="50" charset="-127"/>
                <a:ea typeface="배달의민족 도현" panose="020B0600000101010101" pitchFamily="50" charset="-127"/>
              </a:rPr>
              <a:t>인한</a:t>
            </a:r>
            <a:r>
              <a:rPr lang="en-US" sz="1000" dirty="0">
                <a:solidFill>
                  <a:schemeClr val="dk1"/>
                </a:solidFill>
                <a:latin typeface="배달의민족 도현" panose="020B0600000101010101" pitchFamily="50" charset="-127"/>
                <a:ea typeface="배달의민족 도현" panose="020B0600000101010101" pitchFamily="50" charset="-127"/>
              </a:rPr>
              <a:t> </a:t>
            </a:r>
          </a:p>
          <a:p>
            <a:pPr marL="0" marR="0" lvl="0" indent="0" algn="ctr" rtl="0">
              <a:spcBef>
                <a:spcPts val="0"/>
              </a:spcBef>
              <a:spcAft>
                <a:spcPts val="0"/>
              </a:spcAft>
              <a:buNone/>
            </a:pPr>
            <a:r>
              <a:rPr lang="en-US" sz="1000" dirty="0" err="1">
                <a:solidFill>
                  <a:schemeClr val="dk1"/>
                </a:solidFill>
                <a:latin typeface="배달의민족 도현" panose="020B0600000101010101" pitchFamily="50" charset="-127"/>
                <a:ea typeface="배달의민족 도현" panose="020B0600000101010101" pitchFamily="50" charset="-127"/>
              </a:rPr>
              <a:t>기회창출</a:t>
            </a:r>
            <a:endParaRPr sz="1000" dirty="0">
              <a:solidFill>
                <a:schemeClr val="dk1"/>
              </a:solidFill>
              <a:latin typeface="배달의민족 도현" panose="020B0600000101010101" pitchFamily="50" charset="-127"/>
              <a:ea typeface="배달의민족 도현" panose="020B0600000101010101" pitchFamily="50" charset="-127"/>
              <a:cs typeface="Arial"/>
              <a:sym typeface="Arial"/>
            </a:endParaRPr>
          </a:p>
        </p:txBody>
      </p:sp>
      <p:sp>
        <p:nvSpPr>
          <p:cNvPr id="303" name="Google Shape;303;p24"/>
          <p:cNvSpPr/>
          <p:nvPr/>
        </p:nvSpPr>
        <p:spPr>
          <a:xfrm>
            <a:off x="2978147" y="2087903"/>
            <a:ext cx="965100" cy="965100"/>
          </a:xfrm>
          <a:prstGeom prst="ellipse">
            <a:avLst/>
          </a:prstGeom>
          <a:solidFill>
            <a:srgbClr val="BCD5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err="1">
                <a:solidFill>
                  <a:schemeClr val="dk1"/>
                </a:solidFill>
                <a:latin typeface="배달의민족 도현" panose="020B0600000101010101" pitchFamily="50" charset="-127"/>
                <a:ea typeface="배달의민족 도현" panose="020B0600000101010101" pitchFamily="50" charset="-127"/>
              </a:rPr>
              <a:t>관리</a:t>
            </a:r>
            <a:r>
              <a:rPr lang="en-US" sz="1800" b="1" dirty="0">
                <a:solidFill>
                  <a:schemeClr val="dk1"/>
                </a:solidFill>
                <a:latin typeface="배달의민족 도현" panose="020B0600000101010101" pitchFamily="50" charset="-127"/>
                <a:ea typeface="배달의민족 도현" panose="020B0600000101010101" pitchFamily="50" charset="-127"/>
              </a:rPr>
              <a:t> </a:t>
            </a:r>
            <a:r>
              <a:rPr lang="en-US" sz="1800" b="1" dirty="0" err="1">
                <a:solidFill>
                  <a:schemeClr val="dk1"/>
                </a:solidFill>
                <a:latin typeface="배달의민족 도현" panose="020B0600000101010101" pitchFamily="50" charset="-127"/>
                <a:ea typeface="배달의민족 도현" panose="020B0600000101010101" pitchFamily="50" charset="-127"/>
              </a:rPr>
              <a:t>주체</a:t>
            </a:r>
            <a:endParaRPr sz="1800" b="1" dirty="0">
              <a:solidFill>
                <a:schemeClr val="dk1"/>
              </a:solidFill>
              <a:latin typeface="배달의민족 도현" panose="020B0600000101010101" pitchFamily="50" charset="-127"/>
              <a:ea typeface="배달의민족 도현" panose="020B0600000101010101" pitchFamily="50" charset="-127"/>
            </a:endParaRPr>
          </a:p>
        </p:txBody>
      </p:sp>
      <p:grpSp>
        <p:nvGrpSpPr>
          <p:cNvPr id="304" name="Google Shape;304;p24"/>
          <p:cNvGrpSpPr/>
          <p:nvPr/>
        </p:nvGrpSpPr>
        <p:grpSpPr>
          <a:xfrm rot="-5400000">
            <a:off x="3685517" y="4878858"/>
            <a:ext cx="708300" cy="706985"/>
            <a:chOff x="1220718" y="1663700"/>
            <a:chExt cx="708300" cy="4483100"/>
          </a:xfrm>
        </p:grpSpPr>
        <p:sp>
          <p:nvSpPr>
            <p:cNvPr id="305" name="Google Shape;305;p24"/>
            <p:cNvSpPr/>
            <p:nvPr/>
          </p:nvSpPr>
          <p:spPr>
            <a:xfrm>
              <a:off x="1393963" y="1663700"/>
              <a:ext cx="345900" cy="4165500"/>
            </a:xfrm>
            <a:prstGeom prst="rect">
              <a:avLst/>
            </a:prstGeom>
            <a:solidFill>
              <a:srgbClr val="9DA6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306" name="Google Shape;306;p24"/>
            <p:cNvSpPr/>
            <p:nvPr/>
          </p:nvSpPr>
          <p:spPr>
            <a:xfrm rot="10800000" flipH="1">
              <a:off x="1220718" y="5829400"/>
              <a:ext cx="708300" cy="317400"/>
            </a:xfrm>
            <a:prstGeom prst="triangle">
              <a:avLst>
                <a:gd name="adj" fmla="val 50000"/>
              </a:avLst>
            </a:prstGeom>
            <a:solidFill>
              <a:srgbClr val="9DA6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grpSp>
      <p:sp>
        <p:nvSpPr>
          <p:cNvPr id="307" name="Google Shape;307;p24"/>
          <p:cNvSpPr/>
          <p:nvPr/>
        </p:nvSpPr>
        <p:spPr>
          <a:xfrm>
            <a:off x="6345275" y="1333500"/>
            <a:ext cx="5270400" cy="4813200"/>
          </a:xfrm>
          <a:prstGeom prst="rect">
            <a:avLst/>
          </a:prstGeom>
          <a:solidFill>
            <a:srgbClr val="E0EA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308" name="Google Shape;308;p24"/>
          <p:cNvSpPr/>
          <p:nvPr/>
        </p:nvSpPr>
        <p:spPr>
          <a:xfrm>
            <a:off x="6713575" y="4635502"/>
            <a:ext cx="4533900" cy="1193700"/>
          </a:xfrm>
          <a:prstGeom prst="roundRect">
            <a:avLst>
              <a:gd name="adj" fmla="val 24114"/>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309" name="Google Shape;309;p24"/>
          <p:cNvSpPr/>
          <p:nvPr/>
        </p:nvSpPr>
        <p:spPr>
          <a:xfrm>
            <a:off x="8497925" y="2087888"/>
            <a:ext cx="965100" cy="9651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grpSp>
        <p:nvGrpSpPr>
          <p:cNvPr id="310" name="Google Shape;310;p24"/>
          <p:cNvGrpSpPr/>
          <p:nvPr/>
        </p:nvGrpSpPr>
        <p:grpSpPr>
          <a:xfrm>
            <a:off x="8626375" y="3392517"/>
            <a:ext cx="708300" cy="1015422"/>
            <a:chOff x="1220718" y="1663700"/>
            <a:chExt cx="708300" cy="4483100"/>
          </a:xfrm>
        </p:grpSpPr>
        <p:sp>
          <p:nvSpPr>
            <p:cNvPr id="311" name="Google Shape;311;p24"/>
            <p:cNvSpPr/>
            <p:nvPr/>
          </p:nvSpPr>
          <p:spPr>
            <a:xfrm>
              <a:off x="1393963" y="1663700"/>
              <a:ext cx="345900" cy="4165500"/>
            </a:xfrm>
            <a:prstGeom prst="rect">
              <a:avLst/>
            </a:prstGeom>
            <a:solidFill>
              <a:srgbClr val="9DA6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312" name="Google Shape;312;p24"/>
            <p:cNvSpPr/>
            <p:nvPr/>
          </p:nvSpPr>
          <p:spPr>
            <a:xfrm rot="10800000" flipH="1">
              <a:off x="1220718" y="5829400"/>
              <a:ext cx="708300" cy="317400"/>
            </a:xfrm>
            <a:prstGeom prst="triangle">
              <a:avLst>
                <a:gd name="adj" fmla="val 50000"/>
              </a:avLst>
            </a:prstGeom>
            <a:solidFill>
              <a:srgbClr val="9DA6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grpSp>
      <p:sp>
        <p:nvSpPr>
          <p:cNvPr id="313" name="Google Shape;313;p24"/>
          <p:cNvSpPr/>
          <p:nvPr/>
        </p:nvSpPr>
        <p:spPr>
          <a:xfrm>
            <a:off x="6713575" y="1973600"/>
            <a:ext cx="4533900" cy="1193700"/>
          </a:xfrm>
          <a:prstGeom prst="roundRect">
            <a:avLst>
              <a:gd name="adj" fmla="val 24114"/>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314" name="Google Shape;314;p24"/>
          <p:cNvSpPr/>
          <p:nvPr/>
        </p:nvSpPr>
        <p:spPr>
          <a:xfrm>
            <a:off x="7055139" y="4749800"/>
            <a:ext cx="965100" cy="965100"/>
          </a:xfrm>
          <a:prstGeom prst="ellipse">
            <a:avLst/>
          </a:prstGeom>
          <a:solidFill>
            <a:srgbClr val="D2E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err="1">
                <a:solidFill>
                  <a:schemeClr val="dk1"/>
                </a:solidFill>
                <a:latin typeface="배달의민족 도현" panose="020B0600000101010101" pitchFamily="50" charset="-127"/>
                <a:ea typeface="배달의민족 도현" panose="020B0600000101010101" pitchFamily="50" charset="-127"/>
              </a:rPr>
              <a:t>실시간</a:t>
            </a:r>
            <a:r>
              <a:rPr lang="en-US" sz="1000" dirty="0">
                <a:solidFill>
                  <a:schemeClr val="dk1"/>
                </a:solidFill>
                <a:latin typeface="배달의민족 도현" panose="020B0600000101010101" pitchFamily="50" charset="-127"/>
                <a:ea typeface="배달의민족 도현" panose="020B0600000101010101" pitchFamily="50" charset="-127"/>
              </a:rPr>
              <a:t> </a:t>
            </a:r>
            <a:r>
              <a:rPr lang="en-US" sz="1000" dirty="0" err="1">
                <a:solidFill>
                  <a:schemeClr val="dk1"/>
                </a:solidFill>
                <a:latin typeface="배달의민족 도현" panose="020B0600000101010101" pitchFamily="50" charset="-127"/>
                <a:ea typeface="배달의민족 도현" panose="020B0600000101010101" pitchFamily="50" charset="-127"/>
              </a:rPr>
              <a:t>정보</a:t>
            </a:r>
            <a:r>
              <a:rPr lang="en-US" sz="1000" dirty="0">
                <a:solidFill>
                  <a:schemeClr val="dk1"/>
                </a:solidFill>
                <a:latin typeface="배달의민족 도현" panose="020B0600000101010101" pitchFamily="50" charset="-127"/>
                <a:ea typeface="배달의민족 도현" panose="020B0600000101010101" pitchFamily="50" charset="-127"/>
              </a:rPr>
              <a:t> </a:t>
            </a:r>
          </a:p>
          <a:p>
            <a:pPr marL="0" marR="0" lvl="0" indent="0" algn="ctr" rtl="0">
              <a:spcBef>
                <a:spcPts val="0"/>
              </a:spcBef>
              <a:spcAft>
                <a:spcPts val="0"/>
              </a:spcAft>
              <a:buNone/>
            </a:pPr>
            <a:r>
              <a:rPr lang="en-US" sz="1000" dirty="0" err="1">
                <a:solidFill>
                  <a:schemeClr val="dk1"/>
                </a:solidFill>
                <a:latin typeface="배달의민족 도현" panose="020B0600000101010101" pitchFamily="50" charset="-127"/>
                <a:ea typeface="배달의민족 도현" panose="020B0600000101010101" pitchFamily="50" charset="-127"/>
              </a:rPr>
              <a:t>공유</a:t>
            </a:r>
            <a:endParaRPr sz="1000" dirty="0">
              <a:solidFill>
                <a:schemeClr val="dk1"/>
              </a:solidFill>
              <a:latin typeface="배달의민족 도현" panose="020B0600000101010101" pitchFamily="50" charset="-127"/>
              <a:ea typeface="배달의민족 도현" panose="020B0600000101010101" pitchFamily="50" charset="-127"/>
              <a:cs typeface="Arial"/>
              <a:sym typeface="Arial"/>
            </a:endParaRPr>
          </a:p>
        </p:txBody>
      </p:sp>
      <p:sp>
        <p:nvSpPr>
          <p:cNvPr id="315" name="Google Shape;315;p24"/>
          <p:cNvSpPr/>
          <p:nvPr/>
        </p:nvSpPr>
        <p:spPr>
          <a:xfrm>
            <a:off x="10006286" y="4747475"/>
            <a:ext cx="965100" cy="965100"/>
          </a:xfrm>
          <a:prstGeom prst="ellipse">
            <a:avLst/>
          </a:prstGeom>
          <a:solidFill>
            <a:srgbClr val="D2E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err="1">
                <a:solidFill>
                  <a:schemeClr val="dk1"/>
                </a:solidFill>
                <a:latin typeface="배달의민족 도현" panose="020B0600000101010101" pitchFamily="50" charset="-127"/>
                <a:ea typeface="배달의민족 도현" panose="020B0600000101010101" pitchFamily="50" charset="-127"/>
              </a:rPr>
              <a:t>App을</a:t>
            </a:r>
            <a:r>
              <a:rPr lang="en-US" sz="1000" dirty="0">
                <a:solidFill>
                  <a:schemeClr val="dk1"/>
                </a:solidFill>
                <a:latin typeface="배달의민족 도현" panose="020B0600000101010101" pitchFamily="50" charset="-127"/>
                <a:ea typeface="배달의민족 도현" panose="020B0600000101010101" pitchFamily="50" charset="-127"/>
              </a:rPr>
              <a:t> </a:t>
            </a:r>
            <a:r>
              <a:rPr lang="en-US" sz="1000" dirty="0" err="1">
                <a:solidFill>
                  <a:schemeClr val="dk1"/>
                </a:solidFill>
                <a:latin typeface="배달의민족 도현" panose="020B0600000101010101" pitchFamily="50" charset="-127"/>
                <a:ea typeface="배달의민족 도현" panose="020B0600000101010101" pitchFamily="50" charset="-127"/>
              </a:rPr>
              <a:t>통한</a:t>
            </a:r>
            <a:r>
              <a:rPr lang="en-US" sz="1000" dirty="0">
                <a:solidFill>
                  <a:schemeClr val="dk1"/>
                </a:solidFill>
                <a:latin typeface="배달의민족 도현" panose="020B0600000101010101" pitchFamily="50" charset="-127"/>
                <a:ea typeface="배달의민족 도현" panose="020B0600000101010101" pitchFamily="50" charset="-127"/>
              </a:rPr>
              <a:t> </a:t>
            </a:r>
          </a:p>
          <a:p>
            <a:pPr marL="0" marR="0" lvl="0" indent="0" algn="ctr" rtl="0">
              <a:spcBef>
                <a:spcPts val="0"/>
              </a:spcBef>
              <a:spcAft>
                <a:spcPts val="0"/>
              </a:spcAft>
              <a:buNone/>
            </a:pPr>
            <a:r>
              <a:rPr lang="en-US" sz="1000" dirty="0" err="1">
                <a:solidFill>
                  <a:schemeClr val="dk1"/>
                </a:solidFill>
                <a:latin typeface="배달의민족 도현" panose="020B0600000101010101" pitchFamily="50" charset="-127"/>
                <a:ea typeface="배달의민족 도현" panose="020B0600000101010101" pitchFamily="50" charset="-127"/>
              </a:rPr>
              <a:t>수익창출</a:t>
            </a:r>
            <a:endParaRPr sz="1000" dirty="0">
              <a:solidFill>
                <a:schemeClr val="dk1"/>
              </a:solidFill>
              <a:latin typeface="배달의민족 도현" panose="020B0600000101010101" pitchFamily="50" charset="-127"/>
              <a:ea typeface="배달의민족 도현" panose="020B0600000101010101" pitchFamily="50" charset="-127"/>
              <a:cs typeface="Arial"/>
              <a:sym typeface="Arial"/>
            </a:endParaRPr>
          </a:p>
        </p:txBody>
      </p:sp>
      <p:sp>
        <p:nvSpPr>
          <p:cNvPr id="316" name="Google Shape;316;p24"/>
          <p:cNvSpPr/>
          <p:nvPr/>
        </p:nvSpPr>
        <p:spPr>
          <a:xfrm>
            <a:off x="8497922" y="2087903"/>
            <a:ext cx="965100" cy="965100"/>
          </a:xfrm>
          <a:prstGeom prst="ellipse">
            <a:avLst/>
          </a:prstGeom>
          <a:solidFill>
            <a:srgbClr val="D2E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배달의민족 도현" panose="020B0600000101010101" pitchFamily="50" charset="-127"/>
                <a:ea typeface="배달의민족 도현" panose="020B0600000101010101" pitchFamily="50" charset="-127"/>
              </a:rPr>
              <a:t>지역 인근 주민</a:t>
            </a:r>
            <a:endParaRPr sz="1800" b="1">
              <a:solidFill>
                <a:schemeClr val="dk1"/>
              </a:solidFill>
              <a:latin typeface="배달의민족 도현" panose="020B0600000101010101" pitchFamily="50" charset="-127"/>
              <a:ea typeface="배달의민족 도현" panose="020B0600000101010101" pitchFamily="50" charset="-127"/>
            </a:endParaRPr>
          </a:p>
        </p:txBody>
      </p:sp>
      <p:grpSp>
        <p:nvGrpSpPr>
          <p:cNvPr id="317" name="Google Shape;317;p24"/>
          <p:cNvGrpSpPr/>
          <p:nvPr/>
        </p:nvGrpSpPr>
        <p:grpSpPr>
          <a:xfrm rot="-5400000">
            <a:off x="8659117" y="4878858"/>
            <a:ext cx="708300" cy="706985"/>
            <a:chOff x="1220718" y="1663700"/>
            <a:chExt cx="708300" cy="4483100"/>
          </a:xfrm>
        </p:grpSpPr>
        <p:sp>
          <p:nvSpPr>
            <p:cNvPr id="318" name="Google Shape;318;p24"/>
            <p:cNvSpPr/>
            <p:nvPr/>
          </p:nvSpPr>
          <p:spPr>
            <a:xfrm>
              <a:off x="1393963" y="1663700"/>
              <a:ext cx="345900" cy="4165500"/>
            </a:xfrm>
            <a:prstGeom prst="rect">
              <a:avLst/>
            </a:prstGeom>
            <a:solidFill>
              <a:srgbClr val="9DA6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sp>
          <p:nvSpPr>
            <p:cNvPr id="319" name="Google Shape;319;p24"/>
            <p:cNvSpPr/>
            <p:nvPr/>
          </p:nvSpPr>
          <p:spPr>
            <a:xfrm rot="10800000" flipH="1">
              <a:off x="1220718" y="5829400"/>
              <a:ext cx="708300" cy="317400"/>
            </a:xfrm>
            <a:prstGeom prst="triangle">
              <a:avLst>
                <a:gd name="adj" fmla="val 50000"/>
              </a:avLst>
            </a:prstGeom>
            <a:solidFill>
              <a:srgbClr val="9DA6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배달의민족 도현" panose="020B0600000101010101" pitchFamily="50" charset="-127"/>
                <a:ea typeface="배달의민족 도현" panose="020B0600000101010101" pitchFamily="50" charset="-127"/>
                <a:cs typeface="Arial"/>
                <a:sym typeface="Arial"/>
              </a:endParaRPr>
            </a:p>
          </p:txBody>
        </p:sp>
      </p:grpSp>
      <p:sp>
        <p:nvSpPr>
          <p:cNvPr id="2" name="TextBox 1">
            <a:extLst>
              <a:ext uri="{FF2B5EF4-FFF2-40B4-BE49-F238E27FC236}">
                <a16:creationId xmlns:a16="http://schemas.microsoft.com/office/drawing/2014/main" id="{F80536E5-0AF4-9BB5-7ED0-34D078C4DC7A}"/>
              </a:ext>
            </a:extLst>
          </p:cNvPr>
          <p:cNvSpPr txBox="1"/>
          <p:nvPr/>
        </p:nvSpPr>
        <p:spPr>
          <a:xfrm>
            <a:off x="1145997" y="419823"/>
            <a:ext cx="4581703"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2.1 Market &amp; Business model</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7"/>
          <p:cNvSpPr/>
          <p:nvPr/>
        </p:nvSpPr>
        <p:spPr>
          <a:xfrm>
            <a:off x="272715" y="0"/>
            <a:ext cx="802105" cy="75271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2" name="Google Shape;362;p27"/>
          <p:cNvSpPr/>
          <p:nvPr/>
        </p:nvSpPr>
        <p:spPr>
          <a:xfrm>
            <a:off x="557560" y="1972527"/>
            <a:ext cx="3493756" cy="270063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err="1">
                <a:solidFill>
                  <a:srgbClr val="0C0C0C"/>
                </a:solidFill>
                <a:latin typeface="배달의민족 도현" panose="020B0600000101010101" pitchFamily="50" charset="-127"/>
                <a:ea typeface="배달의민족 도현" panose="020B0600000101010101" pitchFamily="50" charset="-127"/>
              </a:rPr>
              <a:t>시각적으로</a:t>
            </a:r>
            <a:r>
              <a:rPr lang="en-US" sz="2000" dirty="0">
                <a:solidFill>
                  <a:srgbClr val="0C0C0C"/>
                </a:solidFill>
                <a:latin typeface="배달의민족 도현" panose="020B0600000101010101" pitchFamily="50" charset="-127"/>
                <a:ea typeface="배달의민족 도현" panose="020B0600000101010101" pitchFamily="50" charset="-127"/>
              </a:rPr>
              <a:t> </a:t>
            </a:r>
            <a:r>
              <a:rPr lang="en-US" sz="2000" dirty="0" err="1">
                <a:solidFill>
                  <a:srgbClr val="0C0C0C"/>
                </a:solidFill>
                <a:latin typeface="배달의민족 도현" panose="020B0600000101010101" pitchFamily="50" charset="-127"/>
                <a:ea typeface="배달의민족 도현" panose="020B0600000101010101" pitchFamily="50" charset="-127"/>
              </a:rPr>
              <a:t>선명한</a:t>
            </a:r>
            <a:r>
              <a:rPr lang="en-US" sz="2000" dirty="0">
                <a:solidFill>
                  <a:srgbClr val="0C0C0C"/>
                </a:solidFill>
                <a:latin typeface="배달의민족 도현" panose="020B0600000101010101" pitchFamily="50" charset="-127"/>
                <a:ea typeface="배달의민족 도현" panose="020B0600000101010101" pitchFamily="50" charset="-127"/>
              </a:rPr>
              <a:t> LED</a:t>
            </a:r>
            <a:endParaRPr sz="2000" dirty="0">
              <a:solidFill>
                <a:srgbClr val="0C0C0C"/>
              </a:solidFill>
              <a:latin typeface="배달의민족 도현" panose="020B0600000101010101" pitchFamily="50" charset="-127"/>
              <a:ea typeface="배달의민족 도현" panose="020B0600000101010101" pitchFamily="50" charset="-127"/>
              <a:cs typeface="Arial"/>
              <a:sym typeface="Arial"/>
            </a:endParaRPr>
          </a:p>
        </p:txBody>
      </p:sp>
      <p:sp>
        <p:nvSpPr>
          <p:cNvPr id="363" name="Google Shape;363;p27"/>
          <p:cNvSpPr/>
          <p:nvPr/>
        </p:nvSpPr>
        <p:spPr>
          <a:xfrm>
            <a:off x="4336112" y="1972527"/>
            <a:ext cx="3493756" cy="2700632"/>
          </a:xfrm>
          <a:prstGeom prst="rect">
            <a:avLst/>
          </a:prstGeom>
          <a:solidFill>
            <a:srgbClr val="E0EAF2"/>
          </a:solid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n-US" sz="2000" dirty="0" err="1">
                <a:solidFill>
                  <a:schemeClr val="dk1"/>
                </a:solidFill>
                <a:latin typeface="배달의민족 도현" panose="020B0600000101010101" pitchFamily="50" charset="-127"/>
                <a:ea typeface="배달의민족 도현" panose="020B0600000101010101" pitchFamily="50" charset="-127"/>
              </a:rPr>
              <a:t>간단한</a:t>
            </a:r>
            <a:r>
              <a:rPr lang="en-US" sz="2000" dirty="0">
                <a:solidFill>
                  <a:schemeClr val="dk1"/>
                </a:solidFill>
                <a:latin typeface="배달의민족 도현" panose="020B0600000101010101" pitchFamily="50" charset="-127"/>
                <a:ea typeface="배달의민족 도현" panose="020B0600000101010101" pitchFamily="50" charset="-127"/>
              </a:rPr>
              <a:t> </a:t>
            </a:r>
            <a:r>
              <a:rPr lang="en-US" sz="2000" dirty="0" err="1">
                <a:solidFill>
                  <a:schemeClr val="dk1"/>
                </a:solidFill>
                <a:latin typeface="배달의민족 도현" panose="020B0600000101010101" pitchFamily="50" charset="-127"/>
                <a:ea typeface="배달의민족 도현" panose="020B0600000101010101" pitchFamily="50" charset="-127"/>
              </a:rPr>
              <a:t>알고리즘을</a:t>
            </a:r>
            <a:r>
              <a:rPr lang="en-US" sz="2000" dirty="0">
                <a:solidFill>
                  <a:schemeClr val="dk1"/>
                </a:solidFill>
                <a:latin typeface="배달의민족 도현" panose="020B0600000101010101" pitchFamily="50" charset="-127"/>
                <a:ea typeface="배달의민족 도현" panose="020B0600000101010101" pitchFamily="50" charset="-127"/>
              </a:rPr>
              <a:t> </a:t>
            </a:r>
            <a:r>
              <a:rPr lang="en-US" sz="2000" dirty="0" err="1">
                <a:solidFill>
                  <a:schemeClr val="dk1"/>
                </a:solidFill>
                <a:latin typeface="배달의민족 도현" panose="020B0600000101010101" pitchFamily="50" charset="-127"/>
                <a:ea typeface="배달의민족 도현" panose="020B0600000101010101" pitchFamily="50" charset="-127"/>
              </a:rPr>
              <a:t>통한</a:t>
            </a:r>
            <a:r>
              <a:rPr lang="en-US" sz="2000" dirty="0">
                <a:solidFill>
                  <a:schemeClr val="dk1"/>
                </a:solidFill>
                <a:latin typeface="배달의민족 도현" panose="020B0600000101010101" pitchFamily="50" charset="-127"/>
                <a:ea typeface="배달의민족 도현" panose="020B0600000101010101" pitchFamily="50" charset="-127"/>
              </a:rPr>
              <a:t> </a:t>
            </a:r>
          </a:p>
          <a:p>
            <a:pPr marL="0" marR="0" lvl="0" indent="0" algn="ctr" rtl="0">
              <a:lnSpc>
                <a:spcPct val="150000"/>
              </a:lnSpc>
              <a:spcBef>
                <a:spcPts val="0"/>
              </a:spcBef>
              <a:spcAft>
                <a:spcPts val="0"/>
              </a:spcAft>
              <a:buNone/>
            </a:pPr>
            <a:r>
              <a:rPr lang="en-US" sz="2000" dirty="0" err="1">
                <a:solidFill>
                  <a:schemeClr val="dk1"/>
                </a:solidFill>
                <a:latin typeface="배달의민족 도현" panose="020B0600000101010101" pitchFamily="50" charset="-127"/>
                <a:ea typeface="배달의민족 도현" panose="020B0600000101010101" pitchFamily="50" charset="-127"/>
              </a:rPr>
              <a:t>저전력</a:t>
            </a:r>
            <a:r>
              <a:rPr lang="en-US" sz="2000" dirty="0">
                <a:solidFill>
                  <a:schemeClr val="dk1"/>
                </a:solidFill>
                <a:latin typeface="배달의민족 도현" panose="020B0600000101010101" pitchFamily="50" charset="-127"/>
                <a:ea typeface="배달의민족 도현" panose="020B0600000101010101" pitchFamily="50" charset="-127"/>
              </a:rPr>
              <a:t> </a:t>
            </a:r>
            <a:r>
              <a:rPr lang="en-US" sz="2000" dirty="0" err="1">
                <a:solidFill>
                  <a:schemeClr val="dk1"/>
                </a:solidFill>
                <a:latin typeface="배달의민족 도현" panose="020B0600000101010101" pitchFamily="50" charset="-127"/>
                <a:ea typeface="배달의민족 도현" panose="020B0600000101010101" pitchFamily="50" charset="-127"/>
              </a:rPr>
              <a:t>설계</a:t>
            </a:r>
            <a:endParaRPr sz="2000" dirty="0">
              <a:solidFill>
                <a:schemeClr val="dk1"/>
              </a:solidFill>
              <a:latin typeface="배달의민족 도현" panose="020B0600000101010101" pitchFamily="50" charset="-127"/>
              <a:ea typeface="배달의민족 도현" panose="020B0600000101010101" pitchFamily="50" charset="-127"/>
              <a:cs typeface="Arial"/>
              <a:sym typeface="Arial"/>
            </a:endParaRPr>
          </a:p>
        </p:txBody>
      </p:sp>
      <p:sp>
        <p:nvSpPr>
          <p:cNvPr id="364" name="Google Shape;364;p27"/>
          <p:cNvSpPr/>
          <p:nvPr/>
        </p:nvSpPr>
        <p:spPr>
          <a:xfrm>
            <a:off x="8114663" y="1972527"/>
            <a:ext cx="3493756" cy="27006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배달의민족 도현" panose="020B0600000101010101" pitchFamily="50" charset="-127"/>
                <a:ea typeface="배달의민족 도현" panose="020B0600000101010101" pitchFamily="50" charset="-127"/>
              </a:rPr>
              <a:t>실시간 침수 위험도 표시</a:t>
            </a:r>
            <a:endParaRPr sz="2000">
              <a:solidFill>
                <a:schemeClr val="dk1"/>
              </a:solidFill>
              <a:latin typeface="배달의민족 도현" panose="020B0600000101010101" pitchFamily="50" charset="-127"/>
              <a:ea typeface="배달의민족 도현" panose="020B0600000101010101" pitchFamily="50" charset="-127"/>
              <a:cs typeface="Arial"/>
              <a:sym typeface="Arial"/>
            </a:endParaRPr>
          </a:p>
        </p:txBody>
      </p:sp>
      <p:sp>
        <p:nvSpPr>
          <p:cNvPr id="2" name="TextBox 1">
            <a:extLst>
              <a:ext uri="{FF2B5EF4-FFF2-40B4-BE49-F238E27FC236}">
                <a16:creationId xmlns:a16="http://schemas.microsoft.com/office/drawing/2014/main" id="{C0C69B4B-EE5C-1E3F-FD3A-7585C0EAE9E8}"/>
              </a:ext>
            </a:extLst>
          </p:cNvPr>
          <p:cNvSpPr txBox="1"/>
          <p:nvPr/>
        </p:nvSpPr>
        <p:spPr>
          <a:xfrm>
            <a:off x="1145997" y="419823"/>
            <a:ext cx="2589170" cy="369332"/>
          </a:xfrm>
          <a:prstGeom prst="rect">
            <a:avLst/>
          </a:prstGeom>
          <a:noFill/>
        </p:spPr>
        <p:txBody>
          <a:bodyPr wrap="none" rtlCol="0">
            <a:spAutoFit/>
          </a:bodyPr>
          <a:lstStyle/>
          <a:p>
            <a:r>
              <a:rPr lang="en-US" altLang="ko-KR" spc="300" dirty="0">
                <a:solidFill>
                  <a:schemeClr val="tx1">
                    <a:lumMod val="65000"/>
                    <a:lumOff val="35000"/>
                  </a:schemeClr>
                </a:solidFill>
                <a:latin typeface="배달의민족 도현" panose="020B0600000101010101" pitchFamily="50" charset="-127"/>
                <a:ea typeface="배달의민족 도현" panose="020B0600000101010101" pitchFamily="50" charset="-127"/>
              </a:rPr>
              <a:t>2.2 Competition</a:t>
            </a:r>
            <a:endParaRPr lang="ko-KR" altLang="en-US" spc="300" dirty="0">
              <a:solidFill>
                <a:schemeClr val="tx1">
                  <a:lumMod val="65000"/>
                  <a:lumOff val="35000"/>
                </a:schemeClr>
              </a:solidFill>
              <a:latin typeface="배달의민족 도현" panose="020B0600000101010101" pitchFamily="50" charset="-127"/>
              <a:ea typeface="배달의민족 도현" panose="020B0600000101010101" pitchFamily="50" charset="-127"/>
            </a:endParaRPr>
          </a:p>
        </p:txBody>
      </p:sp>
      <p:pic>
        <p:nvPicPr>
          <p:cNvPr id="3" name="그림 2">
            <a:extLst>
              <a:ext uri="{FF2B5EF4-FFF2-40B4-BE49-F238E27FC236}">
                <a16:creationId xmlns:a16="http://schemas.microsoft.com/office/drawing/2014/main" id="{8C667650-B829-EFA0-F014-E88BF17F58F9}"/>
              </a:ext>
            </a:extLst>
          </p:cNvPr>
          <p:cNvPicPr>
            <a:picLocks noChangeAspect="1"/>
          </p:cNvPicPr>
          <p:nvPr/>
        </p:nvPicPr>
        <p:blipFill>
          <a:blip r:embed="rId3"/>
          <a:stretch>
            <a:fillRect/>
          </a:stretch>
        </p:blipFill>
        <p:spPr>
          <a:xfrm>
            <a:off x="9972659" y="6563982"/>
            <a:ext cx="2219341" cy="2286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pic>
        <p:nvPicPr>
          <p:cNvPr id="946" name="Google Shape;946;p49" descr="무척추동물이(가) 표시된 사진&#10;&#10;자동 생성된 설명"/>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7" name="Google Shape;947;p49"/>
          <p:cNvSpPr txBox="1"/>
          <p:nvPr/>
        </p:nvSpPr>
        <p:spPr>
          <a:xfrm>
            <a:off x="2857366" y="2901991"/>
            <a:ext cx="6344138" cy="11079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600" b="1" dirty="0">
                <a:solidFill>
                  <a:schemeClr val="lt1"/>
                </a:solidFill>
                <a:latin typeface="Arial"/>
                <a:ea typeface="Arial"/>
                <a:cs typeface="Arial"/>
                <a:sym typeface="Arial"/>
              </a:rPr>
              <a:t>THANK YOU</a:t>
            </a:r>
            <a:endParaRPr sz="6600" b="1" dirty="0">
              <a:solidFill>
                <a:schemeClr val="lt1"/>
              </a:solidFill>
              <a:latin typeface="Arial"/>
              <a:ea typeface="Arial"/>
              <a:cs typeface="Arial"/>
              <a:sym typeface="Arial"/>
            </a:endParaRPr>
          </a:p>
        </p:txBody>
      </p:sp>
      <p:sp>
        <p:nvSpPr>
          <p:cNvPr id="948" name="Google Shape;948;p49"/>
          <p:cNvSpPr txBox="1"/>
          <p:nvPr/>
        </p:nvSpPr>
        <p:spPr>
          <a:xfrm>
            <a:off x="9987228" y="6586181"/>
            <a:ext cx="2194833" cy="2308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900">
                <a:solidFill>
                  <a:schemeClr val="lt1"/>
                </a:solidFill>
                <a:latin typeface="Arial"/>
                <a:ea typeface="Arial"/>
                <a:cs typeface="Arial"/>
                <a:sym typeface="Arial"/>
              </a:rPr>
              <a:t>ⓒSaebyeol Yu. Saebyeol’s PowerPoint</a:t>
            </a:r>
            <a:endParaRPr sz="900">
              <a:solidFill>
                <a:schemeClr val="lt1"/>
              </a:solidFill>
              <a:latin typeface="Arial"/>
              <a:ea typeface="Arial"/>
              <a:cs typeface="Arial"/>
              <a:sym typeface="Arial"/>
            </a:endParaRPr>
          </a:p>
        </p:txBody>
      </p:sp>
      <p:pic>
        <p:nvPicPr>
          <p:cNvPr id="5" name="그림 4">
            <a:extLst>
              <a:ext uri="{FF2B5EF4-FFF2-40B4-BE49-F238E27FC236}">
                <a16:creationId xmlns:a16="http://schemas.microsoft.com/office/drawing/2014/main" id="{3C252101-2435-469C-2E2A-83B118CF5BA1}"/>
              </a:ext>
            </a:extLst>
          </p:cNvPr>
          <p:cNvPicPr>
            <a:picLocks noChangeAspect="1"/>
          </p:cNvPicPr>
          <p:nvPr/>
        </p:nvPicPr>
        <p:blipFill>
          <a:blip r:embed="rId4"/>
          <a:stretch>
            <a:fillRect/>
          </a:stretch>
        </p:blipFill>
        <p:spPr>
          <a:xfrm>
            <a:off x="9860342" y="6531261"/>
            <a:ext cx="2321719" cy="285752"/>
          </a:xfrm>
          <a:prstGeom prst="rect">
            <a:avLst/>
          </a:prstGeom>
        </p:spPr>
      </p:pic>
    </p:spTree>
  </p:cSld>
  <p:clrMapOvr>
    <a:masterClrMapping/>
  </p:clrMapOvr>
</p:sld>
</file>

<file path=ppt/theme/theme1.xml><?xml version="1.0" encoding="utf-8"?>
<a:theme xmlns:a="http://schemas.openxmlformats.org/drawingml/2006/main" name="Office 테마">
  <a:themeElements>
    <a:clrScheme name="172">
      <a:dk1>
        <a:sysClr val="windowText" lastClr="000000"/>
      </a:dk1>
      <a:lt1>
        <a:sysClr val="window" lastClr="FFFFFF"/>
      </a:lt1>
      <a:dk2>
        <a:srgbClr val="44546A"/>
      </a:dk2>
      <a:lt2>
        <a:srgbClr val="E7E6E6"/>
      </a:lt2>
      <a:accent1>
        <a:srgbClr val="6C9CC2"/>
      </a:accent1>
      <a:accent2>
        <a:srgbClr val="91BAD0"/>
      </a:accent2>
      <a:accent3>
        <a:srgbClr val="D7DBDC"/>
      </a:accent3>
      <a:accent4>
        <a:srgbClr val="D1CCC5"/>
      </a:accent4>
      <a:accent5>
        <a:srgbClr val="F5D8D3"/>
      </a:accent5>
      <a:accent6>
        <a:srgbClr val="C6BBCA"/>
      </a:accent6>
      <a:hlink>
        <a:srgbClr val="262626"/>
      </a:hlink>
      <a:folHlink>
        <a:srgbClr val="262626"/>
      </a:folHlink>
    </a:clrScheme>
    <a:fontScheme name="Pretendard_Black_standard">
      <a:majorFont>
        <a:latin typeface="Pretendard Black"/>
        <a:ea typeface="Pretendard Black"/>
        <a:cs typeface=""/>
      </a:majorFont>
      <a:minorFont>
        <a:latin typeface="Pretendard"/>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653</TotalTime>
  <Words>903</Words>
  <Application>Microsoft Office PowerPoint</Application>
  <PresentationFormat>와이드스크린</PresentationFormat>
  <Paragraphs>136</Paragraphs>
  <Slides>13</Slides>
  <Notes>13</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13</vt:i4>
      </vt:variant>
    </vt:vector>
  </HeadingPairs>
  <TitlesOfParts>
    <vt:vector size="20" baseType="lpstr">
      <vt:lpstr>배달의민족 도현</vt:lpstr>
      <vt:lpstr>맑은 고딕</vt:lpstr>
      <vt:lpstr>Wingdings</vt:lpstr>
      <vt:lpstr>Pretendard</vt:lpstr>
      <vt:lpstr>Arial</vt:lpstr>
      <vt:lpstr>Pretendard Black</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Yu Saebyeol</dc:creator>
  <cp:lastModifiedBy>홍성필</cp:lastModifiedBy>
  <cp:revision>16</cp:revision>
  <dcterms:created xsi:type="dcterms:W3CDTF">2022-12-21T02:15:26Z</dcterms:created>
  <dcterms:modified xsi:type="dcterms:W3CDTF">2024-07-31T20:08:42Z</dcterms:modified>
</cp:coreProperties>
</file>